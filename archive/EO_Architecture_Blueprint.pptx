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0" y="0"/>
            <a:ext cx="73152" cy="6858000"/>
          </a:xfrm>
          <a:prstGeom prst="rect">
            <a:avLst/>
          </a:prstGeom>
          <a:solidFill>
            <a:srgbClr val="00897B"/>
          </a:solidFill>
          <a:ln/>
        </p:spPr>
      </p:sp>
      <p:sp>
        <p:nvSpPr>
          <p:cNvPr id="4" name="Shape 2"/>
          <p:cNvSpPr/>
          <p:nvPr/>
        </p:nvSpPr>
        <p:spPr>
          <a:xfrm>
            <a:off x="73152" y="0"/>
            <a:ext cx="36576" cy="6858000"/>
          </a:xfrm>
          <a:prstGeom prst="rect">
            <a:avLst/>
          </a:prstGeom>
          <a:solidFill>
            <a:srgbClr val="00BCD4"/>
          </a:solidFill>
          <a:ln/>
        </p:spPr>
      </p:sp>
      <p:sp>
        <p:nvSpPr>
          <p:cNvPr id="5" name="Shape 3"/>
          <p:cNvSpPr/>
          <p:nvPr/>
        </p:nvSpPr>
        <p:spPr>
          <a:xfrm>
            <a:off x="8961120" y="0"/>
            <a:ext cx="3200400" cy="6858000"/>
          </a:xfrm>
          <a:prstGeom prst="rect">
            <a:avLst/>
          </a:prstGeom>
          <a:solidFill>
            <a:srgbClr val="132238"/>
          </a:solidFill>
          <a:ln/>
        </p:spPr>
      </p:sp>
      <p:sp>
        <p:nvSpPr>
          <p:cNvPr id="6" name="Shape 4"/>
          <p:cNvSpPr/>
          <p:nvPr/>
        </p:nvSpPr>
        <p:spPr>
          <a:xfrm>
            <a:off x="9326880" y="731520"/>
            <a:ext cx="1280160" cy="1280160"/>
          </a:xfrm>
          <a:prstGeom prst="ellipse">
            <a:avLst/>
          </a:prstGeom>
          <a:solidFill>
            <a:srgbClr val="000000"/>
          </a:solidFill>
          <a:ln w="12700">
            <a:solidFill>
              <a:srgbClr val="00897B"/>
            </a:solidFill>
            <a:prstDash val="solid"/>
          </a:ln>
        </p:spPr>
      </p:sp>
      <p:sp>
        <p:nvSpPr>
          <p:cNvPr id="7" name="Shape 5"/>
          <p:cNvSpPr/>
          <p:nvPr/>
        </p:nvSpPr>
        <p:spPr>
          <a:xfrm>
            <a:off x="10424160" y="1828800"/>
            <a:ext cx="1280160" cy="1280160"/>
          </a:xfrm>
          <a:prstGeom prst="ellipse">
            <a:avLst/>
          </a:prstGeom>
          <a:solidFill>
            <a:srgbClr val="000000"/>
          </a:solidFill>
          <a:ln w="12700">
            <a:solidFill>
              <a:srgbClr val="00897B"/>
            </a:solidFill>
            <a:prstDash val="solid"/>
          </a:ln>
        </p:spPr>
      </p:sp>
      <p:sp>
        <p:nvSpPr>
          <p:cNvPr id="8" name="Shape 6"/>
          <p:cNvSpPr/>
          <p:nvPr/>
        </p:nvSpPr>
        <p:spPr>
          <a:xfrm>
            <a:off x="9326880" y="2926080"/>
            <a:ext cx="1280160" cy="1280160"/>
          </a:xfrm>
          <a:prstGeom prst="ellipse">
            <a:avLst/>
          </a:prstGeom>
          <a:solidFill>
            <a:srgbClr val="000000"/>
          </a:solidFill>
          <a:ln w="12700">
            <a:solidFill>
              <a:srgbClr val="00897B"/>
            </a:solidFill>
            <a:prstDash val="solid"/>
          </a:ln>
        </p:spPr>
      </p:sp>
      <p:sp>
        <p:nvSpPr>
          <p:cNvPr id="9" name="Shape 7"/>
          <p:cNvSpPr/>
          <p:nvPr/>
        </p:nvSpPr>
        <p:spPr>
          <a:xfrm>
            <a:off x="10424160" y="4023360"/>
            <a:ext cx="1280160" cy="1280160"/>
          </a:xfrm>
          <a:prstGeom prst="ellipse">
            <a:avLst/>
          </a:prstGeom>
          <a:solidFill>
            <a:srgbClr val="000000"/>
          </a:solidFill>
          <a:ln w="12700">
            <a:solidFill>
              <a:srgbClr val="00897B"/>
            </a:solidFill>
            <a:prstDash val="solid"/>
          </a:ln>
        </p:spPr>
      </p:sp>
      <p:sp>
        <p:nvSpPr>
          <p:cNvPr id="10" name="Shape 8"/>
          <p:cNvSpPr/>
          <p:nvPr/>
        </p:nvSpPr>
        <p:spPr>
          <a:xfrm>
            <a:off x="9326880" y="5120640"/>
            <a:ext cx="1280160" cy="1280160"/>
          </a:xfrm>
          <a:prstGeom prst="ellipse">
            <a:avLst/>
          </a:prstGeom>
          <a:solidFill>
            <a:srgbClr val="000000"/>
          </a:solidFill>
          <a:ln w="12700">
            <a:solidFill>
              <a:srgbClr val="00897B"/>
            </a:solidFill>
            <a:prstDash val="solid"/>
          </a:ln>
        </p:spPr>
      </p:sp>
      <p:sp>
        <p:nvSpPr>
          <p:cNvPr id="11" name="Text 9"/>
          <p:cNvSpPr/>
          <p:nvPr/>
        </p:nvSpPr>
        <p:spPr>
          <a:xfrm>
            <a:off x="9509760" y="914400"/>
            <a:ext cx="914400" cy="914400"/>
          </a:xfrm>
          <a:prstGeom prst="rect">
            <a:avLst/>
          </a:prstGeom>
          <a:noFill/>
          <a:ln/>
        </p:spPr>
        <p:txBody>
          <a:bodyPr wrap="square" rtlCol="0" anchor="ctr"/>
          <a:lstStyle/>
          <a:p>
            <a:pPr algn="ctr" indent="0" marL="0">
              <a:buNone/>
            </a:pPr>
            <a:r>
              <a:rPr lang="en-US" sz="3200" b="1" dirty="0">
                <a:solidFill>
                  <a:srgbClr val="00897B"/>
                </a:solidFill>
                <a:latin typeface="Consolas" pitchFamily="34" charset="0"/>
                <a:ea typeface="Consolas" pitchFamily="34" charset="-122"/>
                <a:cs typeface="Consolas" pitchFamily="34" charset="-120"/>
              </a:rPr>
              <a:t>EO</a:t>
            </a:r>
            <a:endParaRPr lang="en-US" sz="3200" dirty="0"/>
          </a:p>
        </p:txBody>
      </p:sp>
      <p:sp>
        <p:nvSpPr>
          <p:cNvPr id="12" name="Text 10"/>
          <p:cNvSpPr/>
          <p:nvPr/>
        </p:nvSpPr>
        <p:spPr>
          <a:xfrm>
            <a:off x="9144000" y="3108960"/>
            <a:ext cx="1645920" cy="914400"/>
          </a:xfrm>
          <a:prstGeom prst="rect">
            <a:avLst/>
          </a:prstGeom>
          <a:noFill/>
          <a:ln/>
        </p:spPr>
        <p:txBody>
          <a:bodyPr wrap="square" rtlCol="0" anchor="ctr"/>
          <a:lstStyle/>
          <a:p>
            <a:pPr algn="ctr" indent="0" marL="0">
              <a:buNone/>
            </a:pPr>
            <a:r>
              <a:rPr lang="en-US" sz="1000" b="1" spc="300" kern="0" dirty="0">
                <a:solidFill>
                  <a:srgbClr val="00BCD4"/>
                </a:solidFill>
              </a:rPr>
              <a:t>OPTIMIZER</a:t>
            </a:r>
            <a:endParaRPr lang="en-US" sz="1000" dirty="0"/>
          </a:p>
        </p:txBody>
      </p:sp>
      <p:sp>
        <p:nvSpPr>
          <p:cNvPr id="13" name="Text 11"/>
          <p:cNvSpPr/>
          <p:nvPr/>
        </p:nvSpPr>
        <p:spPr>
          <a:xfrm>
            <a:off x="9144000" y="3840480"/>
            <a:ext cx="1645920" cy="457200"/>
          </a:xfrm>
          <a:prstGeom prst="rect">
            <a:avLst/>
          </a:prstGeom>
          <a:noFill/>
          <a:ln/>
        </p:spPr>
        <p:txBody>
          <a:bodyPr wrap="square" rtlCol="0" anchor="ctr"/>
          <a:lstStyle/>
          <a:p>
            <a:pPr algn="ctr" indent="0" marL="0">
              <a:buNone/>
            </a:pPr>
            <a:r>
              <a:rPr lang="en-US" sz="1000" b="1" spc="300" kern="0" dirty="0">
                <a:solidFill>
                  <a:srgbClr val="94A3B8"/>
                </a:solidFill>
              </a:rPr>
              <a:t>PIPELINE</a:t>
            </a:r>
            <a:endParaRPr lang="en-US" sz="1000" dirty="0"/>
          </a:p>
        </p:txBody>
      </p:sp>
      <p:sp>
        <p:nvSpPr>
          <p:cNvPr id="14" name="Shape 12"/>
          <p:cNvSpPr/>
          <p:nvPr/>
        </p:nvSpPr>
        <p:spPr>
          <a:xfrm>
            <a:off x="274320" y="365760"/>
            <a:ext cx="1371600" cy="237744"/>
          </a:xfrm>
          <a:prstGeom prst="roundRect">
            <a:avLst>
              <a:gd name="adj" fmla="val 15385"/>
            </a:avLst>
          </a:prstGeom>
          <a:solidFill>
            <a:srgbClr val="000000"/>
          </a:solidFill>
          <a:ln w="12700">
            <a:solidFill>
              <a:srgbClr val="00897B"/>
            </a:solidFill>
            <a:prstDash val="solid"/>
          </a:ln>
        </p:spPr>
      </p:sp>
      <p:sp>
        <p:nvSpPr>
          <p:cNvPr id="15" name="Text 13"/>
          <p:cNvSpPr/>
          <p:nvPr/>
        </p:nvSpPr>
        <p:spPr>
          <a:xfrm>
            <a:off x="274320" y="365760"/>
            <a:ext cx="1371600" cy="237744"/>
          </a:xfrm>
          <a:prstGeom prst="rect">
            <a:avLst/>
          </a:prstGeom>
          <a:noFill/>
          <a:ln/>
        </p:spPr>
        <p:txBody>
          <a:bodyPr wrap="square" lIns="0" tIns="0" rIns="0" bIns="0" rtlCol="0" anchor="ctr"/>
          <a:lstStyle/>
          <a:p>
            <a:pPr algn="ctr" indent="0" marL="0">
              <a:buNone/>
            </a:pPr>
            <a:r>
              <a:rPr lang="en-US" sz="800" b="1" dirty="0">
                <a:solidFill>
                  <a:srgbClr val="00897B"/>
                </a:solidFill>
              </a:rPr>
              <a:t>Industrial AI</a:t>
            </a:r>
            <a:endParaRPr lang="en-US" sz="800" dirty="0"/>
          </a:p>
        </p:txBody>
      </p:sp>
      <p:sp>
        <p:nvSpPr>
          <p:cNvPr id="16" name="Shape 14"/>
          <p:cNvSpPr/>
          <p:nvPr/>
        </p:nvSpPr>
        <p:spPr>
          <a:xfrm>
            <a:off x="1737360" y="365760"/>
            <a:ext cx="1371600" cy="237744"/>
          </a:xfrm>
          <a:prstGeom prst="roundRect">
            <a:avLst>
              <a:gd name="adj" fmla="val 15385"/>
            </a:avLst>
          </a:prstGeom>
          <a:solidFill>
            <a:srgbClr val="000000"/>
          </a:solidFill>
          <a:ln w="12700">
            <a:solidFill>
              <a:srgbClr val="00BCD4"/>
            </a:solidFill>
            <a:prstDash val="solid"/>
          </a:ln>
        </p:spPr>
      </p:sp>
      <p:sp>
        <p:nvSpPr>
          <p:cNvPr id="17" name="Text 15"/>
          <p:cNvSpPr/>
          <p:nvPr/>
        </p:nvSpPr>
        <p:spPr>
          <a:xfrm>
            <a:off x="1737360" y="365760"/>
            <a:ext cx="1371600" cy="237744"/>
          </a:xfrm>
          <a:prstGeom prst="rect">
            <a:avLst/>
          </a:prstGeom>
          <a:noFill/>
          <a:ln/>
        </p:spPr>
        <p:txBody>
          <a:bodyPr wrap="square" lIns="0" tIns="0" rIns="0" bIns="0" rtlCol="0" anchor="ctr"/>
          <a:lstStyle/>
          <a:p>
            <a:pPr algn="ctr" indent="0" marL="0">
              <a:buNone/>
            </a:pPr>
            <a:r>
              <a:rPr lang="en-US" sz="800" b="1" dirty="0">
                <a:solidFill>
                  <a:srgbClr val="00BCD4"/>
                </a:solidFill>
              </a:rPr>
              <a:t>Kedro Framework</a:t>
            </a:r>
            <a:endParaRPr lang="en-US" sz="800" dirty="0"/>
          </a:p>
        </p:txBody>
      </p:sp>
      <p:sp>
        <p:nvSpPr>
          <p:cNvPr id="18" name="Shape 16"/>
          <p:cNvSpPr/>
          <p:nvPr/>
        </p:nvSpPr>
        <p:spPr>
          <a:xfrm>
            <a:off x="3200400" y="365760"/>
            <a:ext cx="1371600" cy="237744"/>
          </a:xfrm>
          <a:prstGeom prst="roundRect">
            <a:avLst>
              <a:gd name="adj" fmla="val 15385"/>
            </a:avLst>
          </a:prstGeom>
          <a:solidFill>
            <a:srgbClr val="000000"/>
          </a:solidFill>
          <a:ln w="12700">
            <a:solidFill>
              <a:srgbClr val="F59E0B"/>
            </a:solidFill>
            <a:prstDash val="solid"/>
          </a:ln>
        </p:spPr>
      </p:sp>
      <p:sp>
        <p:nvSpPr>
          <p:cNvPr id="19" name="Text 17"/>
          <p:cNvSpPr/>
          <p:nvPr/>
        </p:nvSpPr>
        <p:spPr>
          <a:xfrm>
            <a:off x="3200400" y="365760"/>
            <a:ext cx="1371600" cy="237744"/>
          </a:xfrm>
          <a:prstGeom prst="rect">
            <a:avLst/>
          </a:prstGeom>
          <a:noFill/>
          <a:ln/>
        </p:spPr>
        <p:txBody>
          <a:bodyPr wrap="square" lIns="0" tIns="0" rIns="0" bIns="0" rtlCol="0" anchor="ctr"/>
          <a:lstStyle/>
          <a:p>
            <a:pPr algn="ctr" indent="0" marL="0">
              <a:buNone/>
            </a:pPr>
            <a:r>
              <a:rPr lang="en-US" sz="800" b="1" dirty="0">
                <a:solidFill>
                  <a:srgbClr val="F59E0B"/>
                </a:solidFill>
              </a:rPr>
              <a:t>Energy Optimization</a:t>
            </a:r>
            <a:endParaRPr lang="en-US" sz="800" dirty="0"/>
          </a:p>
        </p:txBody>
      </p:sp>
      <p:sp>
        <p:nvSpPr>
          <p:cNvPr id="20" name="Text 18"/>
          <p:cNvSpPr/>
          <p:nvPr/>
        </p:nvSpPr>
        <p:spPr>
          <a:xfrm>
            <a:off x="274320" y="1005840"/>
            <a:ext cx="8412480" cy="1645920"/>
          </a:xfrm>
          <a:prstGeom prst="rect">
            <a:avLst/>
          </a:prstGeom>
          <a:noFill/>
          <a:ln/>
        </p:spPr>
        <p:txBody>
          <a:bodyPr wrap="square" rtlCol="0" anchor="ctr"/>
          <a:lstStyle/>
          <a:p>
            <a:pPr indent="0" marL="0">
              <a:lnSpc>
                <a:spcPct val="120000"/>
              </a:lnSpc>
              <a:buNone/>
            </a:pPr>
            <a:r>
              <a:rPr lang="en-US" sz="4000" b="1" dirty="0">
                <a:solidFill>
                  <a:srgbClr val="FFFFFF"/>
                </a:solidFill>
                <a:latin typeface="Calibri" pitchFamily="34" charset="0"/>
                <a:ea typeface="Calibri" pitchFamily="34" charset="-122"/>
                <a:cs typeface="Calibri" pitchFamily="34" charset="-120"/>
              </a:rPr>
              <a:t>Energy Optimization</a:t>
            </a:r>
            <a:endParaRPr lang="en-US" sz="4000" dirty="0"/>
          </a:p>
          <a:p>
            <a:pPr indent="0" marL="0">
              <a:lnSpc>
                <a:spcPct val="120000"/>
              </a:lnSpc>
              <a:buNone/>
            </a:pPr>
            <a:r>
              <a:rPr lang="en-US" sz="4000" b="1" dirty="0">
                <a:solidFill>
                  <a:srgbClr val="FFFFFF"/>
                </a:solidFill>
                <a:latin typeface="Calibri" pitchFamily="34" charset="0"/>
                <a:ea typeface="Calibri" pitchFamily="34" charset="-122"/>
                <a:cs typeface="Calibri" pitchFamily="34" charset="-120"/>
              </a:rPr>
              <a:t>Pipeline Architecture</a:t>
            </a:r>
            <a:endParaRPr lang="en-US" sz="4000" dirty="0"/>
          </a:p>
        </p:txBody>
      </p:sp>
      <p:sp>
        <p:nvSpPr>
          <p:cNvPr id="21" name="Text 19"/>
          <p:cNvSpPr/>
          <p:nvPr/>
        </p:nvSpPr>
        <p:spPr>
          <a:xfrm>
            <a:off x="274320" y="2651760"/>
            <a:ext cx="8229600" cy="457200"/>
          </a:xfrm>
          <a:prstGeom prst="rect">
            <a:avLst/>
          </a:prstGeom>
          <a:noFill/>
          <a:ln/>
        </p:spPr>
        <p:txBody>
          <a:bodyPr wrap="square" rtlCol="0" anchor="ctr"/>
          <a:lstStyle/>
          <a:p>
            <a:pPr indent="0" marL="0">
              <a:buNone/>
            </a:pPr>
            <a:r>
              <a:rPr lang="en-US" sz="1800" dirty="0">
                <a:solidFill>
                  <a:srgbClr val="00BCD4"/>
                </a:solidFill>
                <a:latin typeface="Calibri Light" pitchFamily="34" charset="0"/>
                <a:ea typeface="Calibri Light" pitchFamily="34" charset="-122"/>
                <a:cs typeface="Calibri Light" pitchFamily="34" charset="-120"/>
              </a:rPr>
              <a:t>Two Philosophies: GenAI-Powered &amp; Configuration-Driven</a:t>
            </a:r>
            <a:endParaRPr lang="en-US" sz="1800" dirty="0"/>
          </a:p>
        </p:txBody>
      </p:sp>
      <p:sp>
        <p:nvSpPr>
          <p:cNvPr id="22" name="Shape 20"/>
          <p:cNvSpPr/>
          <p:nvPr/>
        </p:nvSpPr>
        <p:spPr>
          <a:xfrm>
            <a:off x="274320" y="3291840"/>
            <a:ext cx="8229600" cy="36576"/>
          </a:xfrm>
          <a:prstGeom prst="rect">
            <a:avLst/>
          </a:prstGeom>
          <a:solidFill>
            <a:srgbClr val="1E3A5F"/>
          </a:solidFill>
          <a:ln/>
        </p:spPr>
      </p:sp>
      <p:sp>
        <p:nvSpPr>
          <p:cNvPr id="23" name="Text 21"/>
          <p:cNvSpPr/>
          <p:nvPr/>
        </p:nvSpPr>
        <p:spPr>
          <a:xfrm>
            <a:off x="274320" y="3474720"/>
            <a:ext cx="8229600" cy="822960"/>
          </a:xfrm>
          <a:prstGeom prst="rect">
            <a:avLst/>
          </a:prstGeom>
          <a:noFill/>
          <a:ln/>
        </p:spPr>
        <p:txBody>
          <a:bodyPr wrap="square" rtlCol="0" anchor="ctr"/>
          <a:lstStyle/>
          <a:p>
            <a:pPr indent="0" marL="0">
              <a:lnSpc>
                <a:spcPct val="150000"/>
              </a:lnSpc>
              <a:buNone/>
            </a:pPr>
            <a:r>
              <a:rPr lang="en-US" sz="1250" dirty="0">
                <a:solidFill>
                  <a:srgbClr val="94A3B8"/>
                </a:solidFill>
                <a:latin typeface="Calibri Light" pitchFamily="34" charset="0"/>
                <a:ea typeface="Calibri Light" pitchFamily="34" charset="-122"/>
                <a:cs typeface="Calibri Light" pitchFamily="34" charset="-120"/>
              </a:rPr>
              <a:t>Architecture Blueprint based on Kedro orchestration, MINLP + Bayesian Optimization, DAG-based inferred tag engine,</a:t>
            </a:r>
            <a:endParaRPr lang="en-US" sz="1250" dirty="0"/>
          </a:p>
          <a:p>
            <a:pPr indent="0" marL="0">
              <a:lnSpc>
                <a:spcPct val="150000"/>
              </a:lnSpc>
              <a:buNone/>
            </a:pPr>
            <a:r>
              <a:rPr lang="en-US" sz="1250" dirty="0">
                <a:solidFill>
                  <a:srgbClr val="94A3B8"/>
                </a:solidFill>
                <a:latin typeface="Calibri Light" pitchFamily="34" charset="0"/>
                <a:ea typeface="Calibri Light" pitchFamily="34" charset="-122"/>
                <a:cs typeface="Calibri Light" pitchFamily="34" charset="-120"/>
              </a:rPr>
              <a:t>configuration-first design and full alignment with the product coding standards.</a:t>
            </a:r>
            <a:endParaRPr lang="en-US" sz="1250" dirty="0"/>
          </a:p>
        </p:txBody>
      </p:sp>
      <p:sp>
        <p:nvSpPr>
          <p:cNvPr id="24" name="Shape 22"/>
          <p:cNvSpPr/>
          <p:nvPr/>
        </p:nvSpPr>
        <p:spPr>
          <a:xfrm>
            <a:off x="274320" y="4480560"/>
            <a:ext cx="1463040" cy="822960"/>
          </a:xfrm>
          <a:prstGeom prst="rect">
            <a:avLst/>
          </a:prstGeom>
          <a:solidFill>
            <a:srgbClr val="162944"/>
          </a:solidFill>
          <a:ln w="12700">
            <a:solidFill>
              <a:srgbClr val="1E3A5F"/>
            </a:solidFill>
            <a:prstDash val="solid"/>
          </a:ln>
        </p:spPr>
      </p:sp>
      <p:sp>
        <p:nvSpPr>
          <p:cNvPr id="25" name="Text 23"/>
          <p:cNvSpPr/>
          <p:nvPr/>
        </p:nvSpPr>
        <p:spPr>
          <a:xfrm>
            <a:off x="274320" y="4526280"/>
            <a:ext cx="1463040" cy="384048"/>
          </a:xfrm>
          <a:prstGeom prst="rect">
            <a:avLst/>
          </a:prstGeom>
          <a:noFill/>
          <a:ln/>
        </p:spPr>
        <p:txBody>
          <a:bodyPr wrap="square" rtlCol="0" anchor="ctr"/>
          <a:lstStyle/>
          <a:p>
            <a:pPr algn="ctr" indent="0" marL="0">
              <a:buNone/>
            </a:pPr>
            <a:r>
              <a:rPr lang="en-US" sz="2200" b="1" dirty="0">
                <a:solidFill>
                  <a:srgbClr val="00897B"/>
                </a:solidFill>
                <a:latin typeface="Calibri" pitchFamily="34" charset="0"/>
                <a:ea typeface="Calibri" pitchFamily="34" charset="-122"/>
                <a:cs typeface="Calibri" pitchFamily="34" charset="-120"/>
              </a:rPr>
              <a:t>3,763</a:t>
            </a:r>
            <a:endParaRPr lang="en-US" sz="2200" dirty="0"/>
          </a:p>
        </p:txBody>
      </p:sp>
      <p:sp>
        <p:nvSpPr>
          <p:cNvPr id="26" name="Text 24"/>
          <p:cNvSpPr/>
          <p:nvPr/>
        </p:nvSpPr>
        <p:spPr>
          <a:xfrm>
            <a:off x="274320" y="4892040"/>
            <a:ext cx="1463040" cy="274320"/>
          </a:xfrm>
          <a:prstGeom prst="rect">
            <a:avLst/>
          </a:prstGeom>
          <a:noFill/>
          <a:ln/>
        </p:spPr>
        <p:txBody>
          <a:bodyPr wrap="square" rtlCol="0" anchor="ctr"/>
          <a:lstStyle/>
          <a:p>
            <a:pPr algn="ctr" indent="0" marL="0">
              <a:buNone/>
            </a:pPr>
            <a:r>
              <a:rPr lang="en-US" sz="900" dirty="0">
                <a:solidFill>
                  <a:srgbClr val="94A3B8"/>
                </a:solidFill>
              </a:rPr>
              <a:t>PI Tags</a:t>
            </a:r>
            <a:endParaRPr lang="en-US" sz="900" dirty="0"/>
          </a:p>
        </p:txBody>
      </p:sp>
      <p:sp>
        <p:nvSpPr>
          <p:cNvPr id="27" name="Shape 25"/>
          <p:cNvSpPr/>
          <p:nvPr/>
        </p:nvSpPr>
        <p:spPr>
          <a:xfrm>
            <a:off x="1920240" y="4480560"/>
            <a:ext cx="1463040" cy="822960"/>
          </a:xfrm>
          <a:prstGeom prst="rect">
            <a:avLst/>
          </a:prstGeom>
          <a:solidFill>
            <a:srgbClr val="162944"/>
          </a:solidFill>
          <a:ln w="12700">
            <a:solidFill>
              <a:srgbClr val="1E3A5F"/>
            </a:solidFill>
            <a:prstDash val="solid"/>
          </a:ln>
        </p:spPr>
      </p:sp>
      <p:sp>
        <p:nvSpPr>
          <p:cNvPr id="28" name="Text 26"/>
          <p:cNvSpPr/>
          <p:nvPr/>
        </p:nvSpPr>
        <p:spPr>
          <a:xfrm>
            <a:off x="1920240" y="4526280"/>
            <a:ext cx="1463040" cy="384048"/>
          </a:xfrm>
          <a:prstGeom prst="rect">
            <a:avLst/>
          </a:prstGeom>
          <a:noFill/>
          <a:ln/>
        </p:spPr>
        <p:txBody>
          <a:bodyPr wrap="square" rtlCol="0" anchor="ctr"/>
          <a:lstStyle/>
          <a:p>
            <a:pPr algn="ctr" indent="0" marL="0">
              <a:buNone/>
            </a:pPr>
            <a:r>
              <a:rPr lang="en-US" sz="2200" b="1" dirty="0">
                <a:solidFill>
                  <a:srgbClr val="00897B"/>
                </a:solidFill>
                <a:latin typeface="Calibri" pitchFamily="34" charset="0"/>
                <a:ea typeface="Calibri" pitchFamily="34" charset="-122"/>
                <a:cs typeface="Calibri" pitchFamily="34" charset="-120"/>
              </a:rPr>
              <a:t>41</a:t>
            </a:r>
            <a:endParaRPr lang="en-US" sz="2200" dirty="0"/>
          </a:p>
        </p:txBody>
      </p:sp>
      <p:sp>
        <p:nvSpPr>
          <p:cNvPr id="29" name="Text 27"/>
          <p:cNvSpPr/>
          <p:nvPr/>
        </p:nvSpPr>
        <p:spPr>
          <a:xfrm>
            <a:off x="1920240" y="4892040"/>
            <a:ext cx="1463040" cy="274320"/>
          </a:xfrm>
          <a:prstGeom prst="rect">
            <a:avLst/>
          </a:prstGeom>
          <a:noFill/>
          <a:ln/>
        </p:spPr>
        <p:txBody>
          <a:bodyPr wrap="square" rtlCol="0" anchor="ctr"/>
          <a:lstStyle/>
          <a:p>
            <a:pPr algn="ctr" indent="0" marL="0">
              <a:buNone/>
            </a:pPr>
            <a:r>
              <a:rPr lang="en-US" sz="900" dirty="0">
                <a:solidFill>
                  <a:srgbClr val="94A3B8"/>
                </a:solidFill>
              </a:rPr>
              <a:t>Config Tables</a:t>
            </a:r>
            <a:endParaRPr lang="en-US" sz="900" dirty="0"/>
          </a:p>
        </p:txBody>
      </p:sp>
      <p:sp>
        <p:nvSpPr>
          <p:cNvPr id="30" name="Shape 28"/>
          <p:cNvSpPr/>
          <p:nvPr/>
        </p:nvSpPr>
        <p:spPr>
          <a:xfrm>
            <a:off x="3566160" y="4480560"/>
            <a:ext cx="1463040" cy="822960"/>
          </a:xfrm>
          <a:prstGeom prst="rect">
            <a:avLst/>
          </a:prstGeom>
          <a:solidFill>
            <a:srgbClr val="162944"/>
          </a:solidFill>
          <a:ln w="12700">
            <a:solidFill>
              <a:srgbClr val="1E3A5F"/>
            </a:solidFill>
            <a:prstDash val="solid"/>
          </a:ln>
        </p:spPr>
      </p:sp>
      <p:sp>
        <p:nvSpPr>
          <p:cNvPr id="31" name="Text 29"/>
          <p:cNvSpPr/>
          <p:nvPr/>
        </p:nvSpPr>
        <p:spPr>
          <a:xfrm>
            <a:off x="3566160" y="4526280"/>
            <a:ext cx="1463040" cy="384048"/>
          </a:xfrm>
          <a:prstGeom prst="rect">
            <a:avLst/>
          </a:prstGeom>
          <a:noFill/>
          <a:ln/>
        </p:spPr>
        <p:txBody>
          <a:bodyPr wrap="square" rtlCol="0" anchor="ctr"/>
          <a:lstStyle/>
          <a:p>
            <a:pPr algn="ctr" indent="0" marL="0">
              <a:buNone/>
            </a:pPr>
            <a:r>
              <a:rPr lang="en-US" sz="2200" b="1" dirty="0">
                <a:solidFill>
                  <a:srgbClr val="00897B"/>
                </a:solidFill>
                <a:latin typeface="Calibri" pitchFamily="34" charset="0"/>
                <a:ea typeface="Calibri" pitchFamily="34" charset="-122"/>
                <a:cs typeface="Calibri" pitchFamily="34" charset="-120"/>
              </a:rPr>
              <a:t>8</a:t>
            </a:r>
            <a:endParaRPr lang="en-US" sz="2200" dirty="0"/>
          </a:p>
        </p:txBody>
      </p:sp>
      <p:sp>
        <p:nvSpPr>
          <p:cNvPr id="32" name="Text 30"/>
          <p:cNvSpPr/>
          <p:nvPr/>
        </p:nvSpPr>
        <p:spPr>
          <a:xfrm>
            <a:off x="3566160" y="4892040"/>
            <a:ext cx="1463040" cy="274320"/>
          </a:xfrm>
          <a:prstGeom prst="rect">
            <a:avLst/>
          </a:prstGeom>
          <a:noFill/>
          <a:ln/>
        </p:spPr>
        <p:txBody>
          <a:bodyPr wrap="square" rtlCol="0" anchor="ctr"/>
          <a:lstStyle/>
          <a:p>
            <a:pPr algn="ctr" indent="0" marL="0">
              <a:buNone/>
            </a:pPr>
            <a:r>
              <a:rPr lang="en-US" sz="900" dirty="0">
                <a:solidFill>
                  <a:srgbClr val="94A3B8"/>
                </a:solidFill>
              </a:rPr>
              <a:t>Pipeline Stages</a:t>
            </a:r>
            <a:endParaRPr lang="en-US" sz="900" dirty="0"/>
          </a:p>
        </p:txBody>
      </p:sp>
      <p:sp>
        <p:nvSpPr>
          <p:cNvPr id="33" name="Shape 31"/>
          <p:cNvSpPr/>
          <p:nvPr/>
        </p:nvSpPr>
        <p:spPr>
          <a:xfrm>
            <a:off x="5212080" y="4480560"/>
            <a:ext cx="1463040" cy="822960"/>
          </a:xfrm>
          <a:prstGeom prst="rect">
            <a:avLst/>
          </a:prstGeom>
          <a:solidFill>
            <a:srgbClr val="162944"/>
          </a:solidFill>
          <a:ln w="12700">
            <a:solidFill>
              <a:srgbClr val="1E3A5F"/>
            </a:solidFill>
            <a:prstDash val="solid"/>
          </a:ln>
        </p:spPr>
      </p:sp>
      <p:sp>
        <p:nvSpPr>
          <p:cNvPr id="34" name="Text 32"/>
          <p:cNvSpPr/>
          <p:nvPr/>
        </p:nvSpPr>
        <p:spPr>
          <a:xfrm>
            <a:off x="5212080" y="4526280"/>
            <a:ext cx="1463040" cy="384048"/>
          </a:xfrm>
          <a:prstGeom prst="rect">
            <a:avLst/>
          </a:prstGeom>
          <a:noFill/>
          <a:ln/>
        </p:spPr>
        <p:txBody>
          <a:bodyPr wrap="square" rtlCol="0" anchor="ctr"/>
          <a:lstStyle/>
          <a:p>
            <a:pPr algn="ctr" indent="0" marL="0">
              <a:buNone/>
            </a:pPr>
            <a:r>
              <a:rPr lang="en-US" sz="2200" b="1" dirty="0">
                <a:solidFill>
                  <a:srgbClr val="00897B"/>
                </a:solidFill>
                <a:latin typeface="Calibri" pitchFamily="34" charset="0"/>
                <a:ea typeface="Calibri" pitchFamily="34" charset="-122"/>
                <a:cs typeface="Calibri" pitchFamily="34" charset="-120"/>
              </a:rPr>
              <a:t>2</a:t>
            </a:r>
            <a:endParaRPr lang="en-US" sz="2200" dirty="0"/>
          </a:p>
        </p:txBody>
      </p:sp>
      <p:sp>
        <p:nvSpPr>
          <p:cNvPr id="35" name="Text 33"/>
          <p:cNvSpPr/>
          <p:nvPr/>
        </p:nvSpPr>
        <p:spPr>
          <a:xfrm>
            <a:off x="5212080" y="4892040"/>
            <a:ext cx="1463040" cy="274320"/>
          </a:xfrm>
          <a:prstGeom prst="rect">
            <a:avLst/>
          </a:prstGeom>
          <a:noFill/>
          <a:ln/>
        </p:spPr>
        <p:txBody>
          <a:bodyPr wrap="square" rtlCol="0" anchor="ctr"/>
          <a:lstStyle/>
          <a:p>
            <a:pPr algn="ctr" indent="0" marL="0">
              <a:buNone/>
            </a:pPr>
            <a:r>
              <a:rPr lang="en-US" sz="900" dirty="0">
                <a:solidFill>
                  <a:srgbClr val="94A3B8"/>
                </a:solidFill>
              </a:rPr>
              <a:t>Philosophies</a:t>
            </a:r>
            <a:endParaRPr lang="en-US" sz="900" dirty="0"/>
          </a:p>
        </p:txBody>
      </p:sp>
      <p:sp>
        <p:nvSpPr>
          <p:cNvPr id="36" name="Shape 34"/>
          <p:cNvSpPr/>
          <p:nvPr/>
        </p:nvSpPr>
        <p:spPr>
          <a:xfrm>
            <a:off x="6858000" y="4480560"/>
            <a:ext cx="1463040" cy="822960"/>
          </a:xfrm>
          <a:prstGeom prst="rect">
            <a:avLst/>
          </a:prstGeom>
          <a:solidFill>
            <a:srgbClr val="162944"/>
          </a:solidFill>
          <a:ln w="12700">
            <a:solidFill>
              <a:srgbClr val="1E3A5F"/>
            </a:solidFill>
            <a:prstDash val="solid"/>
          </a:ln>
        </p:spPr>
      </p:sp>
      <p:sp>
        <p:nvSpPr>
          <p:cNvPr id="37" name="Text 35"/>
          <p:cNvSpPr/>
          <p:nvPr/>
        </p:nvSpPr>
        <p:spPr>
          <a:xfrm>
            <a:off x="6858000" y="4526280"/>
            <a:ext cx="1463040" cy="384048"/>
          </a:xfrm>
          <a:prstGeom prst="rect">
            <a:avLst/>
          </a:prstGeom>
          <a:noFill/>
          <a:ln/>
        </p:spPr>
        <p:txBody>
          <a:bodyPr wrap="square" rtlCol="0" anchor="ctr"/>
          <a:lstStyle/>
          <a:p>
            <a:pPr algn="ctr" indent="0" marL="0">
              <a:buNone/>
            </a:pPr>
            <a:r>
              <a:rPr lang="en-US" sz="2200" b="1" dirty="0">
                <a:solidFill>
                  <a:srgbClr val="00897B"/>
                </a:solidFill>
                <a:latin typeface="Calibri" pitchFamily="34" charset="0"/>
                <a:ea typeface="Calibri" pitchFamily="34" charset="-122"/>
                <a:cs typeface="Calibri" pitchFamily="34" charset="-120"/>
              </a:rPr>
              <a:t>5</a:t>
            </a:r>
            <a:endParaRPr lang="en-US" sz="2200" dirty="0"/>
          </a:p>
        </p:txBody>
      </p:sp>
      <p:sp>
        <p:nvSpPr>
          <p:cNvPr id="38" name="Text 36"/>
          <p:cNvSpPr/>
          <p:nvPr/>
        </p:nvSpPr>
        <p:spPr>
          <a:xfrm>
            <a:off x="6858000" y="4892040"/>
            <a:ext cx="1463040" cy="274320"/>
          </a:xfrm>
          <a:prstGeom prst="rect">
            <a:avLst/>
          </a:prstGeom>
          <a:noFill/>
          <a:ln/>
        </p:spPr>
        <p:txBody>
          <a:bodyPr wrap="square" rtlCol="0" anchor="ctr"/>
          <a:lstStyle/>
          <a:p>
            <a:pPr algn="ctr" indent="0" marL="0">
              <a:buNone/>
            </a:pPr>
            <a:r>
              <a:rPr lang="en-US" sz="900" dirty="0">
                <a:solidFill>
                  <a:srgbClr val="94A3B8"/>
                </a:solidFill>
              </a:rPr>
              <a:t>Boilers / SEUs</a:t>
            </a:r>
            <a:endParaRPr lang="en-US" sz="900" dirty="0"/>
          </a:p>
        </p:txBody>
      </p:sp>
      <p:sp>
        <p:nvSpPr>
          <p:cNvPr id="39" name="Text 37"/>
          <p:cNvSpPr/>
          <p:nvPr/>
        </p:nvSpPr>
        <p:spPr>
          <a:xfrm>
            <a:off x="274320" y="6492240"/>
            <a:ext cx="8229600" cy="228600"/>
          </a:xfrm>
          <a:prstGeom prst="rect">
            <a:avLst/>
          </a:prstGeom>
          <a:noFill/>
          <a:ln/>
        </p:spPr>
        <p:txBody>
          <a:bodyPr wrap="square" rtlCol="0" anchor="ctr"/>
          <a:lstStyle/>
          <a:p>
            <a:pPr algn="l" indent="0" marL="0">
              <a:buNone/>
            </a:pPr>
            <a:r>
              <a:rPr lang="en-US" sz="900" dirty="0">
                <a:solidFill>
                  <a:srgbClr val="64748B"/>
                </a:solidFill>
              </a:rPr>
              <a:t>Confidential — Technical Architecture Document  |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274320" y="201168"/>
            <a:ext cx="384048" cy="384048"/>
          </a:xfrm>
          <a:prstGeom prst="roundRect">
            <a:avLst>
              <a:gd name="adj" fmla="val 14286"/>
            </a:avLst>
          </a:prstGeom>
          <a:solidFill>
            <a:srgbClr val="000000"/>
          </a:solidFill>
          <a:ln w="19050">
            <a:solidFill>
              <a:srgbClr val="00897B"/>
            </a:solidFill>
            <a:prstDash val="solid"/>
          </a:ln>
        </p:spPr>
      </p:sp>
      <p:sp>
        <p:nvSpPr>
          <p:cNvPr id="4" name="Text 2"/>
          <p:cNvSpPr/>
          <p:nvPr/>
        </p:nvSpPr>
        <p:spPr>
          <a:xfrm>
            <a:off x="274320" y="201168"/>
            <a:ext cx="384048" cy="384048"/>
          </a:xfrm>
          <a:prstGeom prst="rect">
            <a:avLst/>
          </a:prstGeom>
          <a:noFill/>
          <a:ln/>
        </p:spPr>
        <p:txBody>
          <a:bodyPr wrap="square" lIns="0" tIns="0" rIns="0" bIns="0" rtlCol="0" anchor="ctr"/>
          <a:lstStyle/>
          <a:p>
            <a:pPr algn="ctr" indent="0" marL="0">
              <a:buNone/>
            </a:pPr>
            <a:r>
              <a:rPr lang="en-US" sz="1300" b="1" dirty="0">
                <a:solidFill>
                  <a:srgbClr val="00897B"/>
                </a:solidFill>
                <a:latin typeface="Consolas" pitchFamily="34" charset="0"/>
                <a:ea typeface="Consolas" pitchFamily="34" charset="-122"/>
                <a:cs typeface="Consolas" pitchFamily="34" charset="-120"/>
              </a:rPr>
              <a:t>01</a:t>
            </a:r>
            <a:endParaRPr lang="en-US" sz="1300" dirty="0"/>
          </a:p>
        </p:txBody>
      </p:sp>
      <p:sp>
        <p:nvSpPr>
          <p:cNvPr id="5" name="Text 3"/>
          <p:cNvSpPr/>
          <p:nvPr/>
        </p:nvSpPr>
        <p:spPr>
          <a:xfrm>
            <a:off x="777240" y="201168"/>
            <a:ext cx="100584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System Context: What We're Optimizing</a:t>
            </a:r>
            <a:endParaRPr lang="en-US" sz="2200" dirty="0"/>
          </a:p>
        </p:txBody>
      </p:sp>
      <p:sp>
        <p:nvSpPr>
          <p:cNvPr id="6" name="Shape 4"/>
          <p:cNvSpPr/>
          <p:nvPr/>
        </p:nvSpPr>
        <p:spPr>
          <a:xfrm>
            <a:off x="274320" y="640080"/>
            <a:ext cx="11612880" cy="27432"/>
          </a:xfrm>
          <a:prstGeom prst="rect">
            <a:avLst/>
          </a:prstGeom>
          <a:solidFill>
            <a:srgbClr val="1E3A5F"/>
          </a:solidFill>
          <a:ln/>
        </p:spPr>
      </p:sp>
      <p:sp>
        <p:nvSpPr>
          <p:cNvPr id="7" name="Shape 5"/>
          <p:cNvSpPr/>
          <p:nvPr/>
        </p:nvSpPr>
        <p:spPr>
          <a:xfrm>
            <a:off x="274320" y="777240"/>
            <a:ext cx="2148840" cy="1371600"/>
          </a:xfrm>
          <a:prstGeom prst="rect">
            <a:avLst/>
          </a:prstGeom>
          <a:solidFill>
            <a:srgbClr val="162944"/>
          </a:solidFill>
          <a:ln w="12700">
            <a:solidFill>
              <a:srgbClr val="1E3A5F"/>
            </a:solidFill>
            <a:prstDash val="solid"/>
          </a:ln>
        </p:spPr>
      </p:sp>
      <p:sp>
        <p:nvSpPr>
          <p:cNvPr id="8" name="Shape 6"/>
          <p:cNvSpPr/>
          <p:nvPr/>
        </p:nvSpPr>
        <p:spPr>
          <a:xfrm>
            <a:off x="274320" y="777240"/>
            <a:ext cx="2148840" cy="54864"/>
          </a:xfrm>
          <a:prstGeom prst="rect">
            <a:avLst/>
          </a:prstGeom>
          <a:solidFill>
            <a:srgbClr val="F59E0B"/>
          </a:solidFill>
          <a:ln/>
        </p:spPr>
      </p:sp>
      <p:sp>
        <p:nvSpPr>
          <p:cNvPr id="9" name="Text 7"/>
          <p:cNvSpPr/>
          <p:nvPr/>
        </p:nvSpPr>
        <p:spPr>
          <a:xfrm>
            <a:off x="274320" y="868680"/>
            <a:ext cx="2148840" cy="548640"/>
          </a:xfrm>
          <a:prstGeom prst="rect">
            <a:avLst/>
          </a:prstGeom>
          <a:noFill/>
          <a:ln/>
        </p:spPr>
        <p:txBody>
          <a:bodyPr wrap="square" rtlCol="0" anchor="ctr"/>
          <a:lstStyle/>
          <a:p>
            <a:pPr algn="ctr" indent="0" marL="0">
              <a:buNone/>
            </a:pPr>
            <a:r>
              <a:rPr lang="en-US" sz="1100" b="1" dirty="0">
                <a:solidFill>
                  <a:srgbClr val="FFFFFF"/>
                </a:solidFill>
              </a:rPr>
              <a:t>ETH</a:t>
            </a:r>
            <a:endParaRPr lang="en-US" sz="1100" dirty="0"/>
          </a:p>
          <a:p>
            <a:pPr algn="ctr" indent="0" marL="0">
              <a:buNone/>
            </a:pPr>
            <a:r>
              <a:rPr lang="en-US" sz="1100" b="1" dirty="0">
                <a:solidFill>
                  <a:srgbClr val="FFFFFF"/>
                </a:solidFill>
              </a:rPr>
              <a:t>Ethylene</a:t>
            </a:r>
            <a:endParaRPr lang="en-US" sz="1100" dirty="0"/>
          </a:p>
        </p:txBody>
      </p:sp>
      <p:sp>
        <p:nvSpPr>
          <p:cNvPr id="10" name="Text 8"/>
          <p:cNvSpPr/>
          <p:nvPr/>
        </p:nvSpPr>
        <p:spPr>
          <a:xfrm>
            <a:off x="274320" y="1417320"/>
            <a:ext cx="2148840" cy="640080"/>
          </a:xfrm>
          <a:prstGeom prst="rect">
            <a:avLst/>
          </a:prstGeom>
          <a:noFill/>
          <a:ln/>
        </p:spPr>
        <p:txBody>
          <a:bodyPr wrap="square" rtlCol="0" anchor="ctr"/>
          <a:lstStyle/>
          <a:p>
            <a:pPr algn="ctr" indent="0" marL="0">
              <a:lnSpc>
                <a:spcPct val="140000"/>
              </a:lnSpc>
              <a:buNone/>
            </a:pPr>
            <a:r>
              <a:rPr lang="en-US" sz="900" dirty="0">
                <a:solidFill>
                  <a:srgbClr val="94A3B8"/>
                </a:solidFill>
              </a:rPr>
              <a:t>7 Furnaces</a:t>
            </a:r>
            <a:endParaRPr lang="en-US" sz="900" dirty="0"/>
          </a:p>
          <a:p>
            <a:pPr algn="ctr" indent="0" marL="0">
              <a:lnSpc>
                <a:spcPct val="140000"/>
              </a:lnSpc>
              <a:buNone/>
            </a:pPr>
            <a:r>
              <a:rPr lang="en-US" sz="900" dirty="0">
                <a:solidFill>
                  <a:srgbClr val="94A3B8"/>
                </a:solidFill>
              </a:rPr>
              <a:t>H-1111 to H-1117</a:t>
            </a:r>
            <a:endParaRPr lang="en-US" sz="900" dirty="0"/>
          </a:p>
        </p:txBody>
      </p:sp>
      <p:sp>
        <p:nvSpPr>
          <p:cNvPr id="11" name="Shape 9"/>
          <p:cNvSpPr/>
          <p:nvPr/>
        </p:nvSpPr>
        <p:spPr>
          <a:xfrm>
            <a:off x="2606040" y="777240"/>
            <a:ext cx="2148840" cy="1371600"/>
          </a:xfrm>
          <a:prstGeom prst="rect">
            <a:avLst/>
          </a:prstGeom>
          <a:solidFill>
            <a:srgbClr val="162944"/>
          </a:solidFill>
          <a:ln w="12700">
            <a:solidFill>
              <a:srgbClr val="1E3A5F"/>
            </a:solidFill>
            <a:prstDash val="solid"/>
          </a:ln>
        </p:spPr>
      </p:sp>
      <p:sp>
        <p:nvSpPr>
          <p:cNvPr id="12" name="Shape 10"/>
          <p:cNvSpPr/>
          <p:nvPr/>
        </p:nvSpPr>
        <p:spPr>
          <a:xfrm>
            <a:off x="2606040" y="777240"/>
            <a:ext cx="2148840" cy="54864"/>
          </a:xfrm>
          <a:prstGeom prst="rect">
            <a:avLst/>
          </a:prstGeom>
          <a:solidFill>
            <a:srgbClr val="00897B"/>
          </a:solidFill>
          <a:ln/>
        </p:spPr>
      </p:sp>
      <p:sp>
        <p:nvSpPr>
          <p:cNvPr id="13" name="Text 11"/>
          <p:cNvSpPr/>
          <p:nvPr/>
        </p:nvSpPr>
        <p:spPr>
          <a:xfrm>
            <a:off x="2606040" y="868680"/>
            <a:ext cx="2148840" cy="548640"/>
          </a:xfrm>
          <a:prstGeom prst="rect">
            <a:avLst/>
          </a:prstGeom>
          <a:noFill/>
          <a:ln/>
        </p:spPr>
        <p:txBody>
          <a:bodyPr wrap="square" rtlCol="0" anchor="ctr"/>
          <a:lstStyle/>
          <a:p>
            <a:pPr algn="ctr" indent="0" marL="0">
              <a:buNone/>
            </a:pPr>
            <a:r>
              <a:rPr lang="en-US" sz="1100" b="1" dirty="0">
                <a:solidFill>
                  <a:srgbClr val="FFFFFF"/>
                </a:solidFill>
              </a:rPr>
              <a:t>EOEG 1</a:t>
            </a:r>
            <a:endParaRPr lang="en-US" sz="1100" dirty="0"/>
          </a:p>
          <a:p>
            <a:pPr algn="ctr" indent="0" marL="0">
              <a:buNone/>
            </a:pPr>
            <a:r>
              <a:rPr lang="en-US" sz="1100" b="1" dirty="0">
                <a:solidFill>
                  <a:srgbClr val="FFFFFF"/>
                </a:solidFill>
              </a:rPr>
              <a:t>EO/EG Plant</a:t>
            </a:r>
            <a:endParaRPr lang="en-US" sz="1100" dirty="0"/>
          </a:p>
        </p:txBody>
      </p:sp>
      <p:sp>
        <p:nvSpPr>
          <p:cNvPr id="14" name="Text 12"/>
          <p:cNvSpPr/>
          <p:nvPr/>
        </p:nvSpPr>
        <p:spPr>
          <a:xfrm>
            <a:off x="2606040" y="1417320"/>
            <a:ext cx="2148840" cy="640080"/>
          </a:xfrm>
          <a:prstGeom prst="rect">
            <a:avLst/>
          </a:prstGeom>
          <a:noFill/>
          <a:ln/>
        </p:spPr>
        <p:txBody>
          <a:bodyPr wrap="square" rtlCol="0" anchor="ctr"/>
          <a:lstStyle/>
          <a:p>
            <a:pPr algn="ctr" indent="0" marL="0">
              <a:lnSpc>
                <a:spcPct val="140000"/>
              </a:lnSpc>
              <a:buNone/>
            </a:pPr>
            <a:r>
              <a:rPr lang="en-US" sz="900" dirty="0">
                <a:solidFill>
                  <a:srgbClr val="94A3B8"/>
                </a:solidFill>
              </a:rPr>
              <a:t>EG1 Units</a:t>
            </a:r>
            <a:endParaRPr lang="en-US" sz="900" dirty="0"/>
          </a:p>
          <a:p>
            <a:pPr algn="ctr" indent="0" marL="0">
              <a:lnSpc>
                <a:spcPct val="140000"/>
              </a:lnSpc>
              <a:buNone/>
            </a:pPr>
            <a:r>
              <a:rPr lang="en-US" sz="900" dirty="0">
                <a:solidFill>
                  <a:srgbClr val="94A3B8"/>
                </a:solidFill>
              </a:rPr>
              <a:t>KM-2115, E-2531...</a:t>
            </a:r>
            <a:endParaRPr lang="en-US" sz="900" dirty="0"/>
          </a:p>
        </p:txBody>
      </p:sp>
      <p:sp>
        <p:nvSpPr>
          <p:cNvPr id="15" name="Shape 13"/>
          <p:cNvSpPr/>
          <p:nvPr/>
        </p:nvSpPr>
        <p:spPr>
          <a:xfrm>
            <a:off x="4937760" y="777240"/>
            <a:ext cx="2148840" cy="1371600"/>
          </a:xfrm>
          <a:prstGeom prst="rect">
            <a:avLst/>
          </a:prstGeom>
          <a:solidFill>
            <a:srgbClr val="162944"/>
          </a:solidFill>
          <a:ln w="12700">
            <a:solidFill>
              <a:srgbClr val="1E3A5F"/>
            </a:solidFill>
            <a:prstDash val="solid"/>
          </a:ln>
        </p:spPr>
      </p:sp>
      <p:sp>
        <p:nvSpPr>
          <p:cNvPr id="16" name="Shape 14"/>
          <p:cNvSpPr/>
          <p:nvPr/>
        </p:nvSpPr>
        <p:spPr>
          <a:xfrm>
            <a:off x="4937760" y="777240"/>
            <a:ext cx="2148840" cy="54864"/>
          </a:xfrm>
          <a:prstGeom prst="rect">
            <a:avLst/>
          </a:prstGeom>
          <a:solidFill>
            <a:srgbClr val="00BCD4"/>
          </a:solidFill>
          <a:ln/>
        </p:spPr>
      </p:sp>
      <p:sp>
        <p:nvSpPr>
          <p:cNvPr id="17" name="Text 15"/>
          <p:cNvSpPr/>
          <p:nvPr/>
        </p:nvSpPr>
        <p:spPr>
          <a:xfrm>
            <a:off x="4937760" y="868680"/>
            <a:ext cx="2148840" cy="548640"/>
          </a:xfrm>
          <a:prstGeom prst="rect">
            <a:avLst/>
          </a:prstGeom>
          <a:noFill/>
          <a:ln/>
        </p:spPr>
        <p:txBody>
          <a:bodyPr wrap="square" rtlCol="0" anchor="ctr"/>
          <a:lstStyle/>
          <a:p>
            <a:pPr algn="ctr" indent="0" marL="0">
              <a:buNone/>
            </a:pPr>
            <a:r>
              <a:rPr lang="en-US" sz="1100" b="1" dirty="0">
                <a:solidFill>
                  <a:srgbClr val="FFFFFF"/>
                </a:solidFill>
              </a:rPr>
              <a:t>EOEG 2</a:t>
            </a:r>
            <a:endParaRPr lang="en-US" sz="1100" dirty="0"/>
          </a:p>
          <a:p>
            <a:pPr algn="ctr" indent="0" marL="0">
              <a:buNone/>
            </a:pPr>
            <a:r>
              <a:rPr lang="en-US" sz="1100" b="1" dirty="0">
                <a:solidFill>
                  <a:srgbClr val="FFFFFF"/>
                </a:solidFill>
              </a:rPr>
              <a:t>EO/EG Plant</a:t>
            </a:r>
            <a:endParaRPr lang="en-US" sz="1100" dirty="0"/>
          </a:p>
        </p:txBody>
      </p:sp>
      <p:sp>
        <p:nvSpPr>
          <p:cNvPr id="18" name="Text 16"/>
          <p:cNvSpPr/>
          <p:nvPr/>
        </p:nvSpPr>
        <p:spPr>
          <a:xfrm>
            <a:off x="4937760" y="1417320"/>
            <a:ext cx="2148840" cy="640080"/>
          </a:xfrm>
          <a:prstGeom prst="rect">
            <a:avLst/>
          </a:prstGeom>
          <a:noFill/>
          <a:ln/>
        </p:spPr>
        <p:txBody>
          <a:bodyPr wrap="square" rtlCol="0" anchor="ctr"/>
          <a:lstStyle/>
          <a:p>
            <a:pPr algn="ctr" indent="0" marL="0">
              <a:lnSpc>
                <a:spcPct val="140000"/>
              </a:lnSpc>
              <a:buNone/>
            </a:pPr>
            <a:r>
              <a:rPr lang="en-US" sz="900" dirty="0">
                <a:solidFill>
                  <a:srgbClr val="94A3B8"/>
                </a:solidFill>
              </a:rPr>
              <a:t>EG2 Units</a:t>
            </a:r>
            <a:endParaRPr lang="en-US" sz="900" dirty="0"/>
          </a:p>
          <a:p>
            <a:pPr algn="ctr" indent="0" marL="0">
              <a:lnSpc>
                <a:spcPct val="140000"/>
              </a:lnSpc>
              <a:buNone/>
            </a:pPr>
            <a:r>
              <a:rPr lang="en-US" sz="900" dirty="0">
                <a:solidFill>
                  <a:srgbClr val="94A3B8"/>
                </a:solidFill>
              </a:rPr>
              <a:t>KM-4115, E-4531...</a:t>
            </a:r>
            <a:endParaRPr lang="en-US" sz="900" dirty="0"/>
          </a:p>
        </p:txBody>
      </p:sp>
      <p:sp>
        <p:nvSpPr>
          <p:cNvPr id="19" name="Shape 17"/>
          <p:cNvSpPr/>
          <p:nvPr/>
        </p:nvSpPr>
        <p:spPr>
          <a:xfrm>
            <a:off x="7269480" y="777240"/>
            <a:ext cx="2148840" cy="1371600"/>
          </a:xfrm>
          <a:prstGeom prst="rect">
            <a:avLst/>
          </a:prstGeom>
          <a:solidFill>
            <a:srgbClr val="162944"/>
          </a:solidFill>
          <a:ln w="12700">
            <a:solidFill>
              <a:srgbClr val="1E3A5F"/>
            </a:solidFill>
            <a:prstDash val="solid"/>
          </a:ln>
        </p:spPr>
      </p:sp>
      <p:sp>
        <p:nvSpPr>
          <p:cNvPr id="20" name="Shape 18"/>
          <p:cNvSpPr/>
          <p:nvPr/>
        </p:nvSpPr>
        <p:spPr>
          <a:xfrm>
            <a:off x="7269480" y="777240"/>
            <a:ext cx="2148840" cy="54864"/>
          </a:xfrm>
          <a:prstGeom prst="rect">
            <a:avLst/>
          </a:prstGeom>
          <a:solidFill>
            <a:srgbClr val="6B46C1"/>
          </a:solidFill>
          <a:ln/>
        </p:spPr>
      </p:sp>
      <p:sp>
        <p:nvSpPr>
          <p:cNvPr id="21" name="Text 19"/>
          <p:cNvSpPr/>
          <p:nvPr/>
        </p:nvSpPr>
        <p:spPr>
          <a:xfrm>
            <a:off x="7269480" y="868680"/>
            <a:ext cx="2148840" cy="548640"/>
          </a:xfrm>
          <a:prstGeom prst="rect">
            <a:avLst/>
          </a:prstGeom>
          <a:noFill/>
          <a:ln/>
        </p:spPr>
        <p:txBody>
          <a:bodyPr wrap="square" rtlCol="0" anchor="ctr"/>
          <a:lstStyle/>
          <a:p>
            <a:pPr algn="ctr" indent="0" marL="0">
              <a:buNone/>
            </a:pPr>
            <a:r>
              <a:rPr lang="en-US" sz="1100" b="1" dirty="0">
                <a:solidFill>
                  <a:srgbClr val="FFFFFF"/>
                </a:solidFill>
              </a:rPr>
              <a:t>EOEG 3</a:t>
            </a:r>
            <a:endParaRPr lang="en-US" sz="1100" dirty="0"/>
          </a:p>
          <a:p>
            <a:pPr algn="ctr" indent="0" marL="0">
              <a:buNone/>
            </a:pPr>
            <a:r>
              <a:rPr lang="en-US" sz="1100" b="1" dirty="0">
                <a:solidFill>
                  <a:srgbClr val="FFFFFF"/>
                </a:solidFill>
              </a:rPr>
              <a:t>EO/EG Plant</a:t>
            </a:r>
            <a:endParaRPr lang="en-US" sz="1100" dirty="0"/>
          </a:p>
        </p:txBody>
      </p:sp>
      <p:sp>
        <p:nvSpPr>
          <p:cNvPr id="22" name="Text 20"/>
          <p:cNvSpPr/>
          <p:nvPr/>
        </p:nvSpPr>
        <p:spPr>
          <a:xfrm>
            <a:off x="7269480" y="1417320"/>
            <a:ext cx="2148840" cy="640080"/>
          </a:xfrm>
          <a:prstGeom prst="rect">
            <a:avLst/>
          </a:prstGeom>
          <a:noFill/>
          <a:ln/>
        </p:spPr>
        <p:txBody>
          <a:bodyPr wrap="square" rtlCol="0" anchor="ctr"/>
          <a:lstStyle/>
          <a:p>
            <a:pPr algn="ctr" indent="0" marL="0">
              <a:lnSpc>
                <a:spcPct val="140000"/>
              </a:lnSpc>
              <a:buNone/>
            </a:pPr>
            <a:r>
              <a:rPr lang="en-US" sz="900" dirty="0">
                <a:solidFill>
                  <a:srgbClr val="94A3B8"/>
                </a:solidFill>
              </a:rPr>
              <a:t>EG3 Units</a:t>
            </a:r>
            <a:endParaRPr lang="en-US" sz="900" dirty="0"/>
          </a:p>
          <a:p>
            <a:pPr algn="ctr" indent="0" marL="0">
              <a:lnSpc>
                <a:spcPct val="140000"/>
              </a:lnSpc>
              <a:buNone/>
            </a:pPr>
            <a:r>
              <a:rPr lang="en-US" sz="900" dirty="0">
                <a:solidFill>
                  <a:srgbClr val="94A3B8"/>
                </a:solidFill>
              </a:rPr>
              <a:t>KM-6115, E-6531...</a:t>
            </a:r>
            <a:endParaRPr lang="en-US" sz="900" dirty="0"/>
          </a:p>
        </p:txBody>
      </p:sp>
      <p:sp>
        <p:nvSpPr>
          <p:cNvPr id="23" name="Shape 21"/>
          <p:cNvSpPr/>
          <p:nvPr/>
        </p:nvSpPr>
        <p:spPr>
          <a:xfrm>
            <a:off x="9601200" y="777240"/>
            <a:ext cx="2148840" cy="1371600"/>
          </a:xfrm>
          <a:prstGeom prst="rect">
            <a:avLst/>
          </a:prstGeom>
          <a:solidFill>
            <a:srgbClr val="162944"/>
          </a:solidFill>
          <a:ln w="12700">
            <a:solidFill>
              <a:srgbClr val="1E3A5F"/>
            </a:solidFill>
            <a:prstDash val="solid"/>
          </a:ln>
        </p:spPr>
      </p:sp>
      <p:sp>
        <p:nvSpPr>
          <p:cNvPr id="24" name="Shape 22"/>
          <p:cNvSpPr/>
          <p:nvPr/>
        </p:nvSpPr>
        <p:spPr>
          <a:xfrm>
            <a:off x="9601200" y="777240"/>
            <a:ext cx="2148840" cy="54864"/>
          </a:xfrm>
          <a:prstGeom prst="rect">
            <a:avLst/>
          </a:prstGeom>
          <a:solidFill>
            <a:srgbClr val="E05A4F"/>
          </a:solidFill>
          <a:ln/>
        </p:spPr>
      </p:sp>
      <p:sp>
        <p:nvSpPr>
          <p:cNvPr id="25" name="Text 23"/>
          <p:cNvSpPr/>
          <p:nvPr/>
        </p:nvSpPr>
        <p:spPr>
          <a:xfrm>
            <a:off x="9601200" y="868680"/>
            <a:ext cx="2148840" cy="548640"/>
          </a:xfrm>
          <a:prstGeom prst="rect">
            <a:avLst/>
          </a:prstGeom>
          <a:noFill/>
          <a:ln/>
        </p:spPr>
        <p:txBody>
          <a:bodyPr wrap="square" rtlCol="0" anchor="ctr"/>
          <a:lstStyle/>
          <a:p>
            <a:pPr algn="ctr" indent="0" marL="0">
              <a:buNone/>
            </a:pPr>
            <a:r>
              <a:rPr lang="en-US" sz="1100" b="1" dirty="0">
                <a:solidFill>
                  <a:srgbClr val="FFFFFF"/>
                </a:solidFill>
              </a:rPr>
              <a:t>LAO</a:t>
            </a:r>
            <a:endParaRPr lang="en-US" sz="1100" dirty="0"/>
          </a:p>
          <a:p>
            <a:pPr algn="ctr" indent="0" marL="0">
              <a:buNone/>
            </a:pPr>
            <a:r>
              <a:rPr lang="en-US" sz="1100" b="1" dirty="0">
                <a:solidFill>
                  <a:srgbClr val="FFFFFF"/>
                </a:solidFill>
              </a:rPr>
              <a:t>Plant</a:t>
            </a:r>
            <a:endParaRPr lang="en-US" sz="1100" dirty="0"/>
          </a:p>
        </p:txBody>
      </p:sp>
      <p:sp>
        <p:nvSpPr>
          <p:cNvPr id="26" name="Text 24"/>
          <p:cNvSpPr/>
          <p:nvPr/>
        </p:nvSpPr>
        <p:spPr>
          <a:xfrm>
            <a:off x="9601200" y="1417320"/>
            <a:ext cx="2148840" cy="640080"/>
          </a:xfrm>
          <a:prstGeom prst="rect">
            <a:avLst/>
          </a:prstGeom>
          <a:noFill/>
          <a:ln/>
        </p:spPr>
        <p:txBody>
          <a:bodyPr wrap="square" rtlCol="0" anchor="ctr"/>
          <a:lstStyle/>
          <a:p>
            <a:pPr algn="ctr" indent="0" marL="0">
              <a:lnSpc>
                <a:spcPct val="140000"/>
              </a:lnSpc>
              <a:buNone/>
            </a:pPr>
            <a:r>
              <a:rPr lang="en-US" sz="900" dirty="0">
                <a:solidFill>
                  <a:srgbClr val="94A3B8"/>
                </a:solidFill>
              </a:rPr>
              <a:t>LAO Heater</a:t>
            </a:r>
            <a:endParaRPr lang="en-US" sz="900" dirty="0"/>
          </a:p>
          <a:p>
            <a:pPr algn="ctr" indent="0" marL="0">
              <a:lnSpc>
                <a:spcPct val="140000"/>
              </a:lnSpc>
              <a:buNone/>
            </a:pPr>
            <a:r>
              <a:rPr lang="en-US" sz="900" dirty="0">
                <a:solidFill>
                  <a:srgbClr val="94A3B8"/>
                </a:solidFill>
              </a:rPr>
              <a:t>Fuel Gas Opt.</a:t>
            </a:r>
            <a:endParaRPr lang="en-US" sz="900" dirty="0"/>
          </a:p>
        </p:txBody>
      </p:sp>
      <p:sp>
        <p:nvSpPr>
          <p:cNvPr id="27" name="Shape 25"/>
          <p:cNvSpPr/>
          <p:nvPr/>
        </p:nvSpPr>
        <p:spPr>
          <a:xfrm>
            <a:off x="274320" y="2331720"/>
            <a:ext cx="11612880" cy="640080"/>
          </a:xfrm>
          <a:prstGeom prst="rect">
            <a:avLst/>
          </a:prstGeom>
          <a:solidFill>
            <a:srgbClr val="132238"/>
          </a:solidFill>
          <a:ln w="12700">
            <a:solidFill>
              <a:srgbClr val="1E3A5F"/>
            </a:solidFill>
            <a:prstDash val="solid"/>
          </a:ln>
        </p:spPr>
      </p:sp>
      <p:sp>
        <p:nvSpPr>
          <p:cNvPr id="28" name="Text 26"/>
          <p:cNvSpPr/>
          <p:nvPr/>
        </p:nvSpPr>
        <p:spPr>
          <a:xfrm>
            <a:off x="411480" y="2395728"/>
            <a:ext cx="2560320" cy="228600"/>
          </a:xfrm>
          <a:prstGeom prst="rect">
            <a:avLst/>
          </a:prstGeom>
          <a:noFill/>
          <a:ln/>
        </p:spPr>
        <p:txBody>
          <a:bodyPr wrap="square" rtlCol="0" anchor="ctr"/>
          <a:lstStyle/>
          <a:p>
            <a:pPr indent="0" marL="0">
              <a:buNone/>
            </a:pPr>
            <a:r>
              <a:rPr lang="en-US" sz="1000" b="1" dirty="0">
                <a:solidFill>
                  <a:srgbClr val="F59E0B"/>
                </a:solidFill>
              </a:rPr>
              <a:t>Utility Hub — Optimized Resource:</a:t>
            </a:r>
            <a:endParaRPr lang="en-US" sz="1000" dirty="0"/>
          </a:p>
        </p:txBody>
      </p:sp>
      <p:sp>
        <p:nvSpPr>
          <p:cNvPr id="29" name="Text 27"/>
          <p:cNvSpPr/>
          <p:nvPr/>
        </p:nvSpPr>
        <p:spPr>
          <a:xfrm>
            <a:off x="3108960" y="2395728"/>
            <a:ext cx="2560320" cy="228600"/>
          </a:xfrm>
          <a:prstGeom prst="rect">
            <a:avLst/>
          </a:prstGeom>
          <a:noFill/>
          <a:ln/>
        </p:spPr>
        <p:txBody>
          <a:bodyPr wrap="square" rtlCol="0" anchor="ctr"/>
          <a:lstStyle/>
          <a:p>
            <a:pPr indent="0" marL="0">
              <a:buNone/>
            </a:pPr>
            <a:r>
              <a:rPr lang="en-US" sz="950" dirty="0">
                <a:solidFill>
                  <a:srgbClr val="E2E8F0"/>
                </a:solidFill>
              </a:rPr>
              <a:t>• HP Steam (BLR 1-5)</a:t>
            </a:r>
            <a:endParaRPr lang="en-US" sz="950" dirty="0"/>
          </a:p>
        </p:txBody>
      </p:sp>
      <p:sp>
        <p:nvSpPr>
          <p:cNvPr id="30" name="Text 28"/>
          <p:cNvSpPr/>
          <p:nvPr/>
        </p:nvSpPr>
        <p:spPr>
          <a:xfrm>
            <a:off x="5943600" y="2395728"/>
            <a:ext cx="2560320" cy="228600"/>
          </a:xfrm>
          <a:prstGeom prst="rect">
            <a:avLst/>
          </a:prstGeom>
          <a:noFill/>
          <a:ln/>
        </p:spPr>
        <p:txBody>
          <a:bodyPr wrap="square" rtlCol="0" anchor="ctr"/>
          <a:lstStyle/>
          <a:p>
            <a:pPr indent="0" marL="0">
              <a:buNone/>
            </a:pPr>
            <a:r>
              <a:rPr lang="en-US" sz="950" dirty="0">
                <a:solidFill>
                  <a:srgbClr val="E2E8F0"/>
                </a:solidFill>
              </a:rPr>
              <a:t>• MP Steam</a:t>
            </a:r>
            <a:endParaRPr lang="en-US" sz="950" dirty="0"/>
          </a:p>
        </p:txBody>
      </p:sp>
      <p:sp>
        <p:nvSpPr>
          <p:cNvPr id="31" name="Text 29"/>
          <p:cNvSpPr/>
          <p:nvPr/>
        </p:nvSpPr>
        <p:spPr>
          <a:xfrm>
            <a:off x="8778240" y="2395728"/>
            <a:ext cx="2560320" cy="228600"/>
          </a:xfrm>
          <a:prstGeom prst="rect">
            <a:avLst/>
          </a:prstGeom>
          <a:noFill/>
          <a:ln/>
        </p:spPr>
        <p:txBody>
          <a:bodyPr wrap="square" rtlCol="0" anchor="ctr"/>
          <a:lstStyle/>
          <a:p>
            <a:pPr indent="0" marL="0">
              <a:buNone/>
            </a:pPr>
            <a:r>
              <a:rPr lang="en-US" sz="950" dirty="0">
                <a:solidFill>
                  <a:srgbClr val="E2E8F0"/>
                </a:solidFill>
              </a:rPr>
              <a:t>• LP Steam</a:t>
            </a:r>
            <a:endParaRPr lang="en-US" sz="950" dirty="0"/>
          </a:p>
        </p:txBody>
      </p:sp>
      <p:sp>
        <p:nvSpPr>
          <p:cNvPr id="32" name="Text 30"/>
          <p:cNvSpPr/>
          <p:nvPr/>
        </p:nvSpPr>
        <p:spPr>
          <a:xfrm>
            <a:off x="3108960" y="2651760"/>
            <a:ext cx="2560320" cy="228600"/>
          </a:xfrm>
          <a:prstGeom prst="rect">
            <a:avLst/>
          </a:prstGeom>
          <a:noFill/>
          <a:ln/>
        </p:spPr>
        <p:txBody>
          <a:bodyPr wrap="square" rtlCol="0" anchor="ctr"/>
          <a:lstStyle/>
          <a:p>
            <a:pPr indent="0" marL="0">
              <a:buNone/>
            </a:pPr>
            <a:r>
              <a:rPr lang="en-US" sz="950" dirty="0">
                <a:solidFill>
                  <a:srgbClr val="E2E8F0"/>
                </a:solidFill>
              </a:rPr>
              <a:t>• BFW (BFW Pumps A-F)</a:t>
            </a:r>
            <a:endParaRPr lang="en-US" sz="950" dirty="0"/>
          </a:p>
        </p:txBody>
      </p:sp>
      <p:sp>
        <p:nvSpPr>
          <p:cNvPr id="33" name="Text 31"/>
          <p:cNvSpPr/>
          <p:nvPr/>
        </p:nvSpPr>
        <p:spPr>
          <a:xfrm>
            <a:off x="5943600" y="2651760"/>
            <a:ext cx="2560320" cy="228600"/>
          </a:xfrm>
          <a:prstGeom prst="rect">
            <a:avLst/>
          </a:prstGeom>
          <a:noFill/>
          <a:ln/>
        </p:spPr>
        <p:txBody>
          <a:bodyPr wrap="square" rtlCol="0" anchor="ctr"/>
          <a:lstStyle/>
          <a:p>
            <a:pPr indent="0" marL="0">
              <a:buNone/>
            </a:pPr>
            <a:r>
              <a:rPr lang="en-US" sz="950" dirty="0">
                <a:solidFill>
                  <a:srgbClr val="E2E8F0"/>
                </a:solidFill>
              </a:rPr>
              <a:t>• VHP Steam</a:t>
            </a:r>
            <a:endParaRPr lang="en-US" sz="950" dirty="0"/>
          </a:p>
        </p:txBody>
      </p:sp>
      <p:sp>
        <p:nvSpPr>
          <p:cNvPr id="34" name="Text 32"/>
          <p:cNvSpPr/>
          <p:nvPr/>
        </p:nvSpPr>
        <p:spPr>
          <a:xfrm>
            <a:off x="8778240" y="2651760"/>
            <a:ext cx="2560320" cy="228600"/>
          </a:xfrm>
          <a:prstGeom prst="rect">
            <a:avLst/>
          </a:prstGeom>
          <a:noFill/>
          <a:ln/>
        </p:spPr>
        <p:txBody>
          <a:bodyPr wrap="square" rtlCol="0" anchor="ctr"/>
          <a:lstStyle/>
          <a:p>
            <a:pPr indent="0" marL="0">
              <a:buNone/>
            </a:pPr>
            <a:r>
              <a:rPr lang="en-US" sz="950" dirty="0">
                <a:solidFill>
                  <a:srgbClr val="E2E8F0"/>
                </a:solidFill>
              </a:rPr>
              <a:t>• Air (4 Compressors)</a:t>
            </a:r>
            <a:endParaRPr lang="en-US" sz="950" dirty="0"/>
          </a:p>
        </p:txBody>
      </p:sp>
      <p:sp>
        <p:nvSpPr>
          <p:cNvPr id="35" name="Text 33"/>
          <p:cNvSpPr/>
          <p:nvPr/>
        </p:nvSpPr>
        <p:spPr>
          <a:xfrm>
            <a:off x="3108960" y="2907792"/>
            <a:ext cx="2560320" cy="228600"/>
          </a:xfrm>
          <a:prstGeom prst="rect">
            <a:avLst/>
          </a:prstGeom>
          <a:noFill/>
          <a:ln/>
        </p:spPr>
        <p:txBody>
          <a:bodyPr wrap="square" rtlCol="0" anchor="ctr"/>
          <a:lstStyle/>
          <a:p>
            <a:pPr indent="0" marL="0">
              <a:buNone/>
            </a:pPr>
            <a:r>
              <a:rPr lang="en-US" sz="950" dirty="0">
                <a:solidFill>
                  <a:srgbClr val="E2E8F0"/>
                </a:solidFill>
              </a:rPr>
              <a:t>• Cooling Water</a:t>
            </a:r>
            <a:endParaRPr lang="en-US" sz="950" dirty="0"/>
          </a:p>
        </p:txBody>
      </p:sp>
      <p:sp>
        <p:nvSpPr>
          <p:cNvPr id="36" name="Text 34"/>
          <p:cNvSpPr/>
          <p:nvPr/>
        </p:nvSpPr>
        <p:spPr>
          <a:xfrm>
            <a:off x="5943600" y="2907792"/>
            <a:ext cx="2560320" cy="228600"/>
          </a:xfrm>
          <a:prstGeom prst="rect">
            <a:avLst/>
          </a:prstGeom>
          <a:noFill/>
          <a:ln/>
        </p:spPr>
        <p:txBody>
          <a:bodyPr wrap="square" rtlCol="0" anchor="ctr"/>
          <a:lstStyle/>
          <a:p>
            <a:pPr indent="0" marL="0">
              <a:buNone/>
            </a:pPr>
            <a:r>
              <a:rPr lang="en-US" sz="950" dirty="0">
                <a:solidFill>
                  <a:srgbClr val="E2E8F0"/>
                </a:solidFill>
              </a:rPr>
              <a:t>• DM Water</a:t>
            </a:r>
            <a:endParaRPr lang="en-US" sz="950" dirty="0"/>
          </a:p>
        </p:txBody>
      </p:sp>
      <p:sp>
        <p:nvSpPr>
          <p:cNvPr id="37" name="Text 35"/>
          <p:cNvSpPr/>
          <p:nvPr/>
        </p:nvSpPr>
        <p:spPr>
          <a:xfrm>
            <a:off x="8778240" y="2907792"/>
            <a:ext cx="2560320" cy="228600"/>
          </a:xfrm>
          <a:prstGeom prst="rect">
            <a:avLst/>
          </a:prstGeom>
          <a:noFill/>
          <a:ln/>
        </p:spPr>
        <p:txBody>
          <a:bodyPr wrap="square" rtlCol="0" anchor="ctr"/>
          <a:lstStyle/>
          <a:p>
            <a:pPr indent="0" marL="0">
              <a:buNone/>
            </a:pPr>
            <a:r>
              <a:rPr lang="en-US" sz="950" dirty="0">
                <a:solidFill>
                  <a:srgbClr val="E2E8F0"/>
                </a:solidFill>
              </a:rPr>
              <a:t>• Power</a:t>
            </a:r>
            <a:endParaRPr lang="en-US" sz="950" dirty="0"/>
          </a:p>
        </p:txBody>
      </p:sp>
      <p:sp>
        <p:nvSpPr>
          <p:cNvPr id="38" name="Text 36"/>
          <p:cNvSpPr/>
          <p:nvPr/>
        </p:nvSpPr>
        <p:spPr>
          <a:xfrm>
            <a:off x="274320" y="3154680"/>
            <a:ext cx="6400800" cy="256032"/>
          </a:xfrm>
          <a:prstGeom prst="rect">
            <a:avLst/>
          </a:prstGeom>
          <a:noFill/>
          <a:ln/>
        </p:spPr>
        <p:txBody>
          <a:bodyPr wrap="square" rtlCol="0" anchor="ctr"/>
          <a:lstStyle/>
          <a:p>
            <a:pPr indent="0" marL="0">
              <a:buNone/>
            </a:pPr>
            <a:r>
              <a:rPr lang="en-US" sz="1200" b="1" dirty="0">
                <a:solidFill>
                  <a:srgbClr val="00BCD4"/>
                </a:solidFill>
              </a:rPr>
              <a:t>Key Configuration Tables (from EO Feature File)</a:t>
            </a:r>
            <a:endParaRPr lang="en-US" sz="1200" dirty="0"/>
          </a:p>
        </p:txBody>
      </p:sp>
      <p:sp>
        <p:nvSpPr>
          <p:cNvPr id="39" name="Shape 37"/>
          <p:cNvSpPr/>
          <p:nvPr/>
        </p:nvSpPr>
        <p:spPr>
          <a:xfrm>
            <a:off x="274320" y="3520440"/>
            <a:ext cx="5577840" cy="457200"/>
          </a:xfrm>
          <a:prstGeom prst="rect">
            <a:avLst/>
          </a:prstGeom>
          <a:solidFill>
            <a:srgbClr val="132238"/>
          </a:solidFill>
          <a:ln w="12700">
            <a:solidFill>
              <a:srgbClr val="1E3A5F"/>
            </a:solidFill>
            <a:prstDash val="solid"/>
          </a:ln>
        </p:spPr>
      </p:sp>
      <p:sp>
        <p:nvSpPr>
          <p:cNvPr id="40" name="Shape 38"/>
          <p:cNvSpPr/>
          <p:nvPr/>
        </p:nvSpPr>
        <p:spPr>
          <a:xfrm>
            <a:off x="274320" y="3520440"/>
            <a:ext cx="45720" cy="457200"/>
          </a:xfrm>
          <a:prstGeom prst="rect">
            <a:avLst/>
          </a:prstGeom>
          <a:solidFill>
            <a:srgbClr val="00897B"/>
          </a:solidFill>
          <a:ln/>
        </p:spPr>
      </p:sp>
      <p:sp>
        <p:nvSpPr>
          <p:cNvPr id="41" name="Text 39"/>
          <p:cNvSpPr/>
          <p:nvPr/>
        </p:nvSpPr>
        <p:spPr>
          <a:xfrm>
            <a:off x="411480" y="3520440"/>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tag</a:t>
            </a:r>
            <a:endParaRPr lang="en-US" sz="950" dirty="0"/>
          </a:p>
        </p:txBody>
      </p:sp>
      <p:sp>
        <p:nvSpPr>
          <p:cNvPr id="42" name="Text 40"/>
          <p:cNvSpPr/>
          <p:nvPr/>
        </p:nvSpPr>
        <p:spPr>
          <a:xfrm>
            <a:off x="2194560" y="3520440"/>
            <a:ext cx="1005840" cy="457200"/>
          </a:xfrm>
          <a:prstGeom prst="rect">
            <a:avLst/>
          </a:prstGeom>
          <a:noFill/>
          <a:ln/>
        </p:spPr>
        <p:txBody>
          <a:bodyPr wrap="square" rtlCol="0" anchor="ctr"/>
          <a:lstStyle/>
          <a:p>
            <a:pPr indent="0" marL="0">
              <a:buNone/>
            </a:pPr>
            <a:r>
              <a:rPr lang="en-US" sz="900" b="1" dirty="0">
                <a:solidFill>
                  <a:srgbClr val="00897B"/>
                </a:solidFill>
              </a:rPr>
              <a:t>3,763 rows</a:t>
            </a:r>
            <a:endParaRPr lang="en-US" sz="900" dirty="0"/>
          </a:p>
        </p:txBody>
      </p:sp>
      <p:sp>
        <p:nvSpPr>
          <p:cNvPr id="43" name="Text 41"/>
          <p:cNvSpPr/>
          <p:nvPr/>
        </p:nvSpPr>
        <p:spPr>
          <a:xfrm>
            <a:off x="3200400" y="3520440"/>
            <a:ext cx="2468880" cy="457200"/>
          </a:xfrm>
          <a:prstGeom prst="rect">
            <a:avLst/>
          </a:prstGeom>
          <a:noFill/>
          <a:ln/>
        </p:spPr>
        <p:txBody>
          <a:bodyPr wrap="square" rtlCol="0" anchor="ctr"/>
          <a:lstStyle/>
          <a:p>
            <a:pPr indent="0" marL="0">
              <a:buNone/>
            </a:pPr>
            <a:r>
              <a:rPr lang="en-US" sz="900" dirty="0">
                <a:solidFill>
                  <a:srgbClr val="94A3B8"/>
                </a:solidFill>
              </a:rPr>
              <a:t>PI tags + inferred tags registry</a:t>
            </a:r>
            <a:endParaRPr lang="en-US" sz="900" dirty="0"/>
          </a:p>
        </p:txBody>
      </p:sp>
      <p:sp>
        <p:nvSpPr>
          <p:cNvPr id="44" name="Shape 42"/>
          <p:cNvSpPr/>
          <p:nvPr/>
        </p:nvSpPr>
        <p:spPr>
          <a:xfrm>
            <a:off x="6126480" y="3520440"/>
            <a:ext cx="5577840" cy="457200"/>
          </a:xfrm>
          <a:prstGeom prst="rect">
            <a:avLst/>
          </a:prstGeom>
          <a:solidFill>
            <a:srgbClr val="132238"/>
          </a:solidFill>
          <a:ln w="12700">
            <a:solidFill>
              <a:srgbClr val="1E3A5F"/>
            </a:solidFill>
            <a:prstDash val="solid"/>
          </a:ln>
        </p:spPr>
      </p:sp>
      <p:sp>
        <p:nvSpPr>
          <p:cNvPr id="45" name="Shape 43"/>
          <p:cNvSpPr/>
          <p:nvPr/>
        </p:nvSpPr>
        <p:spPr>
          <a:xfrm>
            <a:off x="6126480" y="3520440"/>
            <a:ext cx="45720" cy="457200"/>
          </a:xfrm>
          <a:prstGeom prst="rect">
            <a:avLst/>
          </a:prstGeom>
          <a:solidFill>
            <a:srgbClr val="00BCD4"/>
          </a:solidFill>
          <a:ln/>
        </p:spPr>
      </p:sp>
      <p:sp>
        <p:nvSpPr>
          <p:cNvPr id="46" name="Text 44"/>
          <p:cNvSpPr/>
          <p:nvPr/>
        </p:nvSpPr>
        <p:spPr>
          <a:xfrm>
            <a:off x="6263640" y="3520440"/>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inferred_details</a:t>
            </a:r>
            <a:endParaRPr lang="en-US" sz="950" dirty="0"/>
          </a:p>
        </p:txBody>
      </p:sp>
      <p:sp>
        <p:nvSpPr>
          <p:cNvPr id="47" name="Text 45"/>
          <p:cNvSpPr/>
          <p:nvPr/>
        </p:nvSpPr>
        <p:spPr>
          <a:xfrm>
            <a:off x="8046720" y="3520440"/>
            <a:ext cx="1005840" cy="457200"/>
          </a:xfrm>
          <a:prstGeom prst="rect">
            <a:avLst/>
          </a:prstGeom>
          <a:noFill/>
          <a:ln/>
        </p:spPr>
        <p:txBody>
          <a:bodyPr wrap="square" rtlCol="0" anchor="ctr"/>
          <a:lstStyle/>
          <a:p>
            <a:pPr indent="0" marL="0">
              <a:buNone/>
            </a:pPr>
            <a:r>
              <a:rPr lang="en-US" sz="900" b="1" dirty="0">
                <a:solidFill>
                  <a:srgbClr val="00BCD4"/>
                </a:solidFill>
              </a:rPr>
              <a:t>2,864 rows</a:t>
            </a:r>
            <a:endParaRPr lang="en-US" sz="900" dirty="0"/>
          </a:p>
        </p:txBody>
      </p:sp>
      <p:sp>
        <p:nvSpPr>
          <p:cNvPr id="48" name="Text 46"/>
          <p:cNvSpPr/>
          <p:nvPr/>
        </p:nvSpPr>
        <p:spPr>
          <a:xfrm>
            <a:off x="9052560" y="3520440"/>
            <a:ext cx="2468880" cy="457200"/>
          </a:xfrm>
          <a:prstGeom prst="rect">
            <a:avLst/>
          </a:prstGeom>
          <a:noFill/>
          <a:ln/>
        </p:spPr>
        <p:txBody>
          <a:bodyPr wrap="square" rtlCol="0" anchor="ctr"/>
          <a:lstStyle/>
          <a:p>
            <a:pPr indent="0" marL="0">
              <a:buNone/>
            </a:pPr>
            <a:r>
              <a:rPr lang="en-US" sz="900" dirty="0">
                <a:solidFill>
                  <a:srgbClr val="94A3B8"/>
                </a:solidFill>
              </a:rPr>
              <a:t>Formula expressions for calculated tags</a:t>
            </a:r>
            <a:endParaRPr lang="en-US" sz="900" dirty="0"/>
          </a:p>
        </p:txBody>
      </p:sp>
      <p:sp>
        <p:nvSpPr>
          <p:cNvPr id="49" name="Shape 47"/>
          <p:cNvSpPr/>
          <p:nvPr/>
        </p:nvSpPr>
        <p:spPr>
          <a:xfrm>
            <a:off x="274320" y="4050792"/>
            <a:ext cx="5577840" cy="457200"/>
          </a:xfrm>
          <a:prstGeom prst="rect">
            <a:avLst/>
          </a:prstGeom>
          <a:solidFill>
            <a:srgbClr val="132238"/>
          </a:solidFill>
          <a:ln w="12700">
            <a:solidFill>
              <a:srgbClr val="1E3A5F"/>
            </a:solidFill>
            <a:prstDash val="solid"/>
          </a:ln>
        </p:spPr>
      </p:sp>
      <p:sp>
        <p:nvSpPr>
          <p:cNvPr id="50" name="Shape 48"/>
          <p:cNvSpPr/>
          <p:nvPr/>
        </p:nvSpPr>
        <p:spPr>
          <a:xfrm>
            <a:off x="274320" y="4050792"/>
            <a:ext cx="45720" cy="457200"/>
          </a:xfrm>
          <a:prstGeom prst="rect">
            <a:avLst/>
          </a:prstGeom>
          <a:solidFill>
            <a:srgbClr val="F59E0B"/>
          </a:solidFill>
          <a:ln/>
        </p:spPr>
      </p:sp>
      <p:sp>
        <p:nvSpPr>
          <p:cNvPr id="51" name="Text 49"/>
          <p:cNvSpPr/>
          <p:nvPr/>
        </p:nvSpPr>
        <p:spPr>
          <a:xfrm>
            <a:off x="411480" y="4050792"/>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constraints</a:t>
            </a:r>
            <a:endParaRPr lang="en-US" sz="950" dirty="0"/>
          </a:p>
        </p:txBody>
      </p:sp>
      <p:sp>
        <p:nvSpPr>
          <p:cNvPr id="52" name="Text 50"/>
          <p:cNvSpPr/>
          <p:nvPr/>
        </p:nvSpPr>
        <p:spPr>
          <a:xfrm>
            <a:off x="2194560" y="4050792"/>
            <a:ext cx="1005840" cy="457200"/>
          </a:xfrm>
          <a:prstGeom prst="rect">
            <a:avLst/>
          </a:prstGeom>
          <a:noFill/>
          <a:ln/>
        </p:spPr>
        <p:txBody>
          <a:bodyPr wrap="square" rtlCol="0" anchor="ctr"/>
          <a:lstStyle/>
          <a:p>
            <a:pPr indent="0" marL="0">
              <a:buNone/>
            </a:pPr>
            <a:r>
              <a:rPr lang="en-US" sz="900" b="1" dirty="0">
                <a:solidFill>
                  <a:srgbClr val="F59E0B"/>
                </a:solidFill>
              </a:rPr>
              <a:t>33 rows</a:t>
            </a:r>
            <a:endParaRPr lang="en-US" sz="900" dirty="0"/>
          </a:p>
        </p:txBody>
      </p:sp>
      <p:sp>
        <p:nvSpPr>
          <p:cNvPr id="53" name="Text 51"/>
          <p:cNvSpPr/>
          <p:nvPr/>
        </p:nvSpPr>
        <p:spPr>
          <a:xfrm>
            <a:off x="3200400" y="4050792"/>
            <a:ext cx="2468880" cy="457200"/>
          </a:xfrm>
          <a:prstGeom prst="rect">
            <a:avLst/>
          </a:prstGeom>
          <a:noFill/>
          <a:ln/>
        </p:spPr>
        <p:txBody>
          <a:bodyPr wrap="square" rtlCol="0" anchor="ctr"/>
          <a:lstStyle/>
          <a:p>
            <a:pPr indent="0" marL="0">
              <a:buNone/>
            </a:pPr>
            <a:r>
              <a:rPr lang="en-US" sz="900" dirty="0">
                <a:solidFill>
                  <a:srgbClr val="94A3B8"/>
                </a:solidFill>
              </a:rPr>
              <a:t>Mass/energy balance &amp; capacity constraints</a:t>
            </a:r>
            <a:endParaRPr lang="en-US" sz="900" dirty="0"/>
          </a:p>
        </p:txBody>
      </p:sp>
      <p:sp>
        <p:nvSpPr>
          <p:cNvPr id="54" name="Shape 52"/>
          <p:cNvSpPr/>
          <p:nvPr/>
        </p:nvSpPr>
        <p:spPr>
          <a:xfrm>
            <a:off x="6126480" y="4050792"/>
            <a:ext cx="5577840" cy="457200"/>
          </a:xfrm>
          <a:prstGeom prst="rect">
            <a:avLst/>
          </a:prstGeom>
          <a:solidFill>
            <a:srgbClr val="132238"/>
          </a:solidFill>
          <a:ln w="12700">
            <a:solidFill>
              <a:srgbClr val="1E3A5F"/>
            </a:solidFill>
            <a:prstDash val="solid"/>
          </a:ln>
        </p:spPr>
      </p:sp>
      <p:sp>
        <p:nvSpPr>
          <p:cNvPr id="55" name="Shape 53"/>
          <p:cNvSpPr/>
          <p:nvPr/>
        </p:nvSpPr>
        <p:spPr>
          <a:xfrm>
            <a:off x="6126480" y="4050792"/>
            <a:ext cx="45720" cy="457200"/>
          </a:xfrm>
          <a:prstGeom prst="rect">
            <a:avLst/>
          </a:prstGeom>
          <a:solidFill>
            <a:srgbClr val="6B46C1"/>
          </a:solidFill>
          <a:ln/>
        </p:spPr>
      </p:sp>
      <p:sp>
        <p:nvSpPr>
          <p:cNvPr id="56" name="Text 54"/>
          <p:cNvSpPr/>
          <p:nvPr/>
        </p:nvSpPr>
        <p:spPr>
          <a:xfrm>
            <a:off x="6263640" y="4050792"/>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variables</a:t>
            </a:r>
            <a:endParaRPr lang="en-US" sz="950" dirty="0"/>
          </a:p>
        </p:txBody>
      </p:sp>
      <p:sp>
        <p:nvSpPr>
          <p:cNvPr id="57" name="Text 55"/>
          <p:cNvSpPr/>
          <p:nvPr/>
        </p:nvSpPr>
        <p:spPr>
          <a:xfrm>
            <a:off x="8046720" y="4050792"/>
            <a:ext cx="1005840" cy="457200"/>
          </a:xfrm>
          <a:prstGeom prst="rect">
            <a:avLst/>
          </a:prstGeom>
          <a:noFill/>
          <a:ln/>
        </p:spPr>
        <p:txBody>
          <a:bodyPr wrap="square" rtlCol="0" anchor="ctr"/>
          <a:lstStyle/>
          <a:p>
            <a:pPr indent="0" marL="0">
              <a:buNone/>
            </a:pPr>
            <a:r>
              <a:rPr lang="en-US" sz="900" b="1" dirty="0">
                <a:solidFill>
                  <a:srgbClr val="6B46C1"/>
                </a:solidFill>
              </a:rPr>
              <a:t>142 rows</a:t>
            </a:r>
            <a:endParaRPr lang="en-US" sz="900" dirty="0"/>
          </a:p>
        </p:txBody>
      </p:sp>
      <p:sp>
        <p:nvSpPr>
          <p:cNvPr id="58" name="Text 56"/>
          <p:cNvSpPr/>
          <p:nvPr/>
        </p:nvSpPr>
        <p:spPr>
          <a:xfrm>
            <a:off x="9052560" y="4050792"/>
            <a:ext cx="2468880" cy="457200"/>
          </a:xfrm>
          <a:prstGeom prst="rect">
            <a:avLst/>
          </a:prstGeom>
          <a:noFill/>
          <a:ln/>
        </p:spPr>
        <p:txBody>
          <a:bodyPr wrap="square" rtlCol="0" anchor="ctr"/>
          <a:lstStyle/>
          <a:p>
            <a:pPr indent="0" marL="0">
              <a:buNone/>
            </a:pPr>
            <a:r>
              <a:rPr lang="en-US" sz="900" dirty="0">
                <a:solidFill>
                  <a:srgbClr val="94A3B8"/>
                </a:solidFill>
              </a:rPr>
              <a:t>Optimizer variables with bounds (int/continuous)</a:t>
            </a:r>
            <a:endParaRPr lang="en-US" sz="900" dirty="0"/>
          </a:p>
        </p:txBody>
      </p:sp>
      <p:sp>
        <p:nvSpPr>
          <p:cNvPr id="59" name="Shape 57"/>
          <p:cNvSpPr/>
          <p:nvPr/>
        </p:nvSpPr>
        <p:spPr>
          <a:xfrm>
            <a:off x="274320" y="4581144"/>
            <a:ext cx="5577840" cy="457200"/>
          </a:xfrm>
          <a:prstGeom prst="rect">
            <a:avLst/>
          </a:prstGeom>
          <a:solidFill>
            <a:srgbClr val="132238"/>
          </a:solidFill>
          <a:ln w="12700">
            <a:solidFill>
              <a:srgbClr val="1E3A5F"/>
            </a:solidFill>
            <a:prstDash val="solid"/>
          </a:ln>
        </p:spPr>
      </p:sp>
      <p:sp>
        <p:nvSpPr>
          <p:cNvPr id="60" name="Shape 58"/>
          <p:cNvSpPr/>
          <p:nvPr/>
        </p:nvSpPr>
        <p:spPr>
          <a:xfrm>
            <a:off x="274320" y="4581144"/>
            <a:ext cx="45720" cy="457200"/>
          </a:xfrm>
          <a:prstGeom prst="rect">
            <a:avLst/>
          </a:prstGeom>
          <a:solidFill>
            <a:srgbClr val="E05A4F"/>
          </a:solidFill>
          <a:ln/>
        </p:spPr>
      </p:sp>
      <p:sp>
        <p:nvSpPr>
          <p:cNvPr id="61" name="Text 59"/>
          <p:cNvSpPr/>
          <p:nvPr/>
        </p:nvSpPr>
        <p:spPr>
          <a:xfrm>
            <a:off x="411480" y="4581144"/>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derived_equations</a:t>
            </a:r>
            <a:endParaRPr lang="en-US" sz="950" dirty="0"/>
          </a:p>
        </p:txBody>
      </p:sp>
      <p:sp>
        <p:nvSpPr>
          <p:cNvPr id="62" name="Text 60"/>
          <p:cNvSpPr/>
          <p:nvPr/>
        </p:nvSpPr>
        <p:spPr>
          <a:xfrm>
            <a:off x="2194560" y="4581144"/>
            <a:ext cx="1005840" cy="457200"/>
          </a:xfrm>
          <a:prstGeom prst="rect">
            <a:avLst/>
          </a:prstGeom>
          <a:noFill/>
          <a:ln/>
        </p:spPr>
        <p:txBody>
          <a:bodyPr wrap="square" rtlCol="0" anchor="ctr"/>
          <a:lstStyle/>
          <a:p>
            <a:pPr indent="0" marL="0">
              <a:buNone/>
            </a:pPr>
            <a:r>
              <a:rPr lang="en-US" sz="900" b="1" dirty="0">
                <a:solidFill>
                  <a:srgbClr val="E05A4F"/>
                </a:solidFill>
              </a:rPr>
              <a:t>92 rows</a:t>
            </a:r>
            <a:endParaRPr lang="en-US" sz="900" dirty="0"/>
          </a:p>
        </p:txBody>
      </p:sp>
      <p:sp>
        <p:nvSpPr>
          <p:cNvPr id="63" name="Text 61"/>
          <p:cNvSpPr/>
          <p:nvPr/>
        </p:nvSpPr>
        <p:spPr>
          <a:xfrm>
            <a:off x="3200400" y="4581144"/>
            <a:ext cx="2468880" cy="457200"/>
          </a:xfrm>
          <a:prstGeom prst="rect">
            <a:avLst/>
          </a:prstGeom>
          <a:noFill/>
          <a:ln/>
        </p:spPr>
        <p:txBody>
          <a:bodyPr wrap="square" rtlCol="0" anchor="ctr"/>
          <a:lstStyle/>
          <a:p>
            <a:pPr indent="0" marL="0">
              <a:buNone/>
            </a:pPr>
            <a:r>
              <a:rPr lang="en-US" sz="900" dirty="0">
                <a:solidFill>
                  <a:srgbClr val="94A3B8"/>
                </a:solidFill>
              </a:rPr>
              <a:t>Pre-optimizer derived tag equations</a:t>
            </a:r>
            <a:endParaRPr lang="en-US" sz="900" dirty="0"/>
          </a:p>
        </p:txBody>
      </p:sp>
      <p:sp>
        <p:nvSpPr>
          <p:cNvPr id="64" name="Shape 62"/>
          <p:cNvSpPr/>
          <p:nvPr/>
        </p:nvSpPr>
        <p:spPr>
          <a:xfrm>
            <a:off x="6126480" y="4581144"/>
            <a:ext cx="5577840" cy="457200"/>
          </a:xfrm>
          <a:prstGeom prst="rect">
            <a:avLst/>
          </a:prstGeom>
          <a:solidFill>
            <a:srgbClr val="132238"/>
          </a:solidFill>
          <a:ln w="12700">
            <a:solidFill>
              <a:srgbClr val="1E3A5F"/>
            </a:solidFill>
            <a:prstDash val="solid"/>
          </a:ln>
        </p:spPr>
      </p:sp>
      <p:sp>
        <p:nvSpPr>
          <p:cNvPr id="65" name="Shape 63"/>
          <p:cNvSpPr/>
          <p:nvPr/>
        </p:nvSpPr>
        <p:spPr>
          <a:xfrm>
            <a:off x="6126480" y="4581144"/>
            <a:ext cx="45720" cy="457200"/>
          </a:xfrm>
          <a:prstGeom prst="rect">
            <a:avLst/>
          </a:prstGeom>
          <a:solidFill>
            <a:srgbClr val="10B981"/>
          </a:solidFill>
          <a:ln/>
        </p:spPr>
      </p:sp>
      <p:sp>
        <p:nvSpPr>
          <p:cNvPr id="66" name="Text 64"/>
          <p:cNvSpPr/>
          <p:nvPr/>
        </p:nvSpPr>
        <p:spPr>
          <a:xfrm>
            <a:off x="6263640" y="4581144"/>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derived_equation_post_optimizer</a:t>
            </a:r>
            <a:endParaRPr lang="en-US" sz="950" dirty="0"/>
          </a:p>
        </p:txBody>
      </p:sp>
      <p:sp>
        <p:nvSpPr>
          <p:cNvPr id="67" name="Text 65"/>
          <p:cNvSpPr/>
          <p:nvPr/>
        </p:nvSpPr>
        <p:spPr>
          <a:xfrm>
            <a:off x="8046720" y="4581144"/>
            <a:ext cx="1005840" cy="457200"/>
          </a:xfrm>
          <a:prstGeom prst="rect">
            <a:avLst/>
          </a:prstGeom>
          <a:noFill/>
          <a:ln/>
        </p:spPr>
        <p:txBody>
          <a:bodyPr wrap="square" rtlCol="0" anchor="ctr"/>
          <a:lstStyle/>
          <a:p>
            <a:pPr indent="0" marL="0">
              <a:buNone/>
            </a:pPr>
            <a:r>
              <a:rPr lang="en-US" sz="900" b="1" dirty="0">
                <a:solidFill>
                  <a:srgbClr val="10B981"/>
                </a:solidFill>
              </a:rPr>
              <a:t>86 rows</a:t>
            </a:r>
            <a:endParaRPr lang="en-US" sz="900" dirty="0"/>
          </a:p>
        </p:txBody>
      </p:sp>
      <p:sp>
        <p:nvSpPr>
          <p:cNvPr id="68" name="Text 66"/>
          <p:cNvSpPr/>
          <p:nvPr/>
        </p:nvSpPr>
        <p:spPr>
          <a:xfrm>
            <a:off x="9052560" y="4581144"/>
            <a:ext cx="2468880" cy="457200"/>
          </a:xfrm>
          <a:prstGeom prst="rect">
            <a:avLst/>
          </a:prstGeom>
          <a:noFill/>
          <a:ln/>
        </p:spPr>
        <p:txBody>
          <a:bodyPr wrap="square" rtlCol="0" anchor="ctr"/>
          <a:lstStyle/>
          <a:p>
            <a:pPr indent="0" marL="0">
              <a:buNone/>
            </a:pPr>
            <a:r>
              <a:rPr lang="en-US" sz="900" dirty="0">
                <a:solidFill>
                  <a:srgbClr val="94A3B8"/>
                </a:solidFill>
              </a:rPr>
              <a:t>Post-optimizer computed tags</a:t>
            </a:r>
            <a:endParaRPr lang="en-US" sz="900" dirty="0"/>
          </a:p>
        </p:txBody>
      </p:sp>
      <p:sp>
        <p:nvSpPr>
          <p:cNvPr id="69" name="Shape 67"/>
          <p:cNvSpPr/>
          <p:nvPr/>
        </p:nvSpPr>
        <p:spPr>
          <a:xfrm>
            <a:off x="274320" y="5111496"/>
            <a:ext cx="5577840" cy="457200"/>
          </a:xfrm>
          <a:prstGeom prst="rect">
            <a:avLst/>
          </a:prstGeom>
          <a:solidFill>
            <a:srgbClr val="132238"/>
          </a:solidFill>
          <a:ln w="12700">
            <a:solidFill>
              <a:srgbClr val="1E3A5F"/>
            </a:solidFill>
            <a:prstDash val="solid"/>
          </a:ln>
        </p:spPr>
      </p:sp>
      <p:sp>
        <p:nvSpPr>
          <p:cNvPr id="70" name="Shape 68"/>
          <p:cNvSpPr/>
          <p:nvPr/>
        </p:nvSpPr>
        <p:spPr>
          <a:xfrm>
            <a:off x="274320" y="5111496"/>
            <a:ext cx="45720" cy="457200"/>
          </a:xfrm>
          <a:prstGeom prst="rect">
            <a:avLst/>
          </a:prstGeom>
          <a:solidFill>
            <a:srgbClr val="00897B"/>
          </a:solidFill>
          <a:ln/>
        </p:spPr>
      </p:sp>
      <p:sp>
        <p:nvSpPr>
          <p:cNvPr id="71" name="Text 69"/>
          <p:cNvSpPr/>
          <p:nvPr/>
        </p:nvSpPr>
        <p:spPr>
          <a:xfrm>
            <a:off x="411480" y="5111496"/>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sub_model</a:t>
            </a:r>
            <a:endParaRPr lang="en-US" sz="950" dirty="0"/>
          </a:p>
        </p:txBody>
      </p:sp>
      <p:sp>
        <p:nvSpPr>
          <p:cNvPr id="72" name="Text 70"/>
          <p:cNvSpPr/>
          <p:nvPr/>
        </p:nvSpPr>
        <p:spPr>
          <a:xfrm>
            <a:off x="2194560" y="5111496"/>
            <a:ext cx="1005840" cy="457200"/>
          </a:xfrm>
          <a:prstGeom prst="rect">
            <a:avLst/>
          </a:prstGeom>
          <a:noFill/>
          <a:ln/>
        </p:spPr>
        <p:txBody>
          <a:bodyPr wrap="square" rtlCol="0" anchor="ctr"/>
          <a:lstStyle/>
          <a:p>
            <a:pPr indent="0" marL="0">
              <a:buNone/>
            </a:pPr>
            <a:r>
              <a:rPr lang="en-US" sz="900" b="1" dirty="0">
                <a:solidFill>
                  <a:srgbClr val="00897B"/>
                </a:solidFill>
              </a:rPr>
              <a:t>126 rows</a:t>
            </a:r>
            <a:endParaRPr lang="en-US" sz="900" dirty="0"/>
          </a:p>
        </p:txBody>
      </p:sp>
      <p:sp>
        <p:nvSpPr>
          <p:cNvPr id="73" name="Text 71"/>
          <p:cNvSpPr/>
          <p:nvPr/>
        </p:nvSpPr>
        <p:spPr>
          <a:xfrm>
            <a:off x="3200400" y="5111496"/>
            <a:ext cx="2468880" cy="457200"/>
          </a:xfrm>
          <a:prstGeom prst="rect">
            <a:avLst/>
          </a:prstGeom>
          <a:noFill/>
          <a:ln/>
        </p:spPr>
        <p:txBody>
          <a:bodyPr wrap="square" rtlCol="0" anchor="ctr"/>
          <a:lstStyle/>
          <a:p>
            <a:pPr indent="0" marL="0">
              <a:buNone/>
            </a:pPr>
            <a:r>
              <a:rPr lang="en-US" sz="900" dirty="0">
                <a:solidFill>
                  <a:srgbClr val="94A3B8"/>
                </a:solidFill>
              </a:rPr>
              <a:t>Equation &amp; ML sub-models (ordered execution)</a:t>
            </a:r>
            <a:endParaRPr lang="en-US" sz="900" dirty="0"/>
          </a:p>
        </p:txBody>
      </p:sp>
      <p:sp>
        <p:nvSpPr>
          <p:cNvPr id="74" name="Shape 72"/>
          <p:cNvSpPr/>
          <p:nvPr/>
        </p:nvSpPr>
        <p:spPr>
          <a:xfrm>
            <a:off x="6126480" y="5111496"/>
            <a:ext cx="5577840" cy="457200"/>
          </a:xfrm>
          <a:prstGeom prst="rect">
            <a:avLst/>
          </a:prstGeom>
          <a:solidFill>
            <a:srgbClr val="132238"/>
          </a:solidFill>
          <a:ln w="12700">
            <a:solidFill>
              <a:srgbClr val="1E3A5F"/>
            </a:solidFill>
            <a:prstDash val="solid"/>
          </a:ln>
        </p:spPr>
      </p:sp>
      <p:sp>
        <p:nvSpPr>
          <p:cNvPr id="75" name="Shape 73"/>
          <p:cNvSpPr/>
          <p:nvPr/>
        </p:nvSpPr>
        <p:spPr>
          <a:xfrm>
            <a:off x="6126480" y="5111496"/>
            <a:ext cx="45720" cy="457200"/>
          </a:xfrm>
          <a:prstGeom prst="rect">
            <a:avLst/>
          </a:prstGeom>
          <a:solidFill>
            <a:srgbClr val="F59E0B"/>
          </a:solidFill>
          <a:ln/>
        </p:spPr>
      </p:sp>
      <p:sp>
        <p:nvSpPr>
          <p:cNvPr id="76" name="Text 74"/>
          <p:cNvSpPr/>
          <p:nvPr/>
        </p:nvSpPr>
        <p:spPr>
          <a:xfrm>
            <a:off x="6263640" y="5111496"/>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seu_detail</a:t>
            </a:r>
            <a:endParaRPr lang="en-US" sz="950" dirty="0"/>
          </a:p>
        </p:txBody>
      </p:sp>
      <p:sp>
        <p:nvSpPr>
          <p:cNvPr id="77" name="Text 75"/>
          <p:cNvSpPr/>
          <p:nvPr/>
        </p:nvSpPr>
        <p:spPr>
          <a:xfrm>
            <a:off x="8046720" y="5111496"/>
            <a:ext cx="1005840" cy="457200"/>
          </a:xfrm>
          <a:prstGeom prst="rect">
            <a:avLst/>
          </a:prstGeom>
          <a:noFill/>
          <a:ln/>
        </p:spPr>
        <p:txBody>
          <a:bodyPr wrap="square" rtlCol="0" anchor="ctr"/>
          <a:lstStyle/>
          <a:p>
            <a:pPr indent="0" marL="0">
              <a:buNone/>
            </a:pPr>
            <a:r>
              <a:rPr lang="en-US" sz="900" b="1" dirty="0">
                <a:solidFill>
                  <a:srgbClr val="F59E0B"/>
                </a:solidFill>
              </a:rPr>
              <a:t>59 rows</a:t>
            </a:r>
            <a:endParaRPr lang="en-US" sz="900" dirty="0"/>
          </a:p>
        </p:txBody>
      </p:sp>
      <p:sp>
        <p:nvSpPr>
          <p:cNvPr id="78" name="Text 76"/>
          <p:cNvSpPr/>
          <p:nvPr/>
        </p:nvSpPr>
        <p:spPr>
          <a:xfrm>
            <a:off x="9052560" y="5111496"/>
            <a:ext cx="2468880" cy="457200"/>
          </a:xfrm>
          <a:prstGeom prst="rect">
            <a:avLst/>
          </a:prstGeom>
          <a:noFill/>
          <a:ln/>
        </p:spPr>
        <p:txBody>
          <a:bodyPr wrap="square" rtlCol="0" anchor="ctr"/>
          <a:lstStyle/>
          <a:p>
            <a:pPr indent="0" marL="0">
              <a:buNone/>
            </a:pPr>
            <a:r>
              <a:rPr lang="en-US" sz="900" dirty="0">
                <a:solidFill>
                  <a:srgbClr val="94A3B8"/>
                </a:solidFill>
              </a:rPr>
              <a:t>Specific Energy Units per equipment</a:t>
            </a:r>
            <a:endParaRPr lang="en-US" sz="900" dirty="0"/>
          </a:p>
        </p:txBody>
      </p:sp>
      <p:sp>
        <p:nvSpPr>
          <p:cNvPr id="79" name="Shape 77"/>
          <p:cNvSpPr/>
          <p:nvPr/>
        </p:nvSpPr>
        <p:spPr>
          <a:xfrm>
            <a:off x="274320" y="5641848"/>
            <a:ext cx="5577840" cy="457200"/>
          </a:xfrm>
          <a:prstGeom prst="rect">
            <a:avLst/>
          </a:prstGeom>
          <a:solidFill>
            <a:srgbClr val="132238"/>
          </a:solidFill>
          <a:ln w="12700">
            <a:solidFill>
              <a:srgbClr val="1E3A5F"/>
            </a:solidFill>
            <a:prstDash val="solid"/>
          </a:ln>
        </p:spPr>
      </p:sp>
      <p:sp>
        <p:nvSpPr>
          <p:cNvPr id="80" name="Shape 78"/>
          <p:cNvSpPr/>
          <p:nvPr/>
        </p:nvSpPr>
        <p:spPr>
          <a:xfrm>
            <a:off x="274320" y="5641848"/>
            <a:ext cx="45720" cy="457200"/>
          </a:xfrm>
          <a:prstGeom prst="rect">
            <a:avLst/>
          </a:prstGeom>
          <a:solidFill>
            <a:srgbClr val="E05A4F"/>
          </a:solidFill>
          <a:ln/>
        </p:spPr>
      </p:sp>
      <p:sp>
        <p:nvSpPr>
          <p:cNvPr id="81" name="Text 79"/>
          <p:cNvSpPr/>
          <p:nvPr/>
        </p:nvSpPr>
        <p:spPr>
          <a:xfrm>
            <a:off x="411480" y="5641848"/>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objective</a:t>
            </a:r>
            <a:endParaRPr lang="en-US" sz="950" dirty="0"/>
          </a:p>
        </p:txBody>
      </p:sp>
      <p:sp>
        <p:nvSpPr>
          <p:cNvPr id="82" name="Text 80"/>
          <p:cNvSpPr/>
          <p:nvPr/>
        </p:nvSpPr>
        <p:spPr>
          <a:xfrm>
            <a:off x="2194560" y="5641848"/>
            <a:ext cx="1005840" cy="457200"/>
          </a:xfrm>
          <a:prstGeom prst="rect">
            <a:avLst/>
          </a:prstGeom>
          <a:noFill/>
          <a:ln/>
        </p:spPr>
        <p:txBody>
          <a:bodyPr wrap="square" rtlCol="0" anchor="ctr"/>
          <a:lstStyle/>
          <a:p>
            <a:pPr indent="0" marL="0">
              <a:buNone/>
            </a:pPr>
            <a:r>
              <a:rPr lang="en-US" sz="900" b="1" dirty="0">
                <a:solidFill>
                  <a:srgbClr val="E05A4F"/>
                </a:solidFill>
              </a:rPr>
              <a:t>1 row</a:t>
            </a:r>
            <a:endParaRPr lang="en-US" sz="900" dirty="0"/>
          </a:p>
        </p:txBody>
      </p:sp>
      <p:sp>
        <p:nvSpPr>
          <p:cNvPr id="83" name="Text 81"/>
          <p:cNvSpPr/>
          <p:nvPr/>
        </p:nvSpPr>
        <p:spPr>
          <a:xfrm>
            <a:off x="3200400" y="5641848"/>
            <a:ext cx="2468880" cy="457200"/>
          </a:xfrm>
          <a:prstGeom prst="rect">
            <a:avLst/>
          </a:prstGeom>
          <a:noFill/>
          <a:ln/>
        </p:spPr>
        <p:txBody>
          <a:bodyPr wrap="square" rtlCol="0" anchor="ctr"/>
          <a:lstStyle/>
          <a:p>
            <a:pPr indent="0" marL="0">
              <a:buNone/>
            </a:pPr>
            <a:r>
              <a:rPr lang="en-US" sz="900" dirty="0">
                <a:solidFill>
                  <a:srgbClr val="94A3B8"/>
                </a:solidFill>
              </a:rPr>
              <a:t>Minimize Objective_2 (Total Operating Cost)</a:t>
            </a:r>
            <a:endParaRPr lang="en-US" sz="900" dirty="0"/>
          </a:p>
        </p:txBody>
      </p:sp>
      <p:sp>
        <p:nvSpPr>
          <p:cNvPr id="84" name="Shape 82"/>
          <p:cNvSpPr/>
          <p:nvPr/>
        </p:nvSpPr>
        <p:spPr>
          <a:xfrm>
            <a:off x="6126480" y="5641848"/>
            <a:ext cx="5577840" cy="457200"/>
          </a:xfrm>
          <a:prstGeom prst="rect">
            <a:avLst/>
          </a:prstGeom>
          <a:solidFill>
            <a:srgbClr val="132238"/>
          </a:solidFill>
          <a:ln w="12700">
            <a:solidFill>
              <a:srgbClr val="1E3A5F"/>
            </a:solidFill>
            <a:prstDash val="solid"/>
          </a:ln>
        </p:spPr>
      </p:sp>
      <p:sp>
        <p:nvSpPr>
          <p:cNvPr id="85" name="Shape 83"/>
          <p:cNvSpPr/>
          <p:nvPr/>
        </p:nvSpPr>
        <p:spPr>
          <a:xfrm>
            <a:off x="6126480" y="5641848"/>
            <a:ext cx="45720" cy="457200"/>
          </a:xfrm>
          <a:prstGeom prst="rect">
            <a:avLst/>
          </a:prstGeom>
          <a:solidFill>
            <a:srgbClr val="00BCD4"/>
          </a:solidFill>
          <a:ln/>
        </p:spPr>
      </p:sp>
      <p:sp>
        <p:nvSpPr>
          <p:cNvPr id="86" name="Text 84"/>
          <p:cNvSpPr/>
          <p:nvPr/>
        </p:nvSpPr>
        <p:spPr>
          <a:xfrm>
            <a:off x="6263640" y="5641848"/>
            <a:ext cx="1828800" cy="45720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case_configuration_portal</a:t>
            </a:r>
            <a:endParaRPr lang="en-US" sz="950" dirty="0"/>
          </a:p>
        </p:txBody>
      </p:sp>
      <p:sp>
        <p:nvSpPr>
          <p:cNvPr id="87" name="Text 85"/>
          <p:cNvSpPr/>
          <p:nvPr/>
        </p:nvSpPr>
        <p:spPr>
          <a:xfrm>
            <a:off x="8046720" y="5641848"/>
            <a:ext cx="1005840" cy="457200"/>
          </a:xfrm>
          <a:prstGeom prst="rect">
            <a:avLst/>
          </a:prstGeom>
          <a:noFill/>
          <a:ln/>
        </p:spPr>
        <p:txBody>
          <a:bodyPr wrap="square" rtlCol="0" anchor="ctr"/>
          <a:lstStyle/>
          <a:p>
            <a:pPr indent="0" marL="0">
              <a:buNone/>
            </a:pPr>
            <a:r>
              <a:rPr lang="en-US" sz="900" b="1" dirty="0">
                <a:solidFill>
                  <a:srgbClr val="00BCD4"/>
                </a:solidFill>
              </a:rPr>
              <a:t>108 rows</a:t>
            </a:r>
            <a:endParaRPr lang="en-US" sz="900" dirty="0"/>
          </a:p>
        </p:txBody>
      </p:sp>
      <p:sp>
        <p:nvSpPr>
          <p:cNvPr id="88" name="Text 86"/>
          <p:cNvSpPr/>
          <p:nvPr/>
        </p:nvSpPr>
        <p:spPr>
          <a:xfrm>
            <a:off x="9052560" y="5641848"/>
            <a:ext cx="2468880" cy="457200"/>
          </a:xfrm>
          <a:prstGeom prst="rect">
            <a:avLst/>
          </a:prstGeom>
          <a:noFill/>
          <a:ln/>
        </p:spPr>
        <p:txBody>
          <a:bodyPr wrap="square" rtlCol="0" anchor="ctr"/>
          <a:lstStyle/>
          <a:p>
            <a:pPr indent="0" marL="0">
              <a:buNone/>
            </a:pPr>
            <a:r>
              <a:rPr lang="en-US" sz="900" dirty="0">
                <a:solidFill>
                  <a:srgbClr val="94A3B8"/>
                </a:solidFill>
              </a:rPr>
              <a:t>Tag quality checks: NaN/stuck/out-of-bound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274320" y="201168"/>
            <a:ext cx="384048" cy="384048"/>
          </a:xfrm>
          <a:prstGeom prst="roundRect">
            <a:avLst>
              <a:gd name="adj" fmla="val 14286"/>
            </a:avLst>
          </a:prstGeom>
          <a:solidFill>
            <a:srgbClr val="000000"/>
          </a:solidFill>
          <a:ln w="19050">
            <a:solidFill>
              <a:srgbClr val="00BCD4"/>
            </a:solidFill>
            <a:prstDash val="solid"/>
          </a:ln>
        </p:spPr>
      </p:sp>
      <p:sp>
        <p:nvSpPr>
          <p:cNvPr id="4" name="Text 2"/>
          <p:cNvSpPr/>
          <p:nvPr/>
        </p:nvSpPr>
        <p:spPr>
          <a:xfrm>
            <a:off x="274320" y="201168"/>
            <a:ext cx="384048" cy="384048"/>
          </a:xfrm>
          <a:prstGeom prst="rect">
            <a:avLst/>
          </a:prstGeom>
          <a:noFill/>
          <a:ln/>
        </p:spPr>
        <p:txBody>
          <a:bodyPr wrap="square" lIns="0" tIns="0" rIns="0" bIns="0" rtlCol="0" anchor="ctr"/>
          <a:lstStyle/>
          <a:p>
            <a:pPr algn="ctr" indent="0" marL="0">
              <a:buNone/>
            </a:pPr>
            <a:r>
              <a:rPr lang="en-US" sz="1300" b="1" dirty="0">
                <a:solidFill>
                  <a:srgbClr val="00BCD4"/>
                </a:solidFill>
                <a:latin typeface="Consolas" pitchFamily="34" charset="0"/>
                <a:ea typeface="Consolas" pitchFamily="34" charset="-122"/>
                <a:cs typeface="Consolas" pitchFamily="34" charset="-120"/>
              </a:rPr>
              <a:t>02</a:t>
            </a:r>
            <a:endParaRPr lang="en-US" sz="1300" dirty="0"/>
          </a:p>
        </p:txBody>
      </p:sp>
      <p:sp>
        <p:nvSpPr>
          <p:cNvPr id="5" name="Text 3"/>
          <p:cNvSpPr/>
          <p:nvPr/>
        </p:nvSpPr>
        <p:spPr>
          <a:xfrm>
            <a:off x="777240" y="201168"/>
            <a:ext cx="105156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8-Stage Pipeline Architecture — Common Foundation</a:t>
            </a:r>
            <a:endParaRPr lang="en-US" sz="2200" dirty="0"/>
          </a:p>
        </p:txBody>
      </p:sp>
      <p:sp>
        <p:nvSpPr>
          <p:cNvPr id="6" name="Shape 4"/>
          <p:cNvSpPr/>
          <p:nvPr/>
        </p:nvSpPr>
        <p:spPr>
          <a:xfrm>
            <a:off x="274320" y="640080"/>
            <a:ext cx="11612880" cy="27432"/>
          </a:xfrm>
          <a:prstGeom prst="rect">
            <a:avLst/>
          </a:prstGeom>
          <a:solidFill>
            <a:srgbClr val="1E3A5F"/>
          </a:solidFill>
          <a:ln/>
        </p:spPr>
      </p:sp>
      <p:sp>
        <p:nvSpPr>
          <p:cNvPr id="7" name="Text 5"/>
          <p:cNvSpPr/>
          <p:nvPr/>
        </p:nvSpPr>
        <p:spPr>
          <a:xfrm>
            <a:off x="274320" y="731520"/>
            <a:ext cx="11612880" cy="274320"/>
          </a:xfrm>
          <a:prstGeom prst="rect">
            <a:avLst/>
          </a:prstGeom>
          <a:noFill/>
          <a:ln/>
        </p:spPr>
        <p:txBody>
          <a:bodyPr wrap="square" rtlCol="0" anchor="ctr"/>
          <a:lstStyle/>
          <a:p>
            <a:pPr indent="0" marL="0">
              <a:buNone/>
            </a:pPr>
            <a:r>
              <a:rPr lang="en-US" sz="1100" dirty="0">
                <a:solidFill>
                  <a:srgbClr val="94A3B8"/>
                </a:solidFill>
                <a:latin typeface="Calibri Light" pitchFamily="34" charset="0"/>
                <a:ea typeface="Calibri Light" pitchFamily="34" charset="-122"/>
                <a:cs typeface="Calibri Light" pitchFamily="34" charset="-120"/>
              </a:rPr>
              <a:t>Both philosophies share this identical pipeline structure. Only the tag onboarding layer (Step 1) differs.</a:t>
            </a:r>
            <a:endParaRPr lang="en-US" sz="1100" dirty="0"/>
          </a:p>
        </p:txBody>
      </p:sp>
      <p:sp>
        <p:nvSpPr>
          <p:cNvPr id="8" name="Shape 6"/>
          <p:cNvSpPr/>
          <p:nvPr/>
        </p:nvSpPr>
        <p:spPr>
          <a:xfrm>
            <a:off x="274320" y="1097280"/>
            <a:ext cx="1325880" cy="2926080"/>
          </a:xfrm>
          <a:prstGeom prst="rect">
            <a:avLst/>
          </a:prstGeom>
          <a:solidFill>
            <a:srgbClr val="162944"/>
          </a:solidFill>
          <a:ln w="12700">
            <a:solidFill>
              <a:srgbClr val="1E3A5F"/>
            </a:solidFill>
            <a:prstDash val="solid"/>
          </a:ln>
        </p:spPr>
      </p:sp>
      <p:sp>
        <p:nvSpPr>
          <p:cNvPr id="9" name="Shape 7"/>
          <p:cNvSpPr/>
          <p:nvPr/>
        </p:nvSpPr>
        <p:spPr>
          <a:xfrm>
            <a:off x="274320" y="1097280"/>
            <a:ext cx="1325880" cy="36576"/>
          </a:xfrm>
          <a:prstGeom prst="rect">
            <a:avLst/>
          </a:prstGeom>
          <a:solidFill>
            <a:srgbClr val="00897B"/>
          </a:solidFill>
          <a:ln/>
        </p:spPr>
      </p:sp>
      <p:sp>
        <p:nvSpPr>
          <p:cNvPr id="10" name="Text 8"/>
          <p:cNvSpPr/>
          <p:nvPr/>
        </p:nvSpPr>
        <p:spPr>
          <a:xfrm>
            <a:off x="27432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274320" y="1627632"/>
            <a:ext cx="1325880" cy="201168"/>
          </a:xfrm>
          <a:prstGeom prst="rect">
            <a:avLst/>
          </a:prstGeom>
          <a:noFill/>
          <a:ln/>
        </p:spPr>
        <p:txBody>
          <a:bodyPr wrap="square" rtlCol="0" anchor="ctr"/>
          <a:lstStyle/>
          <a:p>
            <a:pPr algn="ctr" indent="0" marL="0">
              <a:buNone/>
            </a:pPr>
            <a:r>
              <a:rPr lang="en-US" sz="900" b="1" dirty="0">
                <a:solidFill>
                  <a:srgbClr val="00897B"/>
                </a:solidFill>
                <a:latin typeface="Consolas" pitchFamily="34" charset="0"/>
                <a:ea typeface="Consolas" pitchFamily="34" charset="-122"/>
                <a:cs typeface="Consolas" pitchFamily="34" charset="-120"/>
              </a:rPr>
              <a:t>01</a:t>
            </a:r>
            <a:endParaRPr lang="en-US" sz="900" dirty="0"/>
          </a:p>
        </p:txBody>
      </p:sp>
      <p:sp>
        <p:nvSpPr>
          <p:cNvPr id="12" name="Text 10"/>
          <p:cNvSpPr/>
          <p:nvPr/>
        </p:nvSpPr>
        <p:spPr>
          <a:xfrm>
            <a:off x="27432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Ingestion</a:t>
            </a:r>
            <a:endParaRPr lang="en-US" sz="950" dirty="0"/>
          </a:p>
        </p:txBody>
      </p:sp>
      <p:sp>
        <p:nvSpPr>
          <p:cNvPr id="13" name="Text 11"/>
          <p:cNvSpPr/>
          <p:nvPr/>
        </p:nvSpPr>
        <p:spPr>
          <a:xfrm>
            <a:off x="274320" y="2286000"/>
            <a:ext cx="1325880" cy="274320"/>
          </a:xfrm>
          <a:prstGeom prst="rect">
            <a:avLst/>
          </a:prstGeom>
          <a:noFill/>
          <a:ln/>
        </p:spPr>
        <p:txBody>
          <a:bodyPr wrap="square" rtlCol="0" anchor="ctr"/>
          <a:lstStyle/>
          <a:p>
            <a:pPr algn="ctr" indent="0" marL="0">
              <a:buNone/>
            </a:pPr>
            <a:r>
              <a:rPr lang="en-US" sz="800" dirty="0">
                <a:solidFill>
                  <a:srgbClr val="00897B"/>
                </a:solidFill>
              </a:rPr>
              <a:t>PI / Mock Data</a:t>
            </a:r>
            <a:endParaRPr lang="en-US" sz="800" dirty="0"/>
          </a:p>
        </p:txBody>
      </p:sp>
      <p:sp>
        <p:nvSpPr>
          <p:cNvPr id="14" name="Text 12"/>
          <p:cNvSpPr/>
          <p:nvPr/>
        </p:nvSpPr>
        <p:spPr>
          <a:xfrm>
            <a:off x="32004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data_ingestion_get_pi_data</a:t>
            </a:r>
            <a:endParaRPr lang="en-US" sz="650" dirty="0"/>
          </a:p>
        </p:txBody>
      </p:sp>
      <p:sp>
        <p:nvSpPr>
          <p:cNvPr id="15" name="Text 13"/>
          <p:cNvSpPr/>
          <p:nvPr/>
        </p:nvSpPr>
        <p:spPr>
          <a:xfrm>
            <a:off x="32004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Pull PI historian data for case_id+timestamp. Validate availability flag. Apply pipeline_macros (1h interval, 1d window).</a:t>
            </a:r>
            <a:endParaRPr lang="en-US" sz="700" dirty="0"/>
          </a:p>
        </p:txBody>
      </p:sp>
      <p:sp>
        <p:nvSpPr>
          <p:cNvPr id="16" name="Shape 14"/>
          <p:cNvSpPr/>
          <p:nvPr/>
        </p:nvSpPr>
        <p:spPr>
          <a:xfrm>
            <a:off x="1618488" y="1554480"/>
            <a:ext cx="91440" cy="201168"/>
          </a:xfrm>
          <a:prstGeom prst="rightArrow">
            <a:avLst/>
          </a:prstGeom>
          <a:solidFill>
            <a:srgbClr val="000000"/>
          </a:solidFill>
          <a:ln/>
        </p:spPr>
      </p:sp>
      <p:sp>
        <p:nvSpPr>
          <p:cNvPr id="17" name="Shape 15"/>
          <p:cNvSpPr/>
          <p:nvPr/>
        </p:nvSpPr>
        <p:spPr>
          <a:xfrm>
            <a:off x="1714500" y="1097280"/>
            <a:ext cx="1325880" cy="2926080"/>
          </a:xfrm>
          <a:prstGeom prst="rect">
            <a:avLst/>
          </a:prstGeom>
          <a:solidFill>
            <a:srgbClr val="162944"/>
          </a:solidFill>
          <a:ln w="12700">
            <a:solidFill>
              <a:srgbClr val="1E3A5F"/>
            </a:solidFill>
            <a:prstDash val="solid"/>
          </a:ln>
        </p:spPr>
      </p:sp>
      <p:sp>
        <p:nvSpPr>
          <p:cNvPr id="18" name="Shape 16"/>
          <p:cNvSpPr/>
          <p:nvPr/>
        </p:nvSpPr>
        <p:spPr>
          <a:xfrm>
            <a:off x="1714500" y="1097280"/>
            <a:ext cx="1325880" cy="36576"/>
          </a:xfrm>
          <a:prstGeom prst="rect">
            <a:avLst/>
          </a:prstGeom>
          <a:solidFill>
            <a:srgbClr val="00BCD4"/>
          </a:solidFill>
          <a:ln/>
        </p:spPr>
      </p:sp>
      <p:sp>
        <p:nvSpPr>
          <p:cNvPr id="19" name="Text 17"/>
          <p:cNvSpPr/>
          <p:nvPr/>
        </p:nvSpPr>
        <p:spPr>
          <a:xfrm>
            <a:off x="171450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1714500" y="1627632"/>
            <a:ext cx="1325880" cy="201168"/>
          </a:xfrm>
          <a:prstGeom prst="rect">
            <a:avLst/>
          </a:prstGeom>
          <a:noFill/>
          <a:ln/>
        </p:spPr>
        <p:txBody>
          <a:bodyPr wrap="square" rtlCol="0" anchor="ctr"/>
          <a:lstStyle/>
          <a:p>
            <a:pPr algn="ctr" indent="0" marL="0">
              <a:buNone/>
            </a:pPr>
            <a:r>
              <a:rPr lang="en-US" sz="900" b="1" dirty="0">
                <a:solidFill>
                  <a:srgbClr val="00BCD4"/>
                </a:solidFill>
                <a:latin typeface="Consolas" pitchFamily="34" charset="0"/>
                <a:ea typeface="Consolas" pitchFamily="34" charset="-122"/>
                <a:cs typeface="Consolas" pitchFamily="34" charset="-120"/>
              </a:rPr>
              <a:t>02</a:t>
            </a:r>
            <a:endParaRPr lang="en-US" sz="900" dirty="0"/>
          </a:p>
        </p:txBody>
      </p:sp>
      <p:sp>
        <p:nvSpPr>
          <p:cNvPr id="21" name="Text 19"/>
          <p:cNvSpPr/>
          <p:nvPr/>
        </p:nvSpPr>
        <p:spPr>
          <a:xfrm>
            <a:off x="171450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CCP Quality</a:t>
            </a:r>
            <a:endParaRPr lang="en-US" sz="950" dirty="0"/>
          </a:p>
          <a:p>
            <a:pPr algn="ctr" indent="0" marL="0">
              <a:lnSpc>
                <a:spcPct val="120000"/>
              </a:lnSpc>
              <a:buNone/>
            </a:pPr>
            <a:r>
              <a:rPr lang="en-US" sz="950" b="1" dirty="0">
                <a:solidFill>
                  <a:srgbClr val="FFFFFF"/>
                </a:solidFill>
              </a:rPr>
              <a:t>Check</a:t>
            </a:r>
            <a:endParaRPr lang="en-US" sz="950" dirty="0"/>
          </a:p>
        </p:txBody>
      </p:sp>
      <p:sp>
        <p:nvSpPr>
          <p:cNvPr id="22" name="Text 20"/>
          <p:cNvSpPr/>
          <p:nvPr/>
        </p:nvSpPr>
        <p:spPr>
          <a:xfrm>
            <a:off x="1714500" y="2286000"/>
            <a:ext cx="1325880" cy="274320"/>
          </a:xfrm>
          <a:prstGeom prst="rect">
            <a:avLst/>
          </a:prstGeom>
          <a:noFill/>
          <a:ln/>
        </p:spPr>
        <p:txBody>
          <a:bodyPr wrap="square" rtlCol="0" anchor="ctr"/>
          <a:lstStyle/>
          <a:p>
            <a:pPr algn="ctr" indent="0" marL="0">
              <a:buNone/>
            </a:pPr>
            <a:r>
              <a:rPr lang="en-US" sz="800" dirty="0">
                <a:solidFill>
                  <a:srgbClr val="00BCD4"/>
                </a:solidFill>
              </a:rPr>
              <a:t>Tag Validation</a:t>
            </a:r>
            <a:endParaRPr lang="en-US" sz="800" dirty="0"/>
          </a:p>
        </p:txBody>
      </p:sp>
      <p:sp>
        <p:nvSpPr>
          <p:cNvPr id="23" name="Text 21"/>
          <p:cNvSpPr/>
          <p:nvPr/>
        </p:nvSpPr>
        <p:spPr>
          <a:xfrm>
            <a:off x="176022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data_enrichment_pi_tag_imputation</a:t>
            </a:r>
            <a:endParaRPr lang="en-US" sz="650" dirty="0"/>
          </a:p>
        </p:txBody>
      </p:sp>
      <p:sp>
        <p:nvSpPr>
          <p:cNvPr id="24" name="Text 22"/>
          <p:cNvSpPr/>
          <p:nvPr/>
        </p:nvSpPr>
        <p:spPr>
          <a:xfrm>
            <a:off x="176022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Apply case_configuration_portal rules: NaN check, stuck check, out-of-bound check. Overwrite with defaults where configured.</a:t>
            </a:r>
            <a:endParaRPr lang="en-US" sz="700" dirty="0"/>
          </a:p>
        </p:txBody>
      </p:sp>
      <p:sp>
        <p:nvSpPr>
          <p:cNvPr id="25" name="Shape 23"/>
          <p:cNvSpPr/>
          <p:nvPr/>
        </p:nvSpPr>
        <p:spPr>
          <a:xfrm>
            <a:off x="3058668" y="1554480"/>
            <a:ext cx="91440" cy="201168"/>
          </a:xfrm>
          <a:prstGeom prst="rightArrow">
            <a:avLst/>
          </a:prstGeom>
          <a:solidFill>
            <a:srgbClr val="000000"/>
          </a:solidFill>
          <a:ln/>
        </p:spPr>
      </p:sp>
      <p:sp>
        <p:nvSpPr>
          <p:cNvPr id="26" name="Shape 24"/>
          <p:cNvSpPr/>
          <p:nvPr/>
        </p:nvSpPr>
        <p:spPr>
          <a:xfrm>
            <a:off x="3154680" y="1097280"/>
            <a:ext cx="1325880" cy="2926080"/>
          </a:xfrm>
          <a:prstGeom prst="rect">
            <a:avLst/>
          </a:prstGeom>
          <a:solidFill>
            <a:srgbClr val="162944"/>
          </a:solidFill>
          <a:ln w="12700">
            <a:solidFill>
              <a:srgbClr val="1E3A5F"/>
            </a:solidFill>
            <a:prstDash val="solid"/>
          </a:ln>
        </p:spPr>
      </p:sp>
      <p:sp>
        <p:nvSpPr>
          <p:cNvPr id="27" name="Shape 25"/>
          <p:cNvSpPr/>
          <p:nvPr/>
        </p:nvSpPr>
        <p:spPr>
          <a:xfrm>
            <a:off x="3154680" y="1097280"/>
            <a:ext cx="1325880" cy="36576"/>
          </a:xfrm>
          <a:prstGeom prst="rect">
            <a:avLst/>
          </a:prstGeom>
          <a:solidFill>
            <a:srgbClr val="F59E0B"/>
          </a:solidFill>
          <a:ln/>
        </p:spPr>
      </p:sp>
      <p:sp>
        <p:nvSpPr>
          <p:cNvPr id="28" name="Text 26"/>
          <p:cNvSpPr/>
          <p:nvPr/>
        </p:nvSpPr>
        <p:spPr>
          <a:xfrm>
            <a:off x="315468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9" name="Text 27"/>
          <p:cNvSpPr/>
          <p:nvPr/>
        </p:nvSpPr>
        <p:spPr>
          <a:xfrm>
            <a:off x="3154680" y="1627632"/>
            <a:ext cx="1325880" cy="201168"/>
          </a:xfrm>
          <a:prstGeom prst="rect">
            <a:avLst/>
          </a:prstGeom>
          <a:noFill/>
          <a:ln/>
        </p:spPr>
        <p:txBody>
          <a:bodyPr wrap="square" rtlCol="0" anchor="ctr"/>
          <a:lstStyle/>
          <a:p>
            <a:pPr algn="ctr" indent="0" marL="0">
              <a:buNone/>
            </a:pPr>
            <a:r>
              <a:rPr lang="en-US" sz="900" b="1" dirty="0">
                <a:solidFill>
                  <a:srgbClr val="F59E0B"/>
                </a:solidFill>
                <a:latin typeface="Consolas" pitchFamily="34" charset="0"/>
                <a:ea typeface="Consolas" pitchFamily="34" charset="-122"/>
                <a:cs typeface="Consolas" pitchFamily="34" charset="-120"/>
              </a:rPr>
              <a:t>03</a:t>
            </a:r>
            <a:endParaRPr lang="en-US" sz="900" dirty="0"/>
          </a:p>
        </p:txBody>
      </p:sp>
      <p:sp>
        <p:nvSpPr>
          <p:cNvPr id="30" name="Text 28"/>
          <p:cNvSpPr/>
          <p:nvPr/>
        </p:nvSpPr>
        <p:spPr>
          <a:xfrm>
            <a:off x="315468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Inferred Tag</a:t>
            </a:r>
            <a:endParaRPr lang="en-US" sz="950" dirty="0"/>
          </a:p>
          <a:p>
            <a:pPr algn="ctr" indent="0" marL="0">
              <a:lnSpc>
                <a:spcPct val="120000"/>
              </a:lnSpc>
              <a:buNone/>
            </a:pPr>
            <a:r>
              <a:rPr lang="en-US" sz="950" b="1" dirty="0">
                <a:solidFill>
                  <a:srgbClr val="FFFFFF"/>
                </a:solidFill>
              </a:rPr>
              <a:t>Engine</a:t>
            </a:r>
            <a:endParaRPr lang="en-US" sz="950" dirty="0"/>
          </a:p>
        </p:txBody>
      </p:sp>
      <p:sp>
        <p:nvSpPr>
          <p:cNvPr id="31" name="Text 29"/>
          <p:cNvSpPr/>
          <p:nvPr/>
        </p:nvSpPr>
        <p:spPr>
          <a:xfrm>
            <a:off x="3154680" y="2286000"/>
            <a:ext cx="1325880" cy="274320"/>
          </a:xfrm>
          <a:prstGeom prst="rect">
            <a:avLst/>
          </a:prstGeom>
          <a:noFill/>
          <a:ln/>
        </p:spPr>
        <p:txBody>
          <a:bodyPr wrap="square" rtlCol="0" anchor="ctr"/>
          <a:lstStyle/>
          <a:p>
            <a:pPr algn="ctr" indent="0" marL="0">
              <a:buNone/>
            </a:pPr>
            <a:r>
              <a:rPr lang="en-US" sz="800" dirty="0">
                <a:solidFill>
                  <a:srgbClr val="F59E0B"/>
                </a:solidFill>
              </a:rPr>
              <a:t>DAG + fsolve</a:t>
            </a:r>
            <a:endParaRPr lang="en-US" sz="800" dirty="0"/>
          </a:p>
        </p:txBody>
      </p:sp>
      <p:sp>
        <p:nvSpPr>
          <p:cNvPr id="32" name="Text 30"/>
          <p:cNvSpPr/>
          <p:nvPr/>
        </p:nvSpPr>
        <p:spPr>
          <a:xfrm>
            <a:off x="320040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data_enrichment_inferred_calculation</a:t>
            </a:r>
            <a:endParaRPr lang="en-US" sz="650" dirty="0"/>
          </a:p>
        </p:txBody>
      </p:sp>
      <p:sp>
        <p:nvSpPr>
          <p:cNvPr id="33" name="Text 31"/>
          <p:cNvSpPr/>
          <p:nvPr/>
        </p:nvSpPr>
        <p:spPr>
          <a:xfrm>
            <a:off x="320040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Calculate inferred tags via df.eval(). DAG topological sort via NetworkX. Fixed-point iteration (scipy.fsolve) for circular refs (A=f(B), B=f(A)).</a:t>
            </a:r>
            <a:endParaRPr lang="en-US" sz="700" dirty="0"/>
          </a:p>
        </p:txBody>
      </p:sp>
      <p:sp>
        <p:nvSpPr>
          <p:cNvPr id="34" name="Shape 32"/>
          <p:cNvSpPr/>
          <p:nvPr/>
        </p:nvSpPr>
        <p:spPr>
          <a:xfrm>
            <a:off x="4498848" y="1554480"/>
            <a:ext cx="91440" cy="201168"/>
          </a:xfrm>
          <a:prstGeom prst="rightArrow">
            <a:avLst/>
          </a:prstGeom>
          <a:solidFill>
            <a:srgbClr val="000000"/>
          </a:solidFill>
          <a:ln/>
        </p:spPr>
      </p:sp>
      <p:sp>
        <p:nvSpPr>
          <p:cNvPr id="35" name="Shape 33"/>
          <p:cNvSpPr/>
          <p:nvPr/>
        </p:nvSpPr>
        <p:spPr>
          <a:xfrm>
            <a:off x="4594860" y="1097280"/>
            <a:ext cx="1325880" cy="2926080"/>
          </a:xfrm>
          <a:prstGeom prst="rect">
            <a:avLst/>
          </a:prstGeom>
          <a:solidFill>
            <a:srgbClr val="162944"/>
          </a:solidFill>
          <a:ln w="12700">
            <a:solidFill>
              <a:srgbClr val="1E3A5F"/>
            </a:solidFill>
            <a:prstDash val="solid"/>
          </a:ln>
        </p:spPr>
      </p:sp>
      <p:sp>
        <p:nvSpPr>
          <p:cNvPr id="36" name="Shape 34"/>
          <p:cNvSpPr/>
          <p:nvPr/>
        </p:nvSpPr>
        <p:spPr>
          <a:xfrm>
            <a:off x="4594860" y="1097280"/>
            <a:ext cx="1325880" cy="36576"/>
          </a:xfrm>
          <a:prstGeom prst="rect">
            <a:avLst/>
          </a:prstGeom>
          <a:solidFill>
            <a:srgbClr val="6B46C1"/>
          </a:solidFill>
          <a:ln/>
        </p:spPr>
      </p:sp>
      <p:sp>
        <p:nvSpPr>
          <p:cNvPr id="37" name="Text 35"/>
          <p:cNvSpPr/>
          <p:nvPr/>
        </p:nvSpPr>
        <p:spPr>
          <a:xfrm>
            <a:off x="459486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8" name="Text 36"/>
          <p:cNvSpPr/>
          <p:nvPr/>
        </p:nvSpPr>
        <p:spPr>
          <a:xfrm>
            <a:off x="4594860" y="1627632"/>
            <a:ext cx="1325880" cy="201168"/>
          </a:xfrm>
          <a:prstGeom prst="rect">
            <a:avLst/>
          </a:prstGeom>
          <a:noFill/>
          <a:ln/>
        </p:spPr>
        <p:txBody>
          <a:bodyPr wrap="square" rtlCol="0" anchor="ctr"/>
          <a:lstStyle/>
          <a:p>
            <a:pPr algn="ctr" indent="0" marL="0">
              <a:buNone/>
            </a:pPr>
            <a:r>
              <a:rPr lang="en-US" sz="900" b="1" dirty="0">
                <a:solidFill>
                  <a:srgbClr val="6B46C1"/>
                </a:solidFill>
                <a:latin typeface="Consolas" pitchFamily="34" charset="0"/>
                <a:ea typeface="Consolas" pitchFamily="34" charset="-122"/>
                <a:cs typeface="Consolas" pitchFamily="34" charset="-120"/>
              </a:rPr>
              <a:t>04</a:t>
            </a:r>
            <a:endParaRPr lang="en-US" sz="900" dirty="0"/>
          </a:p>
        </p:txBody>
      </p:sp>
      <p:sp>
        <p:nvSpPr>
          <p:cNvPr id="39" name="Text 37"/>
          <p:cNvSpPr/>
          <p:nvPr/>
        </p:nvSpPr>
        <p:spPr>
          <a:xfrm>
            <a:off x="459486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Sub-Model</a:t>
            </a:r>
            <a:endParaRPr lang="en-US" sz="950" dirty="0"/>
          </a:p>
          <a:p>
            <a:pPr algn="ctr" indent="0" marL="0">
              <a:lnSpc>
                <a:spcPct val="120000"/>
              </a:lnSpc>
              <a:buNone/>
            </a:pPr>
            <a:r>
              <a:rPr lang="en-US" sz="950" b="1" dirty="0">
                <a:solidFill>
                  <a:srgbClr val="FFFFFF"/>
                </a:solidFill>
              </a:rPr>
              <a:t>Execution</a:t>
            </a:r>
            <a:endParaRPr lang="en-US" sz="950" dirty="0"/>
          </a:p>
        </p:txBody>
      </p:sp>
      <p:sp>
        <p:nvSpPr>
          <p:cNvPr id="40" name="Text 38"/>
          <p:cNvSpPr/>
          <p:nvPr/>
        </p:nvSpPr>
        <p:spPr>
          <a:xfrm>
            <a:off x="4594860" y="2286000"/>
            <a:ext cx="1325880" cy="274320"/>
          </a:xfrm>
          <a:prstGeom prst="rect">
            <a:avLst/>
          </a:prstGeom>
          <a:noFill/>
          <a:ln/>
        </p:spPr>
        <p:txBody>
          <a:bodyPr wrap="square" rtlCol="0" anchor="ctr"/>
          <a:lstStyle/>
          <a:p>
            <a:pPr algn="ctr" indent="0" marL="0">
              <a:buNone/>
            </a:pPr>
            <a:r>
              <a:rPr lang="en-US" sz="800" dirty="0">
                <a:solidFill>
                  <a:srgbClr val="6B46C1"/>
                </a:solidFill>
              </a:rPr>
              <a:t>Equation / ML</a:t>
            </a:r>
            <a:endParaRPr lang="en-US" sz="800" dirty="0"/>
          </a:p>
        </p:txBody>
      </p:sp>
      <p:sp>
        <p:nvSpPr>
          <p:cNvPr id="41" name="Text 39"/>
          <p:cNvSpPr/>
          <p:nvPr/>
        </p:nvSpPr>
        <p:spPr>
          <a:xfrm>
            <a:off x="464058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pre_optimizer_iterative_inferred</a:t>
            </a:r>
            <a:endParaRPr lang="en-US" sz="650" dirty="0"/>
          </a:p>
        </p:txBody>
      </p:sp>
      <p:sp>
        <p:nvSpPr>
          <p:cNvPr id="42" name="Text 40"/>
          <p:cNvSpPr/>
          <p:nvPr/>
        </p:nvSpPr>
        <p:spPr>
          <a:xfrm>
            <a:off x="464058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Execute sub_model table in order column sequence. Supports: equation (df.eval), ML regression, iterative fixed-point models.</a:t>
            </a:r>
            <a:endParaRPr lang="en-US" sz="700" dirty="0"/>
          </a:p>
        </p:txBody>
      </p:sp>
      <p:sp>
        <p:nvSpPr>
          <p:cNvPr id="43" name="Shape 41"/>
          <p:cNvSpPr/>
          <p:nvPr/>
        </p:nvSpPr>
        <p:spPr>
          <a:xfrm>
            <a:off x="5939028" y="1554480"/>
            <a:ext cx="91440" cy="201168"/>
          </a:xfrm>
          <a:prstGeom prst="rightArrow">
            <a:avLst/>
          </a:prstGeom>
          <a:solidFill>
            <a:srgbClr val="000000"/>
          </a:solidFill>
          <a:ln/>
        </p:spPr>
      </p:sp>
      <p:sp>
        <p:nvSpPr>
          <p:cNvPr id="44" name="Shape 42"/>
          <p:cNvSpPr/>
          <p:nvPr/>
        </p:nvSpPr>
        <p:spPr>
          <a:xfrm>
            <a:off x="6035040" y="1097280"/>
            <a:ext cx="1325880" cy="2926080"/>
          </a:xfrm>
          <a:prstGeom prst="rect">
            <a:avLst/>
          </a:prstGeom>
          <a:solidFill>
            <a:srgbClr val="162944"/>
          </a:solidFill>
          <a:ln w="12700">
            <a:solidFill>
              <a:srgbClr val="1E3A5F"/>
            </a:solidFill>
            <a:prstDash val="solid"/>
          </a:ln>
        </p:spPr>
      </p:sp>
      <p:sp>
        <p:nvSpPr>
          <p:cNvPr id="45" name="Shape 43"/>
          <p:cNvSpPr/>
          <p:nvPr/>
        </p:nvSpPr>
        <p:spPr>
          <a:xfrm>
            <a:off x="6035040" y="1097280"/>
            <a:ext cx="1325880" cy="36576"/>
          </a:xfrm>
          <a:prstGeom prst="rect">
            <a:avLst/>
          </a:prstGeom>
          <a:solidFill>
            <a:srgbClr val="E05A4F"/>
          </a:solidFill>
          <a:ln/>
        </p:spPr>
      </p:sp>
      <p:sp>
        <p:nvSpPr>
          <p:cNvPr id="46" name="Text 44"/>
          <p:cNvSpPr/>
          <p:nvPr/>
        </p:nvSpPr>
        <p:spPr>
          <a:xfrm>
            <a:off x="603504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47" name="Text 45"/>
          <p:cNvSpPr/>
          <p:nvPr/>
        </p:nvSpPr>
        <p:spPr>
          <a:xfrm>
            <a:off x="6035040" y="1627632"/>
            <a:ext cx="1325880" cy="201168"/>
          </a:xfrm>
          <a:prstGeom prst="rect">
            <a:avLst/>
          </a:prstGeom>
          <a:noFill/>
          <a:ln/>
        </p:spPr>
        <p:txBody>
          <a:bodyPr wrap="square" rtlCol="0" anchor="ctr"/>
          <a:lstStyle/>
          <a:p>
            <a:pPr algn="ctr" indent="0" marL="0">
              <a:buNone/>
            </a:pPr>
            <a:r>
              <a:rPr lang="en-US" sz="900" b="1" dirty="0">
                <a:solidFill>
                  <a:srgbClr val="E05A4F"/>
                </a:solidFill>
                <a:latin typeface="Consolas" pitchFamily="34" charset="0"/>
                <a:ea typeface="Consolas" pitchFamily="34" charset="-122"/>
                <a:cs typeface="Consolas" pitchFamily="34" charset="-120"/>
              </a:rPr>
              <a:t>05</a:t>
            </a:r>
            <a:endParaRPr lang="en-US" sz="900" dirty="0"/>
          </a:p>
        </p:txBody>
      </p:sp>
      <p:sp>
        <p:nvSpPr>
          <p:cNvPr id="48" name="Text 46"/>
          <p:cNvSpPr/>
          <p:nvPr/>
        </p:nvSpPr>
        <p:spPr>
          <a:xfrm>
            <a:off x="603504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Constraint</a:t>
            </a:r>
            <a:endParaRPr lang="en-US" sz="950" dirty="0"/>
          </a:p>
          <a:p>
            <a:pPr algn="ctr" indent="0" marL="0">
              <a:lnSpc>
                <a:spcPct val="120000"/>
              </a:lnSpc>
              <a:buNone/>
            </a:pPr>
            <a:r>
              <a:rPr lang="en-US" sz="950" b="1" dirty="0">
                <a:solidFill>
                  <a:srgbClr val="FFFFFF"/>
                </a:solidFill>
              </a:rPr>
              <a:t>&amp; Variable Prep</a:t>
            </a:r>
            <a:endParaRPr lang="en-US" sz="950" dirty="0"/>
          </a:p>
        </p:txBody>
      </p:sp>
      <p:sp>
        <p:nvSpPr>
          <p:cNvPr id="49" name="Text 47"/>
          <p:cNvSpPr/>
          <p:nvPr/>
        </p:nvSpPr>
        <p:spPr>
          <a:xfrm>
            <a:off x="6035040" y="2286000"/>
            <a:ext cx="1325880" cy="274320"/>
          </a:xfrm>
          <a:prstGeom prst="rect">
            <a:avLst/>
          </a:prstGeom>
          <a:noFill/>
          <a:ln/>
        </p:spPr>
        <p:txBody>
          <a:bodyPr wrap="square" rtlCol="0" anchor="ctr"/>
          <a:lstStyle/>
          <a:p>
            <a:pPr algn="ctr" indent="0" marL="0">
              <a:buNone/>
            </a:pPr>
            <a:r>
              <a:rPr lang="en-US" sz="800" dirty="0">
                <a:solidFill>
                  <a:srgbClr val="E05A4F"/>
                </a:solidFill>
              </a:rPr>
              <a:t>MINLP Input</a:t>
            </a:r>
            <a:endParaRPr lang="en-US" sz="800" dirty="0"/>
          </a:p>
        </p:txBody>
      </p:sp>
      <p:sp>
        <p:nvSpPr>
          <p:cNvPr id="50" name="Text 48"/>
          <p:cNvSpPr/>
          <p:nvPr/>
        </p:nvSpPr>
        <p:spPr>
          <a:xfrm>
            <a:off x="608076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optimizer_model_preprocessing</a:t>
            </a:r>
            <a:endParaRPr lang="en-US" sz="650" dirty="0"/>
          </a:p>
        </p:txBody>
      </p:sp>
      <p:sp>
        <p:nvSpPr>
          <p:cNvPr id="51" name="Text 49"/>
          <p:cNvSpPr/>
          <p:nvPr/>
        </p:nvSpPr>
        <p:spPr>
          <a:xfrm>
            <a:off x="608076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Build variables dict (lb/ub/iv/integer) from variables table. Evaluate bound expressions. Load constraints from constraints table. Assemble objective from objective table.</a:t>
            </a:r>
            <a:endParaRPr lang="en-US" sz="700" dirty="0"/>
          </a:p>
        </p:txBody>
      </p:sp>
      <p:sp>
        <p:nvSpPr>
          <p:cNvPr id="52" name="Shape 50"/>
          <p:cNvSpPr/>
          <p:nvPr/>
        </p:nvSpPr>
        <p:spPr>
          <a:xfrm>
            <a:off x="7379208" y="1554480"/>
            <a:ext cx="91440" cy="201168"/>
          </a:xfrm>
          <a:prstGeom prst="rightArrow">
            <a:avLst/>
          </a:prstGeom>
          <a:solidFill>
            <a:srgbClr val="000000"/>
          </a:solidFill>
          <a:ln/>
        </p:spPr>
      </p:sp>
      <p:sp>
        <p:nvSpPr>
          <p:cNvPr id="53" name="Shape 51"/>
          <p:cNvSpPr/>
          <p:nvPr/>
        </p:nvSpPr>
        <p:spPr>
          <a:xfrm>
            <a:off x="7475220" y="1097280"/>
            <a:ext cx="1325880" cy="2926080"/>
          </a:xfrm>
          <a:prstGeom prst="rect">
            <a:avLst/>
          </a:prstGeom>
          <a:solidFill>
            <a:srgbClr val="162944"/>
          </a:solidFill>
          <a:ln w="12700">
            <a:solidFill>
              <a:srgbClr val="1E3A5F"/>
            </a:solidFill>
            <a:prstDash val="solid"/>
          </a:ln>
        </p:spPr>
      </p:sp>
      <p:sp>
        <p:nvSpPr>
          <p:cNvPr id="54" name="Shape 52"/>
          <p:cNvSpPr/>
          <p:nvPr/>
        </p:nvSpPr>
        <p:spPr>
          <a:xfrm>
            <a:off x="7475220" y="1097280"/>
            <a:ext cx="1325880" cy="36576"/>
          </a:xfrm>
          <a:prstGeom prst="rect">
            <a:avLst/>
          </a:prstGeom>
          <a:solidFill>
            <a:srgbClr val="10B981"/>
          </a:solidFill>
          <a:ln/>
        </p:spPr>
      </p:sp>
      <p:sp>
        <p:nvSpPr>
          <p:cNvPr id="55" name="Text 53"/>
          <p:cNvSpPr/>
          <p:nvPr/>
        </p:nvSpPr>
        <p:spPr>
          <a:xfrm>
            <a:off x="747522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56" name="Text 54"/>
          <p:cNvSpPr/>
          <p:nvPr/>
        </p:nvSpPr>
        <p:spPr>
          <a:xfrm>
            <a:off x="7475220" y="1627632"/>
            <a:ext cx="1325880" cy="201168"/>
          </a:xfrm>
          <a:prstGeom prst="rect">
            <a:avLst/>
          </a:prstGeom>
          <a:noFill/>
          <a:ln/>
        </p:spPr>
        <p:txBody>
          <a:bodyPr wrap="square" rtlCol="0" anchor="ctr"/>
          <a:lstStyle/>
          <a:p>
            <a:pPr algn="ctr" indent="0" marL="0">
              <a:buNone/>
            </a:pPr>
            <a:r>
              <a:rPr lang="en-US" sz="900" b="1" dirty="0">
                <a:solidFill>
                  <a:srgbClr val="10B981"/>
                </a:solidFill>
                <a:latin typeface="Consolas" pitchFamily="34" charset="0"/>
                <a:ea typeface="Consolas" pitchFamily="34" charset="-122"/>
                <a:cs typeface="Consolas" pitchFamily="34" charset="-120"/>
              </a:rPr>
              <a:t>06</a:t>
            </a:r>
            <a:endParaRPr lang="en-US" sz="900" dirty="0"/>
          </a:p>
        </p:txBody>
      </p:sp>
      <p:sp>
        <p:nvSpPr>
          <p:cNvPr id="57" name="Text 55"/>
          <p:cNvSpPr/>
          <p:nvPr/>
        </p:nvSpPr>
        <p:spPr>
          <a:xfrm>
            <a:off x="747522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Optimizer</a:t>
            </a:r>
            <a:endParaRPr lang="en-US" sz="950" dirty="0"/>
          </a:p>
        </p:txBody>
      </p:sp>
      <p:sp>
        <p:nvSpPr>
          <p:cNvPr id="58" name="Text 56"/>
          <p:cNvSpPr/>
          <p:nvPr/>
        </p:nvSpPr>
        <p:spPr>
          <a:xfrm>
            <a:off x="7475220" y="2286000"/>
            <a:ext cx="1325880" cy="274320"/>
          </a:xfrm>
          <a:prstGeom prst="rect">
            <a:avLst/>
          </a:prstGeom>
          <a:noFill/>
          <a:ln/>
        </p:spPr>
        <p:txBody>
          <a:bodyPr wrap="square" rtlCol="0" anchor="ctr"/>
          <a:lstStyle/>
          <a:p>
            <a:pPr algn="ctr" indent="0" marL="0">
              <a:buNone/>
            </a:pPr>
            <a:r>
              <a:rPr lang="en-US" sz="800" dirty="0">
                <a:solidFill>
                  <a:srgbClr val="10B981"/>
                </a:solidFill>
              </a:rPr>
              <a:t>GEKKO / BoTorch</a:t>
            </a:r>
            <a:endParaRPr lang="en-US" sz="800" dirty="0"/>
          </a:p>
        </p:txBody>
      </p:sp>
      <p:sp>
        <p:nvSpPr>
          <p:cNvPr id="59" name="Text 57"/>
          <p:cNvSpPr/>
          <p:nvPr/>
        </p:nvSpPr>
        <p:spPr>
          <a:xfrm>
            <a:off x="752094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optimizer_model_main</a:t>
            </a:r>
            <a:endParaRPr lang="en-US" sz="650" dirty="0"/>
          </a:p>
        </p:txBody>
      </p:sp>
      <p:sp>
        <p:nvSpPr>
          <p:cNvPr id="60" name="Text 58"/>
          <p:cNvSpPr/>
          <p:nvPr/>
        </p:nvSpPr>
        <p:spPr>
          <a:xfrm>
            <a:off x="752094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Primary: GEKKO MINLP solver. Proposed upgrade: Bayesian Optimization (BoTorch) for non-convex surfaces. Fallback MINLP for hard constraint sub-problems.</a:t>
            </a:r>
            <a:endParaRPr lang="en-US" sz="700" dirty="0"/>
          </a:p>
        </p:txBody>
      </p:sp>
      <p:sp>
        <p:nvSpPr>
          <p:cNvPr id="61" name="Shape 59"/>
          <p:cNvSpPr/>
          <p:nvPr/>
        </p:nvSpPr>
        <p:spPr>
          <a:xfrm>
            <a:off x="8819388" y="1554480"/>
            <a:ext cx="91440" cy="201168"/>
          </a:xfrm>
          <a:prstGeom prst="rightArrow">
            <a:avLst/>
          </a:prstGeom>
          <a:solidFill>
            <a:srgbClr val="000000"/>
          </a:solidFill>
          <a:ln/>
        </p:spPr>
      </p:sp>
      <p:sp>
        <p:nvSpPr>
          <p:cNvPr id="62" name="Shape 60"/>
          <p:cNvSpPr/>
          <p:nvPr/>
        </p:nvSpPr>
        <p:spPr>
          <a:xfrm>
            <a:off x="8915400" y="1097280"/>
            <a:ext cx="1325880" cy="2926080"/>
          </a:xfrm>
          <a:prstGeom prst="rect">
            <a:avLst/>
          </a:prstGeom>
          <a:solidFill>
            <a:srgbClr val="162944"/>
          </a:solidFill>
          <a:ln w="12700">
            <a:solidFill>
              <a:srgbClr val="1E3A5F"/>
            </a:solidFill>
            <a:prstDash val="solid"/>
          </a:ln>
        </p:spPr>
      </p:sp>
      <p:sp>
        <p:nvSpPr>
          <p:cNvPr id="63" name="Shape 61"/>
          <p:cNvSpPr/>
          <p:nvPr/>
        </p:nvSpPr>
        <p:spPr>
          <a:xfrm>
            <a:off x="8915400" y="1097280"/>
            <a:ext cx="1325880" cy="36576"/>
          </a:xfrm>
          <a:prstGeom prst="rect">
            <a:avLst/>
          </a:prstGeom>
          <a:solidFill>
            <a:srgbClr val="00897B"/>
          </a:solidFill>
          <a:ln/>
        </p:spPr>
      </p:sp>
      <p:sp>
        <p:nvSpPr>
          <p:cNvPr id="64" name="Text 62"/>
          <p:cNvSpPr/>
          <p:nvPr/>
        </p:nvSpPr>
        <p:spPr>
          <a:xfrm>
            <a:off x="891540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65" name="Text 63"/>
          <p:cNvSpPr/>
          <p:nvPr/>
        </p:nvSpPr>
        <p:spPr>
          <a:xfrm>
            <a:off x="8915400" y="1627632"/>
            <a:ext cx="1325880" cy="201168"/>
          </a:xfrm>
          <a:prstGeom prst="rect">
            <a:avLst/>
          </a:prstGeom>
          <a:noFill/>
          <a:ln/>
        </p:spPr>
        <p:txBody>
          <a:bodyPr wrap="square" rtlCol="0" anchor="ctr"/>
          <a:lstStyle/>
          <a:p>
            <a:pPr algn="ctr" indent="0" marL="0">
              <a:buNone/>
            </a:pPr>
            <a:r>
              <a:rPr lang="en-US" sz="900" b="1" dirty="0">
                <a:solidFill>
                  <a:srgbClr val="00897B"/>
                </a:solidFill>
                <a:latin typeface="Consolas" pitchFamily="34" charset="0"/>
                <a:ea typeface="Consolas" pitchFamily="34" charset="-122"/>
                <a:cs typeface="Consolas" pitchFamily="34" charset="-120"/>
              </a:rPr>
              <a:t>07</a:t>
            </a:r>
            <a:endParaRPr lang="en-US" sz="900" dirty="0"/>
          </a:p>
        </p:txBody>
      </p:sp>
      <p:sp>
        <p:nvSpPr>
          <p:cNvPr id="66" name="Text 64"/>
          <p:cNvSpPr/>
          <p:nvPr/>
        </p:nvSpPr>
        <p:spPr>
          <a:xfrm>
            <a:off x="891540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Post-Optimizer</a:t>
            </a:r>
            <a:endParaRPr lang="en-US" sz="950" dirty="0"/>
          </a:p>
          <a:p>
            <a:pPr algn="ctr" indent="0" marL="0">
              <a:lnSpc>
                <a:spcPct val="120000"/>
              </a:lnSpc>
              <a:buNone/>
            </a:pPr>
            <a:r>
              <a:rPr lang="en-US" sz="950" b="1" dirty="0">
                <a:solidFill>
                  <a:srgbClr val="FFFFFF"/>
                </a:solidFill>
              </a:rPr>
              <a:t>Calculations</a:t>
            </a:r>
            <a:endParaRPr lang="en-US" sz="950" dirty="0"/>
          </a:p>
        </p:txBody>
      </p:sp>
      <p:sp>
        <p:nvSpPr>
          <p:cNvPr id="67" name="Text 65"/>
          <p:cNvSpPr/>
          <p:nvPr/>
        </p:nvSpPr>
        <p:spPr>
          <a:xfrm>
            <a:off x="8915400" y="2286000"/>
            <a:ext cx="1325880" cy="274320"/>
          </a:xfrm>
          <a:prstGeom prst="rect">
            <a:avLst/>
          </a:prstGeom>
          <a:noFill/>
          <a:ln/>
        </p:spPr>
        <p:txBody>
          <a:bodyPr wrap="square" rtlCol="0" anchor="ctr"/>
          <a:lstStyle/>
          <a:p>
            <a:pPr algn="ctr" indent="0" marL="0">
              <a:buNone/>
            </a:pPr>
            <a:r>
              <a:rPr lang="en-US" sz="800" dirty="0">
                <a:solidFill>
                  <a:srgbClr val="00897B"/>
                </a:solidFill>
              </a:rPr>
              <a:t>Derived + Inferred</a:t>
            </a:r>
            <a:endParaRPr lang="en-US" sz="800" dirty="0"/>
          </a:p>
        </p:txBody>
      </p:sp>
      <p:sp>
        <p:nvSpPr>
          <p:cNvPr id="68" name="Text 66"/>
          <p:cNvSpPr/>
          <p:nvPr/>
        </p:nvSpPr>
        <p:spPr>
          <a:xfrm>
            <a:off x="896112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post_optimizer_inferred_calculation</a:t>
            </a:r>
            <a:endParaRPr lang="en-US" sz="650" dirty="0"/>
          </a:p>
        </p:txBody>
      </p:sp>
      <p:sp>
        <p:nvSpPr>
          <p:cNvPr id="69" name="Text 67"/>
          <p:cNvSpPr/>
          <p:nvPr/>
        </p:nvSpPr>
        <p:spPr>
          <a:xfrm>
            <a:off x="896112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Calculate derived_equation_post_optimizer tags. Re-run inferred pipeline on optimum data. Merge actual + optimum for opportunity tags (actual - optimum).</a:t>
            </a:r>
            <a:endParaRPr lang="en-US" sz="700" dirty="0"/>
          </a:p>
        </p:txBody>
      </p:sp>
      <p:sp>
        <p:nvSpPr>
          <p:cNvPr id="70" name="Shape 68"/>
          <p:cNvSpPr/>
          <p:nvPr/>
        </p:nvSpPr>
        <p:spPr>
          <a:xfrm>
            <a:off x="10259568" y="1554480"/>
            <a:ext cx="91440" cy="201168"/>
          </a:xfrm>
          <a:prstGeom prst="rightArrow">
            <a:avLst/>
          </a:prstGeom>
          <a:solidFill>
            <a:srgbClr val="000000"/>
          </a:solidFill>
          <a:ln/>
        </p:spPr>
      </p:sp>
      <p:sp>
        <p:nvSpPr>
          <p:cNvPr id="71" name="Shape 69"/>
          <p:cNvSpPr/>
          <p:nvPr/>
        </p:nvSpPr>
        <p:spPr>
          <a:xfrm>
            <a:off x="10355580" y="1097280"/>
            <a:ext cx="1325880" cy="2926080"/>
          </a:xfrm>
          <a:prstGeom prst="rect">
            <a:avLst/>
          </a:prstGeom>
          <a:solidFill>
            <a:srgbClr val="162944"/>
          </a:solidFill>
          <a:ln w="12700">
            <a:solidFill>
              <a:srgbClr val="1E3A5F"/>
            </a:solidFill>
            <a:prstDash val="solid"/>
          </a:ln>
        </p:spPr>
      </p:sp>
      <p:sp>
        <p:nvSpPr>
          <p:cNvPr id="72" name="Shape 70"/>
          <p:cNvSpPr/>
          <p:nvPr/>
        </p:nvSpPr>
        <p:spPr>
          <a:xfrm>
            <a:off x="10355580" y="1097280"/>
            <a:ext cx="1325880" cy="36576"/>
          </a:xfrm>
          <a:prstGeom prst="rect">
            <a:avLst/>
          </a:prstGeom>
          <a:solidFill>
            <a:srgbClr val="F59E0B"/>
          </a:solidFill>
          <a:ln/>
        </p:spPr>
      </p:sp>
      <p:sp>
        <p:nvSpPr>
          <p:cNvPr id="73" name="Text 71"/>
          <p:cNvSpPr/>
          <p:nvPr/>
        </p:nvSpPr>
        <p:spPr>
          <a:xfrm>
            <a:off x="10355580" y="1170432"/>
            <a:ext cx="132588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4" name="Text 72"/>
          <p:cNvSpPr/>
          <p:nvPr/>
        </p:nvSpPr>
        <p:spPr>
          <a:xfrm>
            <a:off x="10355580" y="1627632"/>
            <a:ext cx="1325880" cy="201168"/>
          </a:xfrm>
          <a:prstGeom prst="rect">
            <a:avLst/>
          </a:prstGeom>
          <a:noFill/>
          <a:ln/>
        </p:spPr>
        <p:txBody>
          <a:bodyPr wrap="square" rtlCol="0" anchor="ctr"/>
          <a:lstStyle/>
          <a:p>
            <a:pPr algn="ctr" indent="0" marL="0">
              <a:buNone/>
            </a:pPr>
            <a:r>
              <a:rPr lang="en-US" sz="900" b="1" dirty="0">
                <a:solidFill>
                  <a:srgbClr val="F59E0B"/>
                </a:solidFill>
                <a:latin typeface="Consolas" pitchFamily="34" charset="0"/>
                <a:ea typeface="Consolas" pitchFamily="34" charset="-122"/>
                <a:cs typeface="Consolas" pitchFamily="34" charset="-120"/>
              </a:rPr>
              <a:t>08</a:t>
            </a:r>
            <a:endParaRPr lang="en-US" sz="900" dirty="0"/>
          </a:p>
        </p:txBody>
      </p:sp>
      <p:sp>
        <p:nvSpPr>
          <p:cNvPr id="75" name="Text 73"/>
          <p:cNvSpPr/>
          <p:nvPr/>
        </p:nvSpPr>
        <p:spPr>
          <a:xfrm>
            <a:off x="10355580" y="1810512"/>
            <a:ext cx="1325880" cy="502920"/>
          </a:xfrm>
          <a:prstGeom prst="rect">
            <a:avLst/>
          </a:prstGeom>
          <a:noFill/>
          <a:ln/>
        </p:spPr>
        <p:txBody>
          <a:bodyPr wrap="square" rtlCol="0" anchor="ctr"/>
          <a:lstStyle/>
          <a:p>
            <a:pPr algn="ctr" indent="0" marL="0">
              <a:lnSpc>
                <a:spcPct val="120000"/>
              </a:lnSpc>
              <a:buNone/>
            </a:pPr>
            <a:r>
              <a:rPr lang="en-US" sz="950" b="1" dirty="0">
                <a:solidFill>
                  <a:srgbClr val="FFFFFF"/>
                </a:solidFill>
              </a:rPr>
              <a:t>ODS &amp;</a:t>
            </a:r>
            <a:endParaRPr lang="en-US" sz="950" dirty="0"/>
          </a:p>
          <a:p>
            <a:pPr algn="ctr" indent="0" marL="0">
              <a:lnSpc>
                <a:spcPct val="120000"/>
              </a:lnSpc>
              <a:buNone/>
            </a:pPr>
            <a:r>
              <a:rPr lang="en-US" sz="950" b="1" dirty="0">
                <a:solidFill>
                  <a:srgbClr val="FFFFFF"/>
                </a:solidFill>
              </a:rPr>
              <a:t>DB Output</a:t>
            </a:r>
            <a:endParaRPr lang="en-US" sz="950" dirty="0"/>
          </a:p>
        </p:txBody>
      </p:sp>
      <p:sp>
        <p:nvSpPr>
          <p:cNvPr id="76" name="Text 74"/>
          <p:cNvSpPr/>
          <p:nvPr/>
        </p:nvSpPr>
        <p:spPr>
          <a:xfrm>
            <a:off x="10355580" y="2286000"/>
            <a:ext cx="1325880" cy="274320"/>
          </a:xfrm>
          <a:prstGeom prst="rect">
            <a:avLst/>
          </a:prstGeom>
          <a:noFill/>
          <a:ln/>
        </p:spPr>
        <p:txBody>
          <a:bodyPr wrap="square" rtlCol="0" anchor="ctr"/>
          <a:lstStyle/>
          <a:p>
            <a:pPr algn="ctr" indent="0" marL="0">
              <a:buNone/>
            </a:pPr>
            <a:r>
              <a:rPr lang="en-US" sz="800" dirty="0">
                <a:solidFill>
                  <a:srgbClr val="F59E0B"/>
                </a:solidFill>
              </a:rPr>
              <a:t>Reporting</a:t>
            </a:r>
            <a:endParaRPr lang="en-US" sz="800" dirty="0"/>
          </a:p>
        </p:txBody>
      </p:sp>
      <p:sp>
        <p:nvSpPr>
          <p:cNvPr id="77" name="Text 75"/>
          <p:cNvSpPr/>
          <p:nvPr/>
        </p:nvSpPr>
        <p:spPr>
          <a:xfrm>
            <a:off x="10401300" y="2560320"/>
            <a:ext cx="1234440" cy="365760"/>
          </a:xfrm>
          <a:prstGeom prst="rect">
            <a:avLst/>
          </a:prstGeom>
          <a:noFill/>
          <a:ln/>
        </p:spPr>
        <p:txBody>
          <a:bodyPr wrap="square" rtlCol="0" anchor="ctr"/>
          <a:lstStyle/>
          <a:p>
            <a:pPr algn="ctr" indent="0" marL="0">
              <a:lnSpc>
                <a:spcPct val="120000"/>
              </a:lnSpc>
              <a:buNone/>
            </a:pPr>
            <a:r>
              <a:rPr lang="en-US" sz="650" dirty="0">
                <a:solidFill>
                  <a:srgbClr val="64748B"/>
                </a:solidFill>
                <a:latin typeface="Consolas" pitchFamily="34" charset="0"/>
                <a:ea typeface="Consolas" pitchFamily="34" charset="-122"/>
                <a:cs typeface="Consolas" pitchFamily="34" charset="-120"/>
              </a:rPr>
              <a:t>optimizer_model_inferred_calculation</a:t>
            </a:r>
            <a:endParaRPr lang="en-US" sz="650" dirty="0"/>
          </a:p>
        </p:txBody>
      </p:sp>
      <p:sp>
        <p:nvSpPr>
          <p:cNvPr id="78" name="Text 76"/>
          <p:cNvSpPr/>
          <p:nvPr/>
        </p:nvSpPr>
        <p:spPr>
          <a:xfrm>
            <a:off x="10401300" y="2926080"/>
            <a:ext cx="1234440" cy="1051560"/>
          </a:xfrm>
          <a:prstGeom prst="rect">
            <a:avLst/>
          </a:prstGeom>
          <a:noFill/>
          <a:ln/>
        </p:spPr>
        <p:txBody>
          <a:bodyPr wrap="square" rtlCol="0" anchor="ctr"/>
          <a:lstStyle/>
          <a:p>
            <a:pPr indent="0" marL="0">
              <a:lnSpc>
                <a:spcPct val="130000"/>
              </a:lnSpc>
              <a:buNone/>
            </a:pPr>
            <a:r>
              <a:rPr lang="en-US" sz="700" dirty="0">
                <a:solidFill>
                  <a:srgbClr val="94A3B8"/>
                </a:solidFill>
              </a:rPr>
              <a:t>Generate ODS messages (cause-effect mapping). Compute SEU actual/optimum/baseline/gain/EnPI. Write output to model_output and model_alert_output tables.</a:t>
            </a:r>
            <a:endParaRPr lang="en-US" sz="700" dirty="0"/>
          </a:p>
        </p:txBody>
      </p:sp>
      <p:sp>
        <p:nvSpPr>
          <p:cNvPr id="79" name="Shape 77"/>
          <p:cNvSpPr/>
          <p:nvPr/>
        </p:nvSpPr>
        <p:spPr>
          <a:xfrm>
            <a:off x="274320" y="4160520"/>
            <a:ext cx="11612880" cy="640080"/>
          </a:xfrm>
          <a:prstGeom prst="rect">
            <a:avLst/>
          </a:prstGeom>
          <a:solidFill>
            <a:srgbClr val="132238"/>
          </a:solidFill>
          <a:ln w="12700">
            <a:solidFill>
              <a:srgbClr val="1E3A5F"/>
            </a:solidFill>
            <a:prstDash val="solid"/>
          </a:ln>
        </p:spPr>
      </p:sp>
      <p:sp>
        <p:nvSpPr>
          <p:cNvPr id="80" name="Text 78"/>
          <p:cNvSpPr/>
          <p:nvPr/>
        </p:nvSpPr>
        <p:spPr>
          <a:xfrm>
            <a:off x="411480" y="4224528"/>
            <a:ext cx="2194560" cy="228600"/>
          </a:xfrm>
          <a:prstGeom prst="rect">
            <a:avLst/>
          </a:prstGeom>
          <a:noFill/>
          <a:ln/>
        </p:spPr>
        <p:txBody>
          <a:bodyPr wrap="square" rtlCol="0" anchor="ctr"/>
          <a:lstStyle/>
          <a:p>
            <a:pPr indent="0" marL="0">
              <a:buNone/>
            </a:pPr>
            <a:r>
              <a:rPr lang="en-US" sz="1000" b="1" dirty="0">
                <a:solidFill>
                  <a:srgbClr val="00897B"/>
                </a:solidFill>
              </a:rPr>
              <a:t>Kedro Orchestration Layer:</a:t>
            </a:r>
            <a:endParaRPr lang="en-US" sz="1000" dirty="0"/>
          </a:p>
        </p:txBody>
      </p:sp>
      <p:sp>
        <p:nvSpPr>
          <p:cNvPr id="81" name="Text 79"/>
          <p:cNvSpPr/>
          <p:nvPr/>
        </p:nvSpPr>
        <p:spPr>
          <a:xfrm>
            <a:off x="2560320" y="4206240"/>
            <a:ext cx="9144000" cy="548640"/>
          </a:xfrm>
          <a:prstGeom prst="rect">
            <a:avLst/>
          </a:prstGeom>
          <a:noFill/>
          <a:ln/>
        </p:spPr>
        <p:txBody>
          <a:bodyPr wrap="square" rtlCol="0" anchor="ctr"/>
          <a:lstStyle/>
          <a:p>
            <a:pPr indent="0" marL="0">
              <a:lnSpc>
                <a:spcPct val="140000"/>
              </a:lnSpc>
              <a:buNone/>
            </a:pPr>
            <a:r>
              <a:rPr lang="en-US" sz="950" dirty="0">
                <a:solidFill>
                  <a:srgbClr val="94A3B8"/>
                </a:solidFill>
              </a:rPr>
              <a:t>Each stage = a Kedro micro-pipeline (nodes.py + pipeline.py). Stages are orchestrated by runner.py in the macro-pipeline. Conditional execution supported via global config (e.g., impute: False skips Stage 03). All stage inputs/outputs are Kedro DataSets — no direct DB calls inside nodes.</a:t>
            </a:r>
            <a:endParaRPr lang="en-US" sz="950" dirty="0"/>
          </a:p>
        </p:txBody>
      </p:sp>
      <p:sp>
        <p:nvSpPr>
          <p:cNvPr id="82" name="Text 80"/>
          <p:cNvSpPr/>
          <p:nvPr/>
        </p:nvSpPr>
        <p:spPr>
          <a:xfrm>
            <a:off x="274320" y="4919472"/>
            <a:ext cx="11612880" cy="201168"/>
          </a:xfrm>
          <a:prstGeom prst="rect">
            <a:avLst/>
          </a:prstGeom>
          <a:noFill/>
          <a:ln/>
        </p:spPr>
        <p:txBody>
          <a:bodyPr wrap="square" rtlCol="0" anchor="ctr"/>
          <a:lstStyle/>
          <a:p>
            <a:pPr algn="ctr" indent="0" marL="0">
              <a:buNone/>
            </a:pPr>
            <a:r>
              <a:rPr lang="en-US" sz="850" dirty="0">
                <a:solidFill>
                  <a:srgbClr val="64748B"/>
                </a:solidFill>
              </a:rPr>
              <a:t>RM Block names from EO Feature File  |  Each stage maps 1:1 to rm_blocks table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0" y="0"/>
            <a:ext cx="54864" cy="6858000"/>
          </a:xfrm>
          <a:prstGeom prst="rect">
            <a:avLst/>
          </a:prstGeom>
          <a:solidFill>
            <a:srgbClr val="10B981"/>
          </a:solidFill>
          <a:ln/>
        </p:spPr>
      </p:sp>
      <p:sp>
        <p:nvSpPr>
          <p:cNvPr id="4" name="Shape 2"/>
          <p:cNvSpPr/>
          <p:nvPr/>
        </p:nvSpPr>
        <p:spPr>
          <a:xfrm>
            <a:off x="274320" y="201168"/>
            <a:ext cx="384048" cy="384048"/>
          </a:xfrm>
          <a:prstGeom prst="roundRect">
            <a:avLst>
              <a:gd name="adj" fmla="val 14286"/>
            </a:avLst>
          </a:prstGeom>
          <a:solidFill>
            <a:srgbClr val="000000"/>
          </a:solidFill>
          <a:ln w="19050">
            <a:solidFill>
              <a:srgbClr val="10B981"/>
            </a:solidFill>
            <a:prstDash val="solid"/>
          </a:ln>
        </p:spPr>
      </p:sp>
      <p:sp>
        <p:nvSpPr>
          <p:cNvPr id="5" name="Text 3"/>
          <p:cNvSpPr/>
          <p:nvPr/>
        </p:nvSpPr>
        <p:spPr>
          <a:xfrm>
            <a:off x="274320" y="201168"/>
            <a:ext cx="384048" cy="384048"/>
          </a:xfrm>
          <a:prstGeom prst="rect">
            <a:avLst/>
          </a:prstGeom>
          <a:noFill/>
          <a:ln/>
        </p:spPr>
        <p:txBody>
          <a:bodyPr wrap="square" lIns="0" tIns="0" rIns="0" bIns="0" rtlCol="0" anchor="ctr"/>
          <a:lstStyle/>
          <a:p>
            <a:pPr algn="ctr" indent="0" marL="0">
              <a:buNone/>
            </a:pPr>
            <a:r>
              <a:rPr lang="en-US" sz="1300" b="1" dirty="0">
                <a:solidFill>
                  <a:srgbClr val="10B981"/>
                </a:solidFill>
                <a:latin typeface="Consolas" pitchFamily="34" charset="0"/>
                <a:ea typeface="Consolas" pitchFamily="34" charset="-122"/>
                <a:cs typeface="Consolas" pitchFamily="34" charset="-120"/>
              </a:rPr>
              <a:t>03</a:t>
            </a:r>
            <a:endParaRPr lang="en-US" sz="1300" dirty="0"/>
          </a:p>
        </p:txBody>
      </p:sp>
      <p:sp>
        <p:nvSpPr>
          <p:cNvPr id="6" name="Text 4"/>
          <p:cNvSpPr/>
          <p:nvPr/>
        </p:nvSpPr>
        <p:spPr>
          <a:xfrm>
            <a:off x="777240" y="201168"/>
            <a:ext cx="105156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Philosophy 1: Configuration-Driven  (Non-GenAI)</a:t>
            </a:r>
            <a:endParaRPr lang="en-US" sz="2200" dirty="0"/>
          </a:p>
        </p:txBody>
      </p:sp>
      <p:sp>
        <p:nvSpPr>
          <p:cNvPr id="7" name="Shape 5"/>
          <p:cNvSpPr/>
          <p:nvPr/>
        </p:nvSpPr>
        <p:spPr>
          <a:xfrm>
            <a:off x="274320" y="640080"/>
            <a:ext cx="11612880" cy="27432"/>
          </a:xfrm>
          <a:prstGeom prst="rect">
            <a:avLst/>
          </a:prstGeom>
          <a:solidFill>
            <a:srgbClr val="1E3A5F"/>
          </a:solidFill>
          <a:ln/>
        </p:spPr>
      </p:sp>
      <p:sp>
        <p:nvSpPr>
          <p:cNvPr id="8" name="Shape 6"/>
          <p:cNvSpPr/>
          <p:nvPr/>
        </p:nvSpPr>
        <p:spPr>
          <a:xfrm>
            <a:off x="274320" y="731520"/>
            <a:ext cx="11612880" cy="457200"/>
          </a:xfrm>
          <a:prstGeom prst="rect">
            <a:avLst/>
          </a:prstGeom>
          <a:solidFill>
            <a:srgbClr val="132238"/>
          </a:solidFill>
          <a:ln w="12700">
            <a:solidFill>
              <a:srgbClr val="1E3A5F"/>
            </a:solidFill>
            <a:prstDash val="solid"/>
          </a:ln>
        </p:spPr>
      </p:sp>
      <p:sp>
        <p:nvSpPr>
          <p:cNvPr id="9" name="Shape 7"/>
          <p:cNvSpPr/>
          <p:nvPr/>
        </p:nvSpPr>
        <p:spPr>
          <a:xfrm>
            <a:off x="274320" y="731520"/>
            <a:ext cx="45720" cy="457200"/>
          </a:xfrm>
          <a:prstGeom prst="rect">
            <a:avLst/>
          </a:prstGeom>
          <a:solidFill>
            <a:srgbClr val="10B981"/>
          </a:solidFill>
          <a:ln/>
        </p:spPr>
      </p:sp>
      <p:sp>
        <p:nvSpPr>
          <p:cNvPr id="10" name="Text 8"/>
          <p:cNvSpPr/>
          <p:nvPr/>
        </p:nvSpPr>
        <p:spPr>
          <a:xfrm>
            <a:off x="457200" y="777240"/>
            <a:ext cx="1005840" cy="320040"/>
          </a:xfrm>
          <a:prstGeom prst="rect">
            <a:avLst/>
          </a:prstGeom>
          <a:noFill/>
          <a:ln/>
        </p:spPr>
        <p:txBody>
          <a:bodyPr wrap="square" rtlCol="0" anchor="ctr"/>
          <a:lstStyle/>
          <a:p>
            <a:pPr indent="0" marL="0">
              <a:buNone/>
            </a:pPr>
            <a:r>
              <a:rPr lang="en-US" sz="1000" b="1" dirty="0">
                <a:solidFill>
                  <a:srgbClr val="10B981"/>
                </a:solidFill>
              </a:rPr>
              <a:t>Core Idea:</a:t>
            </a:r>
            <a:endParaRPr lang="en-US" sz="1000" dirty="0"/>
          </a:p>
        </p:txBody>
      </p:sp>
      <p:sp>
        <p:nvSpPr>
          <p:cNvPr id="11" name="Text 9"/>
          <p:cNvSpPr/>
          <p:nvPr/>
        </p:nvSpPr>
        <p:spPr>
          <a:xfrm>
            <a:off x="1463040" y="777240"/>
            <a:ext cx="10241280" cy="320040"/>
          </a:xfrm>
          <a:prstGeom prst="rect">
            <a:avLst/>
          </a:prstGeom>
          <a:noFill/>
          <a:ln/>
        </p:spPr>
        <p:txBody>
          <a:bodyPr wrap="square" rtlCol="0" anchor="ctr"/>
          <a:lstStyle/>
          <a:p>
            <a:pPr indent="0" marL="0">
              <a:buNone/>
            </a:pPr>
            <a:r>
              <a:rPr lang="en-US" sz="1000" dirty="0">
                <a:solidFill>
                  <a:srgbClr val="E2E8F0"/>
                </a:solidFill>
              </a:rPr>
              <a:t>Engineers provide PI tag lists via the EO feature file (Excel/DB). All tag types, formulas, constraints, variables, and objectives live in config tables — nothing hardcoded in Python. The Kedro pipeline executes deterministically.</a:t>
            </a:r>
            <a:endParaRPr lang="en-US" sz="1000" dirty="0"/>
          </a:p>
        </p:txBody>
      </p:sp>
      <p:sp>
        <p:nvSpPr>
          <p:cNvPr id="12" name="Shape 10"/>
          <p:cNvSpPr/>
          <p:nvPr/>
        </p:nvSpPr>
        <p:spPr>
          <a:xfrm>
            <a:off x="274320" y="1353312"/>
            <a:ext cx="5715000" cy="1344168"/>
          </a:xfrm>
          <a:prstGeom prst="rect">
            <a:avLst/>
          </a:prstGeom>
          <a:solidFill>
            <a:srgbClr val="162944"/>
          </a:solidFill>
          <a:ln w="12700">
            <a:solidFill>
              <a:srgbClr val="1E3A5F"/>
            </a:solidFill>
            <a:prstDash val="solid"/>
          </a:ln>
        </p:spPr>
      </p:sp>
      <p:sp>
        <p:nvSpPr>
          <p:cNvPr id="13" name="Shape 11"/>
          <p:cNvSpPr/>
          <p:nvPr/>
        </p:nvSpPr>
        <p:spPr>
          <a:xfrm>
            <a:off x="274320" y="1353312"/>
            <a:ext cx="45720" cy="1344168"/>
          </a:xfrm>
          <a:prstGeom prst="rect">
            <a:avLst/>
          </a:prstGeom>
          <a:solidFill>
            <a:srgbClr val="10B981"/>
          </a:solidFill>
          <a:ln/>
        </p:spPr>
      </p:sp>
      <p:sp>
        <p:nvSpPr>
          <p:cNvPr id="14" name="Shape 12"/>
          <p:cNvSpPr/>
          <p:nvPr/>
        </p:nvSpPr>
        <p:spPr>
          <a:xfrm>
            <a:off x="384048" y="1463040"/>
            <a:ext cx="347472" cy="347472"/>
          </a:xfrm>
          <a:prstGeom prst="ellipse">
            <a:avLst/>
          </a:prstGeom>
          <a:solidFill>
            <a:srgbClr val="000000"/>
          </a:solidFill>
          <a:ln w="19050">
            <a:solidFill>
              <a:srgbClr val="10B981"/>
            </a:solidFill>
            <a:prstDash val="solid"/>
          </a:ln>
        </p:spPr>
      </p:sp>
      <p:sp>
        <p:nvSpPr>
          <p:cNvPr id="15" name="Text 13"/>
          <p:cNvSpPr/>
          <p:nvPr/>
        </p:nvSpPr>
        <p:spPr>
          <a:xfrm>
            <a:off x="384048" y="1463040"/>
            <a:ext cx="347472" cy="347472"/>
          </a:xfrm>
          <a:prstGeom prst="rect">
            <a:avLst/>
          </a:prstGeom>
          <a:noFill/>
          <a:ln/>
        </p:spPr>
        <p:txBody>
          <a:bodyPr wrap="square" lIns="0" tIns="0" rIns="0" bIns="0" rtlCol="0" anchor="ctr"/>
          <a:lstStyle/>
          <a:p>
            <a:pPr algn="ctr" indent="0" marL="0">
              <a:buNone/>
            </a:pPr>
            <a:r>
              <a:rPr lang="en-US" sz="1200" b="1" dirty="0">
                <a:solidFill>
                  <a:srgbClr val="10B981"/>
                </a:solidFill>
              </a:rPr>
              <a:t>A</a:t>
            </a:r>
            <a:endParaRPr lang="en-US" sz="1200" dirty="0"/>
          </a:p>
        </p:txBody>
      </p:sp>
      <p:sp>
        <p:nvSpPr>
          <p:cNvPr id="16" name="Text 14"/>
          <p:cNvSpPr/>
          <p:nvPr/>
        </p:nvSpPr>
        <p:spPr>
          <a:xfrm>
            <a:off x="822960" y="1444752"/>
            <a:ext cx="4983480" cy="256032"/>
          </a:xfrm>
          <a:prstGeom prst="rect">
            <a:avLst/>
          </a:prstGeom>
          <a:noFill/>
          <a:ln/>
        </p:spPr>
        <p:txBody>
          <a:bodyPr wrap="square" rtlCol="0" anchor="ctr"/>
          <a:lstStyle/>
          <a:p>
            <a:pPr indent="0" marL="0">
              <a:buNone/>
            </a:pPr>
            <a:r>
              <a:rPr lang="en-US" sz="1100" b="1" dirty="0">
                <a:solidFill>
                  <a:srgbClr val="FFFFFF"/>
                </a:solidFill>
              </a:rPr>
              <a:t>Tag Configuration Input</a:t>
            </a:r>
            <a:endParaRPr lang="en-US" sz="1100" dirty="0"/>
          </a:p>
        </p:txBody>
      </p:sp>
      <p:sp>
        <p:nvSpPr>
          <p:cNvPr id="17" name="Text 15"/>
          <p:cNvSpPr/>
          <p:nvPr/>
        </p:nvSpPr>
        <p:spPr>
          <a:xfrm>
            <a:off x="822960" y="1682496"/>
            <a:ext cx="4983480" cy="201168"/>
          </a:xfrm>
          <a:prstGeom prst="rect">
            <a:avLst/>
          </a:prstGeom>
          <a:noFill/>
          <a:ln/>
        </p:spPr>
        <p:txBody>
          <a:bodyPr wrap="square" rtlCol="0" anchor="ctr"/>
          <a:lstStyle/>
          <a:p>
            <a:pPr indent="0" marL="0">
              <a:buNone/>
            </a:pPr>
            <a:r>
              <a:rPr lang="en-US" sz="850" dirty="0">
                <a:solidFill>
                  <a:srgbClr val="10B981"/>
                </a:solidFill>
                <a:latin typeface="Consolas" pitchFamily="34" charset="0"/>
                <a:ea typeface="Consolas" pitchFamily="34" charset="-122"/>
                <a:cs typeface="Consolas" pitchFamily="34" charset="-120"/>
              </a:rPr>
              <a:t>tag + inferred_details tables</a:t>
            </a:r>
            <a:endParaRPr lang="en-US" sz="850" dirty="0"/>
          </a:p>
        </p:txBody>
      </p:sp>
      <p:sp>
        <p:nvSpPr>
          <p:cNvPr id="18" name="Text 16"/>
          <p:cNvSpPr/>
          <p:nvPr/>
        </p:nvSpPr>
        <p:spPr>
          <a:xfrm>
            <a:off x="384048" y="1920240"/>
            <a:ext cx="5486400" cy="731520"/>
          </a:xfrm>
          <a:prstGeom prst="rect">
            <a:avLst/>
          </a:prstGeom>
          <a:noFill/>
          <a:ln/>
        </p:spPr>
        <p:txBody>
          <a:bodyPr wrap="square" rtlCol="0" anchor="ctr"/>
          <a:lstStyle/>
          <a:p>
            <a:pPr indent="0" marL="0">
              <a:lnSpc>
                <a:spcPct val="140000"/>
              </a:lnSpc>
              <a:buNone/>
            </a:pPr>
            <a:r>
              <a:rPr lang="en-US" sz="850" dirty="0">
                <a:solidFill>
                  <a:srgbClr val="94A3B8"/>
                </a:solidFill>
              </a:rPr>
              <a:t>Engineer populates EO feature file:</a:t>
            </a:r>
            <a:endParaRPr lang="en-US" sz="850" dirty="0"/>
          </a:p>
          <a:p>
            <a:pPr indent="0" marL="0">
              <a:lnSpc>
                <a:spcPct val="140000"/>
              </a:lnSpc>
              <a:buNone/>
            </a:pPr>
            <a:r>
              <a:rPr lang="en-US" sz="850" dirty="0">
                <a:solidFill>
                  <a:srgbClr val="94A3B8"/>
                </a:solidFill>
              </a:rPr>
              <a:t>• tag table: tag_name, pi_name, tag_type (pi/inferred/constant)</a:t>
            </a:r>
            <a:endParaRPr lang="en-US" sz="850" dirty="0"/>
          </a:p>
          <a:p>
            <a:pPr indent="0" marL="0">
              <a:lnSpc>
                <a:spcPct val="140000"/>
              </a:lnSpc>
              <a:buNone/>
            </a:pPr>
            <a:r>
              <a:rPr lang="en-US" sz="850" dirty="0">
                <a:solidFill>
                  <a:srgbClr val="94A3B8"/>
                </a:solidFill>
              </a:rPr>
              <a:t>• inferred_details: formula_expression using df.eval() syntax</a:t>
            </a:r>
            <a:endParaRPr lang="en-US" sz="850" dirty="0"/>
          </a:p>
          <a:p>
            <a:pPr indent="0" marL="0">
              <a:lnSpc>
                <a:spcPct val="140000"/>
              </a:lnSpc>
              <a:buNone/>
            </a:pPr>
            <a:r>
              <a:rPr lang="en-US" sz="850" dirty="0">
                <a:solidFill>
                  <a:srgbClr val="94A3B8"/>
                </a:solidFill>
              </a:rPr>
              <a:t>• model_tag: design_expression, polarity, flag_parameter, flag_ma</a:t>
            </a:r>
            <a:endParaRPr lang="en-US" sz="850" dirty="0"/>
          </a:p>
          <a:p>
            <a:pPr indent="0" marL="0">
              <a:lnSpc>
                <a:spcPct val="140000"/>
              </a:lnSpc>
              <a:buNone/>
            </a:pPr>
            <a:r>
              <a:rPr lang="en-US" sz="850" dirty="0">
                <a:solidFill>
                  <a:srgbClr val="94A3B8"/>
                </a:solidFill>
              </a:rPr>
              <a:t>Loaded via load_config_from_db(case_id) → injected as Kedro params.</a:t>
            </a:r>
            <a:endParaRPr lang="en-US" sz="850" dirty="0"/>
          </a:p>
        </p:txBody>
      </p:sp>
      <p:sp>
        <p:nvSpPr>
          <p:cNvPr id="19" name="Shape 17"/>
          <p:cNvSpPr/>
          <p:nvPr/>
        </p:nvSpPr>
        <p:spPr>
          <a:xfrm>
            <a:off x="274320" y="2862072"/>
            <a:ext cx="5715000" cy="1344168"/>
          </a:xfrm>
          <a:prstGeom prst="rect">
            <a:avLst/>
          </a:prstGeom>
          <a:solidFill>
            <a:srgbClr val="162944"/>
          </a:solidFill>
          <a:ln w="12700">
            <a:solidFill>
              <a:srgbClr val="1E3A5F"/>
            </a:solidFill>
            <a:prstDash val="solid"/>
          </a:ln>
        </p:spPr>
      </p:sp>
      <p:sp>
        <p:nvSpPr>
          <p:cNvPr id="20" name="Shape 18"/>
          <p:cNvSpPr/>
          <p:nvPr/>
        </p:nvSpPr>
        <p:spPr>
          <a:xfrm>
            <a:off x="274320" y="2862072"/>
            <a:ext cx="45720" cy="1344168"/>
          </a:xfrm>
          <a:prstGeom prst="rect">
            <a:avLst/>
          </a:prstGeom>
          <a:solidFill>
            <a:srgbClr val="00897B"/>
          </a:solidFill>
          <a:ln/>
        </p:spPr>
      </p:sp>
      <p:sp>
        <p:nvSpPr>
          <p:cNvPr id="21" name="Shape 19"/>
          <p:cNvSpPr/>
          <p:nvPr/>
        </p:nvSpPr>
        <p:spPr>
          <a:xfrm>
            <a:off x="384048" y="2971800"/>
            <a:ext cx="347472" cy="347472"/>
          </a:xfrm>
          <a:prstGeom prst="ellipse">
            <a:avLst/>
          </a:prstGeom>
          <a:solidFill>
            <a:srgbClr val="000000"/>
          </a:solidFill>
          <a:ln w="19050">
            <a:solidFill>
              <a:srgbClr val="00897B"/>
            </a:solidFill>
            <a:prstDash val="solid"/>
          </a:ln>
        </p:spPr>
      </p:sp>
      <p:sp>
        <p:nvSpPr>
          <p:cNvPr id="22" name="Text 20"/>
          <p:cNvSpPr/>
          <p:nvPr/>
        </p:nvSpPr>
        <p:spPr>
          <a:xfrm>
            <a:off x="384048" y="2971800"/>
            <a:ext cx="347472" cy="347472"/>
          </a:xfrm>
          <a:prstGeom prst="rect">
            <a:avLst/>
          </a:prstGeom>
          <a:noFill/>
          <a:ln/>
        </p:spPr>
        <p:txBody>
          <a:bodyPr wrap="square" lIns="0" tIns="0" rIns="0" bIns="0" rtlCol="0" anchor="ctr"/>
          <a:lstStyle/>
          <a:p>
            <a:pPr algn="ctr" indent="0" marL="0">
              <a:buNone/>
            </a:pPr>
            <a:r>
              <a:rPr lang="en-US" sz="1200" b="1" dirty="0">
                <a:solidFill>
                  <a:srgbClr val="00897B"/>
                </a:solidFill>
              </a:rPr>
              <a:t>B</a:t>
            </a:r>
            <a:endParaRPr lang="en-US" sz="1200" dirty="0"/>
          </a:p>
        </p:txBody>
      </p:sp>
      <p:sp>
        <p:nvSpPr>
          <p:cNvPr id="23" name="Text 21"/>
          <p:cNvSpPr/>
          <p:nvPr/>
        </p:nvSpPr>
        <p:spPr>
          <a:xfrm>
            <a:off x="822960" y="2953512"/>
            <a:ext cx="4983480" cy="256032"/>
          </a:xfrm>
          <a:prstGeom prst="rect">
            <a:avLst/>
          </a:prstGeom>
          <a:noFill/>
          <a:ln/>
        </p:spPr>
        <p:txBody>
          <a:bodyPr wrap="square" rtlCol="0" anchor="ctr"/>
          <a:lstStyle/>
          <a:p>
            <a:pPr indent="0" marL="0">
              <a:buNone/>
            </a:pPr>
            <a:r>
              <a:rPr lang="en-US" sz="1100" b="1" dirty="0">
                <a:solidFill>
                  <a:srgbClr val="FFFFFF"/>
                </a:solidFill>
              </a:rPr>
              <a:t>DAG-Based Formula Execution</a:t>
            </a:r>
            <a:endParaRPr lang="en-US" sz="1100" dirty="0"/>
          </a:p>
        </p:txBody>
      </p:sp>
      <p:sp>
        <p:nvSpPr>
          <p:cNvPr id="24" name="Text 22"/>
          <p:cNvSpPr/>
          <p:nvPr/>
        </p:nvSpPr>
        <p:spPr>
          <a:xfrm>
            <a:off x="822960" y="3191256"/>
            <a:ext cx="4983480" cy="201168"/>
          </a:xfrm>
          <a:prstGeom prst="rect">
            <a:avLst/>
          </a:prstGeom>
          <a:noFill/>
          <a:ln/>
        </p:spPr>
        <p:txBody>
          <a:bodyPr wrap="square" rtlCol="0" anchor="ctr"/>
          <a:lstStyle/>
          <a:p>
            <a:pPr indent="0" marL="0">
              <a:buNone/>
            </a:pPr>
            <a:r>
              <a:rPr lang="en-US" sz="850" dirty="0">
                <a:solidFill>
                  <a:srgbClr val="00897B"/>
                </a:solidFill>
                <a:latin typeface="Consolas" pitchFamily="34" charset="0"/>
                <a:ea typeface="Consolas" pitchFamily="34" charset="-122"/>
                <a:cs typeface="Consolas" pitchFamily="34" charset="-120"/>
              </a:rPr>
              <a:t>NetworkX topological sort + fsolve</a:t>
            </a:r>
            <a:endParaRPr lang="en-US" sz="850" dirty="0"/>
          </a:p>
        </p:txBody>
      </p:sp>
      <p:sp>
        <p:nvSpPr>
          <p:cNvPr id="25" name="Text 23"/>
          <p:cNvSpPr/>
          <p:nvPr/>
        </p:nvSpPr>
        <p:spPr>
          <a:xfrm>
            <a:off x="384048" y="3429000"/>
            <a:ext cx="5486400" cy="731520"/>
          </a:xfrm>
          <a:prstGeom prst="rect">
            <a:avLst/>
          </a:prstGeom>
          <a:noFill/>
          <a:ln/>
        </p:spPr>
        <p:txBody>
          <a:bodyPr wrap="square" rtlCol="0" anchor="ctr"/>
          <a:lstStyle/>
          <a:p>
            <a:pPr indent="0" marL="0">
              <a:lnSpc>
                <a:spcPct val="140000"/>
              </a:lnSpc>
              <a:buNone/>
            </a:pPr>
            <a:r>
              <a:rPr lang="en-US" sz="850" dirty="0">
                <a:solidFill>
                  <a:srgbClr val="94A3B8"/>
                </a:solidFill>
              </a:rPr>
              <a:t>1. Build dependency graph: parse [tag] references in formula expressions</a:t>
            </a:r>
            <a:endParaRPr lang="en-US" sz="850" dirty="0"/>
          </a:p>
          <a:p>
            <a:pPr indent="0" marL="0">
              <a:lnSpc>
                <a:spcPct val="140000"/>
              </a:lnSpc>
              <a:buNone/>
            </a:pPr>
            <a:r>
              <a:rPr lang="en-US" sz="850" dirty="0">
                <a:solidFill>
                  <a:srgbClr val="94A3B8"/>
                </a:solidFill>
              </a:rPr>
              <a:t>2. nx.is_directed_acyclic_graph(G) — raise exception on cycles</a:t>
            </a:r>
            <a:endParaRPr lang="en-US" sz="850" dirty="0"/>
          </a:p>
          <a:p>
            <a:pPr indent="0" marL="0">
              <a:lnSpc>
                <a:spcPct val="140000"/>
              </a:lnSpc>
              <a:buNone/>
            </a:pPr>
            <a:r>
              <a:rPr lang="en-US" sz="850" dirty="0">
                <a:solidFill>
                  <a:srgbClr val="94A3B8"/>
                </a:solidFill>
              </a:rPr>
              <a:t>3. nx.topological_sort(G) — auto-resolve execution order</a:t>
            </a:r>
            <a:endParaRPr lang="en-US" sz="850" dirty="0"/>
          </a:p>
          <a:p>
            <a:pPr indent="0" marL="0">
              <a:lnSpc>
                <a:spcPct val="140000"/>
              </a:lnSpc>
              <a:buNone/>
            </a:pPr>
            <a:r>
              <a:rPr lang="en-US" sz="850" dirty="0">
                <a:solidFill>
                  <a:srgbClr val="94A3B8"/>
                </a:solidFill>
              </a:rPr>
              <a:t>4. Circular refs flagged for fixed-point iteration block (scipy.fsolve)</a:t>
            </a:r>
            <a:endParaRPr lang="en-US" sz="850" dirty="0"/>
          </a:p>
          <a:p>
            <a:pPr indent="0" marL="0">
              <a:lnSpc>
                <a:spcPct val="140000"/>
              </a:lnSpc>
              <a:buNone/>
            </a:pPr>
            <a:r>
              <a:rPr lang="en-US" sz="850" dirty="0">
                <a:solidFill>
                  <a:srgbClr val="94A3B8"/>
                </a:solidFill>
              </a:rPr>
              <a:t>5. df.eval(formula) per tag in sorted order — zero manual ordering</a:t>
            </a:r>
            <a:endParaRPr lang="en-US" sz="850" dirty="0"/>
          </a:p>
        </p:txBody>
      </p:sp>
      <p:sp>
        <p:nvSpPr>
          <p:cNvPr id="26" name="Shape 24"/>
          <p:cNvSpPr/>
          <p:nvPr/>
        </p:nvSpPr>
        <p:spPr>
          <a:xfrm>
            <a:off x="274320" y="4370832"/>
            <a:ext cx="5715000" cy="1344168"/>
          </a:xfrm>
          <a:prstGeom prst="rect">
            <a:avLst/>
          </a:prstGeom>
          <a:solidFill>
            <a:srgbClr val="162944"/>
          </a:solidFill>
          <a:ln w="12700">
            <a:solidFill>
              <a:srgbClr val="1E3A5F"/>
            </a:solidFill>
            <a:prstDash val="solid"/>
          </a:ln>
        </p:spPr>
      </p:sp>
      <p:sp>
        <p:nvSpPr>
          <p:cNvPr id="27" name="Shape 25"/>
          <p:cNvSpPr/>
          <p:nvPr/>
        </p:nvSpPr>
        <p:spPr>
          <a:xfrm>
            <a:off x="274320" y="4370832"/>
            <a:ext cx="45720" cy="1344168"/>
          </a:xfrm>
          <a:prstGeom prst="rect">
            <a:avLst/>
          </a:prstGeom>
          <a:solidFill>
            <a:srgbClr val="00BCD4"/>
          </a:solidFill>
          <a:ln/>
        </p:spPr>
      </p:sp>
      <p:sp>
        <p:nvSpPr>
          <p:cNvPr id="28" name="Shape 26"/>
          <p:cNvSpPr/>
          <p:nvPr/>
        </p:nvSpPr>
        <p:spPr>
          <a:xfrm>
            <a:off x="384048" y="4480560"/>
            <a:ext cx="347472" cy="347472"/>
          </a:xfrm>
          <a:prstGeom prst="ellipse">
            <a:avLst/>
          </a:prstGeom>
          <a:solidFill>
            <a:srgbClr val="000000"/>
          </a:solidFill>
          <a:ln w="19050">
            <a:solidFill>
              <a:srgbClr val="00BCD4"/>
            </a:solidFill>
            <a:prstDash val="solid"/>
          </a:ln>
        </p:spPr>
      </p:sp>
      <p:sp>
        <p:nvSpPr>
          <p:cNvPr id="29" name="Text 27"/>
          <p:cNvSpPr/>
          <p:nvPr/>
        </p:nvSpPr>
        <p:spPr>
          <a:xfrm>
            <a:off x="384048" y="4480560"/>
            <a:ext cx="347472" cy="347472"/>
          </a:xfrm>
          <a:prstGeom prst="rect">
            <a:avLst/>
          </a:prstGeom>
          <a:noFill/>
          <a:ln/>
        </p:spPr>
        <p:txBody>
          <a:bodyPr wrap="square" lIns="0" tIns="0" rIns="0" bIns="0" rtlCol="0" anchor="ctr"/>
          <a:lstStyle/>
          <a:p>
            <a:pPr algn="ctr" indent="0" marL="0">
              <a:buNone/>
            </a:pPr>
            <a:r>
              <a:rPr lang="en-US" sz="1200" b="1" dirty="0">
                <a:solidFill>
                  <a:srgbClr val="00BCD4"/>
                </a:solidFill>
              </a:rPr>
              <a:t>C</a:t>
            </a:r>
            <a:endParaRPr lang="en-US" sz="1200" dirty="0"/>
          </a:p>
        </p:txBody>
      </p:sp>
      <p:sp>
        <p:nvSpPr>
          <p:cNvPr id="30" name="Text 28"/>
          <p:cNvSpPr/>
          <p:nvPr/>
        </p:nvSpPr>
        <p:spPr>
          <a:xfrm>
            <a:off x="822960" y="4462272"/>
            <a:ext cx="4983480" cy="256032"/>
          </a:xfrm>
          <a:prstGeom prst="rect">
            <a:avLst/>
          </a:prstGeom>
          <a:noFill/>
          <a:ln/>
        </p:spPr>
        <p:txBody>
          <a:bodyPr wrap="square" rtlCol="0" anchor="ctr"/>
          <a:lstStyle/>
          <a:p>
            <a:pPr indent="0" marL="0">
              <a:buNone/>
            </a:pPr>
            <a:r>
              <a:rPr lang="en-US" sz="1100" b="1" dirty="0">
                <a:solidFill>
                  <a:srgbClr val="FFFFFF"/>
                </a:solidFill>
              </a:rPr>
              <a:t>CCP Quality Check Engine</a:t>
            </a:r>
            <a:endParaRPr lang="en-US" sz="1100" dirty="0"/>
          </a:p>
        </p:txBody>
      </p:sp>
      <p:sp>
        <p:nvSpPr>
          <p:cNvPr id="31" name="Text 29"/>
          <p:cNvSpPr/>
          <p:nvPr/>
        </p:nvSpPr>
        <p:spPr>
          <a:xfrm>
            <a:off x="822960" y="4700016"/>
            <a:ext cx="4983480" cy="201168"/>
          </a:xfrm>
          <a:prstGeom prst="rect">
            <a:avLst/>
          </a:prstGeom>
          <a:noFill/>
          <a:ln/>
        </p:spPr>
        <p:txBody>
          <a:bodyPr wrap="square" rtlCol="0" anchor="ctr"/>
          <a:lstStyle/>
          <a:p>
            <a:pPr indent="0" marL="0">
              <a:buNone/>
            </a:pPr>
            <a:r>
              <a:rPr lang="en-US" sz="850" dirty="0">
                <a:solidFill>
                  <a:srgbClr val="00BCD4"/>
                </a:solidFill>
                <a:latin typeface="Consolas" pitchFamily="34" charset="0"/>
                <a:ea typeface="Consolas" pitchFamily="34" charset="-122"/>
                <a:cs typeface="Consolas" pitchFamily="34" charset="-120"/>
              </a:rPr>
              <a:t>case_configuration_portal per tag</a:t>
            </a:r>
            <a:endParaRPr lang="en-US" sz="850" dirty="0"/>
          </a:p>
        </p:txBody>
      </p:sp>
      <p:sp>
        <p:nvSpPr>
          <p:cNvPr id="32" name="Text 30"/>
          <p:cNvSpPr/>
          <p:nvPr/>
        </p:nvSpPr>
        <p:spPr>
          <a:xfrm>
            <a:off x="384048" y="4937760"/>
            <a:ext cx="5486400" cy="731520"/>
          </a:xfrm>
          <a:prstGeom prst="rect">
            <a:avLst/>
          </a:prstGeom>
          <a:noFill/>
          <a:ln/>
        </p:spPr>
        <p:txBody>
          <a:bodyPr wrap="square" rtlCol="0" anchor="ctr"/>
          <a:lstStyle/>
          <a:p>
            <a:pPr indent="0" marL="0">
              <a:lnSpc>
                <a:spcPct val="140000"/>
              </a:lnSpc>
              <a:buNone/>
            </a:pPr>
            <a:r>
              <a:rPr lang="en-US" sz="850" dirty="0">
                <a:solidFill>
                  <a:srgbClr val="94A3B8"/>
                </a:solidFill>
              </a:rPr>
              <a:t>Per tag, evaluate 4 switch types:</a:t>
            </a:r>
            <a:endParaRPr lang="en-US" sz="850" dirty="0"/>
          </a:p>
          <a:p>
            <a:pPr indent="0" marL="0">
              <a:lnSpc>
                <a:spcPct val="140000"/>
              </a:lnSpc>
              <a:buNone/>
            </a:pPr>
            <a:r>
              <a:rPr lang="en-US" sz="850" dirty="0">
                <a:solidFill>
                  <a:srgbClr val="94A3B8"/>
                </a:solidFill>
              </a:rPr>
              <a:t>• tag_nan_switch: skip/default_warning/default_no_warning</a:t>
            </a:r>
            <a:endParaRPr lang="en-US" sz="850" dirty="0"/>
          </a:p>
          <a:p>
            <a:pPr indent="0" marL="0">
              <a:lnSpc>
                <a:spcPct val="140000"/>
              </a:lnSpc>
              <a:buNone/>
            </a:pPr>
            <a:r>
              <a:rPr lang="en-US" sz="850" dirty="0">
                <a:solidFill>
                  <a:srgbClr val="94A3B8"/>
                </a:solidFill>
              </a:rPr>
              <a:t>• tag_stuck_switch: no_check/default_warning/value_warning</a:t>
            </a:r>
            <a:endParaRPr lang="en-US" sz="850" dirty="0"/>
          </a:p>
          <a:p>
            <a:pPr indent="0" marL="0">
              <a:lnSpc>
                <a:spcPct val="140000"/>
              </a:lnSpc>
              <a:buNone/>
            </a:pPr>
            <a:r>
              <a:rPr lang="en-US" sz="850" dirty="0">
                <a:solidFill>
                  <a:srgbClr val="94A3B8"/>
                </a:solidFill>
              </a:rPr>
              <a:t>• tag_out_of_bound_switch: no_check/skip/bound_warning/default</a:t>
            </a:r>
            <a:endParaRPr lang="en-US" sz="850" dirty="0"/>
          </a:p>
          <a:p>
            <a:pPr indent="0" marL="0">
              <a:lnSpc>
                <a:spcPct val="140000"/>
              </a:lnSpc>
              <a:buNone/>
            </a:pPr>
            <a:r>
              <a:rPr lang="en-US" sz="850" dirty="0">
                <a:solidFill>
                  <a:srgbClr val="94A3B8"/>
                </a:solidFill>
              </a:rPr>
              <a:t>• default_switch: default_warning/default_no_warning</a:t>
            </a:r>
            <a:endParaRPr lang="en-US" sz="850" dirty="0"/>
          </a:p>
          <a:p>
            <a:pPr indent="0" marL="0">
              <a:lnSpc>
                <a:spcPct val="140000"/>
              </a:lnSpc>
              <a:buNone/>
            </a:pPr>
            <a:r>
              <a:rPr lang="en-US" sz="850" dirty="0">
                <a:solidFill>
                  <a:srgbClr val="94A3B8"/>
                </a:solidFill>
              </a:rPr>
              <a:t>Overwrite bad tags with default_value before optimizer.</a:t>
            </a:r>
            <a:endParaRPr lang="en-US" sz="850" dirty="0"/>
          </a:p>
        </p:txBody>
      </p:sp>
      <p:sp>
        <p:nvSpPr>
          <p:cNvPr id="33" name="Shape 31"/>
          <p:cNvSpPr/>
          <p:nvPr/>
        </p:nvSpPr>
        <p:spPr>
          <a:xfrm>
            <a:off x="6263640" y="1353312"/>
            <a:ext cx="5715000" cy="1344168"/>
          </a:xfrm>
          <a:prstGeom prst="rect">
            <a:avLst/>
          </a:prstGeom>
          <a:solidFill>
            <a:srgbClr val="162944"/>
          </a:solidFill>
          <a:ln w="12700">
            <a:solidFill>
              <a:srgbClr val="1E3A5F"/>
            </a:solidFill>
            <a:prstDash val="solid"/>
          </a:ln>
        </p:spPr>
      </p:sp>
      <p:sp>
        <p:nvSpPr>
          <p:cNvPr id="34" name="Shape 32"/>
          <p:cNvSpPr/>
          <p:nvPr/>
        </p:nvSpPr>
        <p:spPr>
          <a:xfrm>
            <a:off x="6263640" y="1353312"/>
            <a:ext cx="45720" cy="1344168"/>
          </a:xfrm>
          <a:prstGeom prst="rect">
            <a:avLst/>
          </a:prstGeom>
          <a:solidFill>
            <a:srgbClr val="F59E0B"/>
          </a:solidFill>
          <a:ln/>
        </p:spPr>
      </p:sp>
      <p:sp>
        <p:nvSpPr>
          <p:cNvPr id="35" name="Shape 33"/>
          <p:cNvSpPr/>
          <p:nvPr/>
        </p:nvSpPr>
        <p:spPr>
          <a:xfrm>
            <a:off x="6373368" y="1463040"/>
            <a:ext cx="347472" cy="347472"/>
          </a:xfrm>
          <a:prstGeom prst="ellipse">
            <a:avLst/>
          </a:prstGeom>
          <a:solidFill>
            <a:srgbClr val="000000"/>
          </a:solidFill>
          <a:ln w="19050">
            <a:solidFill>
              <a:srgbClr val="F59E0B"/>
            </a:solidFill>
            <a:prstDash val="solid"/>
          </a:ln>
        </p:spPr>
      </p:sp>
      <p:sp>
        <p:nvSpPr>
          <p:cNvPr id="36" name="Text 34"/>
          <p:cNvSpPr/>
          <p:nvPr/>
        </p:nvSpPr>
        <p:spPr>
          <a:xfrm>
            <a:off x="6373368" y="1463040"/>
            <a:ext cx="347472" cy="347472"/>
          </a:xfrm>
          <a:prstGeom prst="rect">
            <a:avLst/>
          </a:prstGeom>
          <a:noFill/>
          <a:ln/>
        </p:spPr>
        <p:txBody>
          <a:bodyPr wrap="square" lIns="0" tIns="0" rIns="0" bIns="0" rtlCol="0" anchor="ctr"/>
          <a:lstStyle/>
          <a:p>
            <a:pPr algn="ctr" indent="0" marL="0">
              <a:buNone/>
            </a:pPr>
            <a:r>
              <a:rPr lang="en-US" sz="1200" b="1" dirty="0">
                <a:solidFill>
                  <a:srgbClr val="F59E0B"/>
                </a:solidFill>
              </a:rPr>
              <a:t>D</a:t>
            </a:r>
            <a:endParaRPr lang="en-US" sz="1200" dirty="0"/>
          </a:p>
        </p:txBody>
      </p:sp>
      <p:sp>
        <p:nvSpPr>
          <p:cNvPr id="37" name="Text 35"/>
          <p:cNvSpPr/>
          <p:nvPr/>
        </p:nvSpPr>
        <p:spPr>
          <a:xfrm>
            <a:off x="6812280" y="1444752"/>
            <a:ext cx="4983480" cy="256032"/>
          </a:xfrm>
          <a:prstGeom prst="rect">
            <a:avLst/>
          </a:prstGeom>
          <a:noFill/>
          <a:ln/>
        </p:spPr>
        <p:txBody>
          <a:bodyPr wrap="square" rtlCol="0" anchor="ctr"/>
          <a:lstStyle/>
          <a:p>
            <a:pPr indent="0" marL="0">
              <a:buNone/>
            </a:pPr>
            <a:r>
              <a:rPr lang="en-US" sz="1100" b="1" dirty="0">
                <a:solidFill>
                  <a:srgbClr val="FFFFFF"/>
                </a:solidFill>
              </a:rPr>
              <a:t>Variable &amp; Constraint Assembly</a:t>
            </a:r>
            <a:endParaRPr lang="en-US" sz="1100" dirty="0"/>
          </a:p>
        </p:txBody>
      </p:sp>
      <p:sp>
        <p:nvSpPr>
          <p:cNvPr id="38" name="Text 36"/>
          <p:cNvSpPr/>
          <p:nvPr/>
        </p:nvSpPr>
        <p:spPr>
          <a:xfrm>
            <a:off x="6812280" y="1682496"/>
            <a:ext cx="4983480" cy="201168"/>
          </a:xfrm>
          <a:prstGeom prst="rect">
            <a:avLst/>
          </a:prstGeom>
          <a:noFill/>
          <a:ln/>
        </p:spPr>
        <p:txBody>
          <a:bodyPr wrap="square" rtlCol="0" anchor="ctr"/>
          <a:lstStyle/>
          <a:p>
            <a:pPr indent="0" marL="0">
              <a:buNone/>
            </a:pPr>
            <a:r>
              <a:rPr lang="en-US" sz="850" dirty="0">
                <a:solidFill>
                  <a:srgbClr val="F59E0B"/>
                </a:solidFill>
                <a:latin typeface="Consolas" pitchFamily="34" charset="0"/>
                <a:ea typeface="Consolas" pitchFamily="34" charset="-122"/>
                <a:cs typeface="Consolas" pitchFamily="34" charset="-120"/>
              </a:rPr>
              <a:t>variables + constraints tables</a:t>
            </a:r>
            <a:endParaRPr lang="en-US" sz="850" dirty="0"/>
          </a:p>
        </p:txBody>
      </p:sp>
      <p:sp>
        <p:nvSpPr>
          <p:cNvPr id="39" name="Text 37"/>
          <p:cNvSpPr/>
          <p:nvPr/>
        </p:nvSpPr>
        <p:spPr>
          <a:xfrm>
            <a:off x="6373368" y="1920240"/>
            <a:ext cx="5486400" cy="731520"/>
          </a:xfrm>
          <a:prstGeom prst="rect">
            <a:avLst/>
          </a:prstGeom>
          <a:noFill/>
          <a:ln/>
        </p:spPr>
        <p:txBody>
          <a:bodyPr wrap="square" rtlCol="0" anchor="ctr"/>
          <a:lstStyle/>
          <a:p>
            <a:pPr indent="0" marL="0">
              <a:lnSpc>
                <a:spcPct val="140000"/>
              </a:lnSpc>
              <a:buNone/>
            </a:pPr>
            <a:r>
              <a:rPr lang="en-US" sz="850" dirty="0">
                <a:solidFill>
                  <a:srgbClr val="94A3B8"/>
                </a:solidFill>
              </a:rPr>
              <a:t>Variables: evaluate lower_bound_switch (value/expression), upper_bound_switch, initial_value_switch (actual/lower_bound/last_optimum) → GEKKO m.Var()</a:t>
            </a:r>
            <a:endParaRPr lang="en-US" sz="850" dirty="0"/>
          </a:p>
          <a:p>
            <a:pPr indent="0" marL="0">
              <a:lnSpc>
                <a:spcPct val="140000"/>
              </a:lnSpc>
              <a:buNone/>
            </a:pPr>
            <a:r>
              <a:rPr lang="en-US" sz="850" dirty="0">
                <a:solidFill>
                  <a:srgbClr val="94A3B8"/>
                </a:solidFill>
              </a:rPr>
              <a:t>Constraints: parse expression strings → m.Equation()</a:t>
            </a:r>
            <a:endParaRPr lang="en-US" sz="850" dirty="0"/>
          </a:p>
          <a:p>
            <a:pPr indent="0" marL="0">
              <a:lnSpc>
                <a:spcPct val="140000"/>
              </a:lnSpc>
              <a:buNone/>
            </a:pPr>
            <a:r>
              <a:rPr lang="en-US" sz="850" dirty="0">
                <a:solidFill>
                  <a:srgbClr val="94A3B8"/>
                </a:solidFill>
              </a:rPr>
              <a:t>Objective: load objective table (tag_name, direction=-1 for minimize) → m.Obj()</a:t>
            </a:r>
            <a:endParaRPr lang="en-US" sz="850" dirty="0"/>
          </a:p>
          <a:p>
            <a:pPr indent="0" marL="0">
              <a:lnSpc>
                <a:spcPct val="140000"/>
              </a:lnSpc>
              <a:buNone/>
            </a:pPr>
            <a:r>
              <a:rPr lang="en-US" sz="850" dirty="0">
                <a:solidFill>
                  <a:srgbClr val="94A3B8"/>
                </a:solidFill>
              </a:rPr>
              <a:t>All via df.query() / df.eval() — no hardcoded math.</a:t>
            </a:r>
            <a:endParaRPr lang="en-US" sz="850" dirty="0"/>
          </a:p>
        </p:txBody>
      </p:sp>
      <p:sp>
        <p:nvSpPr>
          <p:cNvPr id="40" name="Shape 38"/>
          <p:cNvSpPr/>
          <p:nvPr/>
        </p:nvSpPr>
        <p:spPr>
          <a:xfrm>
            <a:off x="6263640" y="2862072"/>
            <a:ext cx="5715000" cy="1344168"/>
          </a:xfrm>
          <a:prstGeom prst="rect">
            <a:avLst/>
          </a:prstGeom>
          <a:solidFill>
            <a:srgbClr val="162944"/>
          </a:solidFill>
          <a:ln w="12700">
            <a:solidFill>
              <a:srgbClr val="1E3A5F"/>
            </a:solidFill>
            <a:prstDash val="solid"/>
          </a:ln>
        </p:spPr>
      </p:sp>
      <p:sp>
        <p:nvSpPr>
          <p:cNvPr id="41" name="Shape 39"/>
          <p:cNvSpPr/>
          <p:nvPr/>
        </p:nvSpPr>
        <p:spPr>
          <a:xfrm>
            <a:off x="6263640" y="2862072"/>
            <a:ext cx="45720" cy="1344168"/>
          </a:xfrm>
          <a:prstGeom prst="rect">
            <a:avLst/>
          </a:prstGeom>
          <a:solidFill>
            <a:srgbClr val="E05A4F"/>
          </a:solidFill>
          <a:ln/>
        </p:spPr>
      </p:sp>
      <p:sp>
        <p:nvSpPr>
          <p:cNvPr id="42" name="Shape 40"/>
          <p:cNvSpPr/>
          <p:nvPr/>
        </p:nvSpPr>
        <p:spPr>
          <a:xfrm>
            <a:off x="6373368" y="2971800"/>
            <a:ext cx="347472" cy="347472"/>
          </a:xfrm>
          <a:prstGeom prst="ellipse">
            <a:avLst/>
          </a:prstGeom>
          <a:solidFill>
            <a:srgbClr val="000000"/>
          </a:solidFill>
          <a:ln w="19050">
            <a:solidFill>
              <a:srgbClr val="E05A4F"/>
            </a:solidFill>
            <a:prstDash val="solid"/>
          </a:ln>
        </p:spPr>
      </p:sp>
      <p:sp>
        <p:nvSpPr>
          <p:cNvPr id="43" name="Text 41"/>
          <p:cNvSpPr/>
          <p:nvPr/>
        </p:nvSpPr>
        <p:spPr>
          <a:xfrm>
            <a:off x="6373368" y="2971800"/>
            <a:ext cx="347472" cy="347472"/>
          </a:xfrm>
          <a:prstGeom prst="rect">
            <a:avLst/>
          </a:prstGeom>
          <a:noFill/>
          <a:ln/>
        </p:spPr>
        <p:txBody>
          <a:bodyPr wrap="square" lIns="0" tIns="0" rIns="0" bIns="0" rtlCol="0" anchor="ctr"/>
          <a:lstStyle/>
          <a:p>
            <a:pPr algn="ctr" indent="0" marL="0">
              <a:buNone/>
            </a:pPr>
            <a:r>
              <a:rPr lang="en-US" sz="1200" b="1" dirty="0">
                <a:solidFill>
                  <a:srgbClr val="E05A4F"/>
                </a:solidFill>
              </a:rPr>
              <a:t>E</a:t>
            </a:r>
            <a:endParaRPr lang="en-US" sz="1200" dirty="0"/>
          </a:p>
        </p:txBody>
      </p:sp>
      <p:sp>
        <p:nvSpPr>
          <p:cNvPr id="44" name="Text 42"/>
          <p:cNvSpPr/>
          <p:nvPr/>
        </p:nvSpPr>
        <p:spPr>
          <a:xfrm>
            <a:off x="6812280" y="2953512"/>
            <a:ext cx="4983480" cy="256032"/>
          </a:xfrm>
          <a:prstGeom prst="rect">
            <a:avLst/>
          </a:prstGeom>
          <a:noFill/>
          <a:ln/>
        </p:spPr>
        <p:txBody>
          <a:bodyPr wrap="square" rtlCol="0" anchor="ctr"/>
          <a:lstStyle/>
          <a:p>
            <a:pPr indent="0" marL="0">
              <a:buNone/>
            </a:pPr>
            <a:r>
              <a:rPr lang="en-US" sz="1100" b="1" dirty="0">
                <a:solidFill>
                  <a:srgbClr val="FFFFFF"/>
                </a:solidFill>
              </a:rPr>
              <a:t>ODS &amp; SEU Output</a:t>
            </a:r>
            <a:endParaRPr lang="en-US" sz="1100" dirty="0"/>
          </a:p>
        </p:txBody>
      </p:sp>
      <p:sp>
        <p:nvSpPr>
          <p:cNvPr id="45" name="Text 43"/>
          <p:cNvSpPr/>
          <p:nvPr/>
        </p:nvSpPr>
        <p:spPr>
          <a:xfrm>
            <a:off x="6812280" y="3191256"/>
            <a:ext cx="4983480" cy="201168"/>
          </a:xfrm>
          <a:prstGeom prst="rect">
            <a:avLst/>
          </a:prstGeom>
          <a:noFill/>
          <a:ln/>
        </p:spPr>
        <p:txBody>
          <a:bodyPr wrap="square" rtlCol="0" anchor="ctr"/>
          <a:lstStyle/>
          <a:p>
            <a:pPr indent="0" marL="0">
              <a:buNone/>
            </a:pPr>
            <a:r>
              <a:rPr lang="en-US" sz="850" dirty="0">
                <a:solidFill>
                  <a:srgbClr val="E05A4F"/>
                </a:solidFill>
                <a:latin typeface="Consolas" pitchFamily="34" charset="0"/>
                <a:ea typeface="Consolas" pitchFamily="34" charset="-122"/>
                <a:cs typeface="Consolas" pitchFamily="34" charset="-120"/>
              </a:rPr>
              <a:t>ods + seu_detail + effect + cause tables</a:t>
            </a:r>
            <a:endParaRPr lang="en-US" sz="850" dirty="0"/>
          </a:p>
        </p:txBody>
      </p:sp>
      <p:sp>
        <p:nvSpPr>
          <p:cNvPr id="46" name="Text 44"/>
          <p:cNvSpPr/>
          <p:nvPr/>
        </p:nvSpPr>
        <p:spPr>
          <a:xfrm>
            <a:off x="6373368" y="3429000"/>
            <a:ext cx="5486400" cy="731520"/>
          </a:xfrm>
          <a:prstGeom prst="rect">
            <a:avLst/>
          </a:prstGeom>
          <a:noFill/>
          <a:ln/>
        </p:spPr>
        <p:txBody>
          <a:bodyPr wrap="square" rtlCol="0" anchor="ctr"/>
          <a:lstStyle/>
          <a:p>
            <a:pPr indent="0" marL="0">
              <a:lnSpc>
                <a:spcPct val="140000"/>
              </a:lnSpc>
              <a:buNone/>
            </a:pPr>
            <a:r>
              <a:rPr lang="en-US" sz="850" dirty="0">
                <a:solidFill>
                  <a:srgbClr val="94A3B8"/>
                </a:solidFill>
              </a:rPr>
              <a:t>Post-optimizer:</a:t>
            </a:r>
            <a:endParaRPr lang="en-US" sz="850" dirty="0"/>
          </a:p>
          <a:p>
            <a:pPr indent="0" marL="0">
              <a:lnSpc>
                <a:spcPct val="140000"/>
              </a:lnSpc>
              <a:buNone/>
            </a:pPr>
            <a:r>
              <a:rPr lang="en-US" sz="850" dirty="0">
                <a:solidFill>
                  <a:srgbClr val="94A3B8"/>
                </a:solidFill>
              </a:rPr>
              <a:t>• Compute SEU: actual_duty, target_duty, gain_expression, enpi_expression per equipment</a:t>
            </a:r>
            <a:endParaRPr lang="en-US" sz="850" dirty="0"/>
          </a:p>
          <a:p>
            <a:pPr indent="0" marL="0">
              <a:lnSpc>
                <a:spcPct val="140000"/>
              </a:lnSpc>
              <a:buNone/>
            </a:pPr>
            <a:r>
              <a:rPr lang="en-US" sz="850" dirty="0">
                <a:solidFill>
                  <a:srgbClr val="94A3B8"/>
                </a:solidFill>
              </a:rPr>
              <a:t>• Evaluate cause expressions → trigger ODS messages with operator text</a:t>
            </a:r>
            <a:endParaRPr lang="en-US" sz="850" dirty="0"/>
          </a:p>
          <a:p>
            <a:pPr indent="0" marL="0">
              <a:lnSpc>
                <a:spcPct val="140000"/>
              </a:lnSpc>
              <a:buNone/>
            </a:pPr>
            <a:r>
              <a:rPr lang="en-US" sz="850" dirty="0">
                <a:solidFill>
                  <a:srgbClr val="94A3B8"/>
                </a:solidFill>
              </a:rPr>
              <a:t>• Map cause→effect via ods table</a:t>
            </a:r>
            <a:endParaRPr lang="en-US" sz="850" dirty="0"/>
          </a:p>
          <a:p>
            <a:pPr indent="0" marL="0">
              <a:lnSpc>
                <a:spcPct val="140000"/>
              </a:lnSpc>
              <a:buNone/>
            </a:pPr>
            <a:r>
              <a:rPr lang="en-US" sz="850" dirty="0">
                <a:solidFill>
                  <a:srgbClr val="94A3B8"/>
                </a:solidFill>
              </a:rPr>
              <a:t>• Write to model_output (actual/optimum/polarity/design) and model_alert_output</a:t>
            </a:r>
            <a:endParaRPr lang="en-US" sz="850" dirty="0"/>
          </a:p>
          <a:p>
            <a:pPr indent="0" marL="0">
              <a:lnSpc>
                <a:spcPct val="140000"/>
              </a:lnSpc>
              <a:buNone/>
            </a:pPr>
            <a:r>
              <a:rPr lang="en-US" sz="850" dirty="0">
                <a:solidFill>
                  <a:srgbClr val="94A3B8"/>
                </a:solidFill>
              </a:rPr>
              <a:t>• Push output PI tags via output_pi_mapping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0" y="0"/>
            <a:ext cx="54864" cy="6858000"/>
          </a:xfrm>
          <a:prstGeom prst="rect">
            <a:avLst/>
          </a:prstGeom>
          <a:solidFill>
            <a:srgbClr val="00BCD4"/>
          </a:solidFill>
          <a:ln/>
        </p:spPr>
      </p:sp>
      <p:sp>
        <p:nvSpPr>
          <p:cNvPr id="4" name="Shape 2"/>
          <p:cNvSpPr/>
          <p:nvPr/>
        </p:nvSpPr>
        <p:spPr>
          <a:xfrm>
            <a:off x="274320" y="201168"/>
            <a:ext cx="384048" cy="384048"/>
          </a:xfrm>
          <a:prstGeom prst="roundRect">
            <a:avLst>
              <a:gd name="adj" fmla="val 14286"/>
            </a:avLst>
          </a:prstGeom>
          <a:solidFill>
            <a:srgbClr val="000000"/>
          </a:solidFill>
          <a:ln w="19050">
            <a:solidFill>
              <a:srgbClr val="00BCD4"/>
            </a:solidFill>
            <a:prstDash val="solid"/>
          </a:ln>
        </p:spPr>
      </p:sp>
      <p:sp>
        <p:nvSpPr>
          <p:cNvPr id="5" name="Text 3"/>
          <p:cNvSpPr/>
          <p:nvPr/>
        </p:nvSpPr>
        <p:spPr>
          <a:xfrm>
            <a:off x="274320" y="201168"/>
            <a:ext cx="384048" cy="384048"/>
          </a:xfrm>
          <a:prstGeom prst="rect">
            <a:avLst/>
          </a:prstGeom>
          <a:noFill/>
          <a:ln/>
        </p:spPr>
        <p:txBody>
          <a:bodyPr wrap="square" lIns="0" tIns="0" rIns="0" bIns="0" rtlCol="0" anchor="ctr"/>
          <a:lstStyle/>
          <a:p>
            <a:pPr algn="ctr" indent="0" marL="0">
              <a:buNone/>
            </a:pPr>
            <a:r>
              <a:rPr lang="en-US" sz="1300" b="1" dirty="0">
                <a:solidFill>
                  <a:srgbClr val="00BCD4"/>
                </a:solidFill>
                <a:latin typeface="Consolas" pitchFamily="34" charset="0"/>
                <a:ea typeface="Consolas" pitchFamily="34" charset="-122"/>
                <a:cs typeface="Consolas" pitchFamily="34" charset="-120"/>
              </a:rPr>
              <a:t>04</a:t>
            </a:r>
            <a:endParaRPr lang="en-US" sz="1300" dirty="0"/>
          </a:p>
        </p:txBody>
      </p:sp>
      <p:sp>
        <p:nvSpPr>
          <p:cNvPr id="6" name="Text 4"/>
          <p:cNvSpPr/>
          <p:nvPr/>
        </p:nvSpPr>
        <p:spPr>
          <a:xfrm>
            <a:off x="777240" y="201168"/>
            <a:ext cx="105156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Philosophy 2: Gen AI-Powered  (Document-First Onboarding)</a:t>
            </a:r>
            <a:endParaRPr lang="en-US" sz="2200" dirty="0"/>
          </a:p>
        </p:txBody>
      </p:sp>
      <p:sp>
        <p:nvSpPr>
          <p:cNvPr id="7" name="Shape 5"/>
          <p:cNvSpPr/>
          <p:nvPr/>
        </p:nvSpPr>
        <p:spPr>
          <a:xfrm>
            <a:off x="274320" y="640080"/>
            <a:ext cx="11612880" cy="27432"/>
          </a:xfrm>
          <a:prstGeom prst="rect">
            <a:avLst/>
          </a:prstGeom>
          <a:solidFill>
            <a:srgbClr val="1E3A5F"/>
          </a:solidFill>
          <a:ln/>
        </p:spPr>
      </p:sp>
      <p:sp>
        <p:nvSpPr>
          <p:cNvPr id="8" name="Shape 6"/>
          <p:cNvSpPr/>
          <p:nvPr/>
        </p:nvSpPr>
        <p:spPr>
          <a:xfrm>
            <a:off x="274320" y="731520"/>
            <a:ext cx="11612880" cy="457200"/>
          </a:xfrm>
          <a:prstGeom prst="rect">
            <a:avLst/>
          </a:prstGeom>
          <a:solidFill>
            <a:srgbClr val="132238"/>
          </a:solidFill>
          <a:ln w="12700">
            <a:solidFill>
              <a:srgbClr val="1E3A5F"/>
            </a:solidFill>
            <a:prstDash val="solid"/>
          </a:ln>
        </p:spPr>
      </p:sp>
      <p:sp>
        <p:nvSpPr>
          <p:cNvPr id="9" name="Shape 7"/>
          <p:cNvSpPr/>
          <p:nvPr/>
        </p:nvSpPr>
        <p:spPr>
          <a:xfrm>
            <a:off x="274320" y="731520"/>
            <a:ext cx="45720" cy="457200"/>
          </a:xfrm>
          <a:prstGeom prst="rect">
            <a:avLst/>
          </a:prstGeom>
          <a:solidFill>
            <a:srgbClr val="00BCD4"/>
          </a:solidFill>
          <a:ln/>
        </p:spPr>
      </p:sp>
      <p:sp>
        <p:nvSpPr>
          <p:cNvPr id="10" name="Text 8"/>
          <p:cNvSpPr/>
          <p:nvPr/>
        </p:nvSpPr>
        <p:spPr>
          <a:xfrm>
            <a:off x="457200" y="777240"/>
            <a:ext cx="1005840" cy="320040"/>
          </a:xfrm>
          <a:prstGeom prst="rect">
            <a:avLst/>
          </a:prstGeom>
          <a:noFill/>
          <a:ln/>
        </p:spPr>
        <p:txBody>
          <a:bodyPr wrap="square" rtlCol="0" anchor="ctr"/>
          <a:lstStyle/>
          <a:p>
            <a:pPr indent="0" marL="0">
              <a:buNone/>
            </a:pPr>
            <a:r>
              <a:rPr lang="en-US" sz="1000" b="1" dirty="0">
                <a:solidFill>
                  <a:srgbClr val="00BCD4"/>
                </a:solidFill>
              </a:rPr>
              <a:t>Core Idea:</a:t>
            </a:r>
            <a:endParaRPr lang="en-US" sz="1000" dirty="0"/>
          </a:p>
        </p:txBody>
      </p:sp>
      <p:sp>
        <p:nvSpPr>
          <p:cNvPr id="11" name="Text 9"/>
          <p:cNvSpPr/>
          <p:nvPr/>
        </p:nvSpPr>
        <p:spPr>
          <a:xfrm>
            <a:off x="1463040" y="777240"/>
            <a:ext cx="10241280" cy="320040"/>
          </a:xfrm>
          <a:prstGeom prst="rect">
            <a:avLst/>
          </a:prstGeom>
          <a:noFill/>
          <a:ln/>
        </p:spPr>
        <p:txBody>
          <a:bodyPr wrap="square" rtlCol="0" anchor="ctr"/>
          <a:lstStyle/>
          <a:p>
            <a:pPr indent="0" marL="0">
              <a:buNone/>
            </a:pPr>
            <a:r>
              <a:rPr lang="en-US" sz="1000" dirty="0">
                <a:solidFill>
                  <a:srgbClr val="E2E8F0"/>
                </a:solidFill>
              </a:rPr>
              <a:t>Engineers upload P&amp;IDs, PFDs, and PI tag lists. A multimodal LLM (Claude / GPT-4o) extracts, classifies, and wires tags automatically. Human-in-the-loop gates validate before config enters production. Once approved, the same 8-stage Kedro pipeline runs identically.</a:t>
            </a:r>
            <a:endParaRPr lang="en-US" sz="1000" dirty="0"/>
          </a:p>
        </p:txBody>
      </p:sp>
      <p:sp>
        <p:nvSpPr>
          <p:cNvPr id="12" name="Shape 10"/>
          <p:cNvSpPr/>
          <p:nvPr/>
        </p:nvSpPr>
        <p:spPr>
          <a:xfrm>
            <a:off x="274320" y="1353312"/>
            <a:ext cx="3749040" cy="2286000"/>
          </a:xfrm>
          <a:prstGeom prst="rect">
            <a:avLst/>
          </a:prstGeom>
          <a:solidFill>
            <a:srgbClr val="162944"/>
          </a:solidFill>
          <a:ln w="12700">
            <a:solidFill>
              <a:srgbClr val="1E3A5F"/>
            </a:solidFill>
            <a:prstDash val="solid"/>
          </a:ln>
        </p:spPr>
      </p:sp>
      <p:sp>
        <p:nvSpPr>
          <p:cNvPr id="13" name="Shape 11"/>
          <p:cNvSpPr/>
          <p:nvPr/>
        </p:nvSpPr>
        <p:spPr>
          <a:xfrm>
            <a:off x="274320" y="1353312"/>
            <a:ext cx="3749040" cy="36576"/>
          </a:xfrm>
          <a:prstGeom prst="rect">
            <a:avLst/>
          </a:prstGeom>
          <a:solidFill>
            <a:srgbClr val="00BCD4"/>
          </a:solidFill>
          <a:ln/>
        </p:spPr>
      </p:sp>
      <p:sp>
        <p:nvSpPr>
          <p:cNvPr id="14" name="Text 12"/>
          <p:cNvSpPr/>
          <p:nvPr/>
        </p:nvSpPr>
        <p:spPr>
          <a:xfrm>
            <a:off x="274320" y="1426464"/>
            <a:ext cx="3749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274320" y="1947672"/>
            <a:ext cx="3749040" cy="411480"/>
          </a:xfrm>
          <a:prstGeom prst="rect">
            <a:avLst/>
          </a:prstGeom>
          <a:noFill/>
          <a:ln/>
        </p:spPr>
        <p:txBody>
          <a:bodyPr wrap="square" rtlCol="0" anchor="ctr"/>
          <a:lstStyle/>
          <a:p>
            <a:pPr algn="ctr" indent="0" marL="0">
              <a:lnSpc>
                <a:spcPct val="120000"/>
              </a:lnSpc>
              <a:buNone/>
            </a:pPr>
            <a:r>
              <a:rPr lang="en-US" sz="1100" b="1" dirty="0">
                <a:solidFill>
                  <a:srgbClr val="FFFFFF"/>
                </a:solidFill>
              </a:rPr>
              <a:t>Document Ingestion</a:t>
            </a:r>
            <a:endParaRPr lang="en-US" sz="1100" dirty="0"/>
          </a:p>
        </p:txBody>
      </p:sp>
      <p:sp>
        <p:nvSpPr>
          <p:cNvPr id="16" name="Text 14"/>
          <p:cNvSpPr/>
          <p:nvPr/>
        </p:nvSpPr>
        <p:spPr>
          <a:xfrm>
            <a:off x="384048" y="2359152"/>
            <a:ext cx="3529584" cy="1234440"/>
          </a:xfrm>
          <a:prstGeom prst="rect">
            <a:avLst/>
          </a:prstGeom>
          <a:noFill/>
          <a:ln/>
        </p:spPr>
        <p:txBody>
          <a:bodyPr wrap="square" rtlCol="0" anchor="ctr"/>
          <a:lstStyle/>
          <a:p>
            <a:pPr indent="0" marL="0">
              <a:lnSpc>
                <a:spcPct val="140000"/>
              </a:lnSpc>
              <a:buNone/>
            </a:pPr>
            <a:r>
              <a:rPr lang="en-US" sz="850" dirty="0">
                <a:solidFill>
                  <a:srgbClr val="94A3B8"/>
                </a:solidFill>
              </a:rPr>
              <a:t>Upload P&amp;ID diagrams, PFDs, PI tag sheets as PDF/image. Support: CAD exports, Visio/Lucidchart exports, scanned docs. Stored in document_store with case_id linkage.</a:t>
            </a:r>
            <a:endParaRPr lang="en-US" sz="850" dirty="0"/>
          </a:p>
        </p:txBody>
      </p:sp>
      <p:sp>
        <p:nvSpPr>
          <p:cNvPr id="17" name="Shape 15"/>
          <p:cNvSpPr/>
          <p:nvPr/>
        </p:nvSpPr>
        <p:spPr>
          <a:xfrm>
            <a:off x="4041648" y="2039112"/>
            <a:ext cx="182880" cy="228600"/>
          </a:xfrm>
          <a:prstGeom prst="rightArrow">
            <a:avLst/>
          </a:prstGeom>
          <a:solidFill>
            <a:srgbClr val="000000"/>
          </a:solidFill>
          <a:ln/>
        </p:spPr>
      </p:sp>
      <p:sp>
        <p:nvSpPr>
          <p:cNvPr id="18" name="Shape 16"/>
          <p:cNvSpPr/>
          <p:nvPr/>
        </p:nvSpPr>
        <p:spPr>
          <a:xfrm>
            <a:off x="4251960" y="1353312"/>
            <a:ext cx="3749040" cy="2286000"/>
          </a:xfrm>
          <a:prstGeom prst="rect">
            <a:avLst/>
          </a:prstGeom>
          <a:solidFill>
            <a:srgbClr val="162944"/>
          </a:solidFill>
          <a:ln w="12700">
            <a:solidFill>
              <a:srgbClr val="1E3A5F"/>
            </a:solidFill>
            <a:prstDash val="solid"/>
          </a:ln>
        </p:spPr>
      </p:sp>
      <p:sp>
        <p:nvSpPr>
          <p:cNvPr id="19" name="Shape 17"/>
          <p:cNvSpPr/>
          <p:nvPr/>
        </p:nvSpPr>
        <p:spPr>
          <a:xfrm>
            <a:off x="4251960" y="1353312"/>
            <a:ext cx="3749040" cy="36576"/>
          </a:xfrm>
          <a:prstGeom prst="rect">
            <a:avLst/>
          </a:prstGeom>
          <a:solidFill>
            <a:srgbClr val="6B46C1"/>
          </a:solidFill>
          <a:ln/>
        </p:spPr>
      </p:sp>
      <p:sp>
        <p:nvSpPr>
          <p:cNvPr id="20" name="Text 18"/>
          <p:cNvSpPr/>
          <p:nvPr/>
        </p:nvSpPr>
        <p:spPr>
          <a:xfrm>
            <a:off x="4251960" y="1426464"/>
            <a:ext cx="3749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1" name="Text 19"/>
          <p:cNvSpPr/>
          <p:nvPr/>
        </p:nvSpPr>
        <p:spPr>
          <a:xfrm>
            <a:off x="4251960" y="1947672"/>
            <a:ext cx="3749040" cy="411480"/>
          </a:xfrm>
          <a:prstGeom prst="rect">
            <a:avLst/>
          </a:prstGeom>
          <a:noFill/>
          <a:ln/>
        </p:spPr>
        <p:txBody>
          <a:bodyPr wrap="square" rtlCol="0" anchor="ctr"/>
          <a:lstStyle/>
          <a:p>
            <a:pPr algn="ctr" indent="0" marL="0">
              <a:lnSpc>
                <a:spcPct val="120000"/>
              </a:lnSpc>
              <a:buNone/>
            </a:pPr>
            <a:r>
              <a:rPr lang="en-US" sz="1100" b="1" dirty="0">
                <a:solidFill>
                  <a:srgbClr val="FFFFFF"/>
                </a:solidFill>
              </a:rPr>
              <a:t>LLM Tag Extraction</a:t>
            </a:r>
            <a:endParaRPr lang="en-US" sz="1100" dirty="0"/>
          </a:p>
        </p:txBody>
      </p:sp>
      <p:sp>
        <p:nvSpPr>
          <p:cNvPr id="22" name="Text 20"/>
          <p:cNvSpPr/>
          <p:nvPr/>
        </p:nvSpPr>
        <p:spPr>
          <a:xfrm>
            <a:off x="4361688" y="2359152"/>
            <a:ext cx="3529584" cy="1234440"/>
          </a:xfrm>
          <a:prstGeom prst="rect">
            <a:avLst/>
          </a:prstGeom>
          <a:noFill/>
          <a:ln/>
        </p:spPr>
        <p:txBody>
          <a:bodyPr wrap="square" rtlCol="0" anchor="ctr"/>
          <a:lstStyle/>
          <a:p>
            <a:pPr indent="0" marL="0">
              <a:lnSpc>
                <a:spcPct val="140000"/>
              </a:lnSpc>
              <a:buNone/>
            </a:pPr>
            <a:r>
              <a:rPr lang="en-US" sz="850" dirty="0">
                <a:solidFill>
                  <a:srgbClr val="94A3B8"/>
                </a:solidFill>
              </a:rPr>
              <a:t>Multimodal LLM vision parse:</a:t>
            </a:r>
            <a:endParaRPr lang="en-US" sz="850" dirty="0"/>
          </a:p>
          <a:p>
            <a:pPr indent="0" marL="0">
              <a:lnSpc>
                <a:spcPct val="140000"/>
              </a:lnSpc>
              <a:buNone/>
            </a:pPr>
            <a:r>
              <a:rPr lang="en-US" sz="850" dirty="0">
                <a:solidFill>
                  <a:srgbClr val="94A3B8"/>
                </a:solidFill>
              </a:rPr>
              <a:t>• Extract instrument tags (PT-101, FT-203, TI-007)</a:t>
            </a:r>
            <a:endParaRPr lang="en-US" sz="850" dirty="0"/>
          </a:p>
          <a:p>
            <a:pPr indent="0" marL="0">
              <a:lnSpc>
                <a:spcPct val="140000"/>
              </a:lnSpc>
              <a:buNone/>
            </a:pPr>
            <a:r>
              <a:rPr lang="en-US" sz="850" dirty="0">
                <a:solidFill>
                  <a:srgbClr val="94A3B8"/>
                </a:solidFill>
              </a:rPr>
              <a:t>• Classify: Temperature, Pressure, Flow, Level, Status</a:t>
            </a:r>
            <a:endParaRPr lang="en-US" sz="850" dirty="0"/>
          </a:p>
          <a:p>
            <a:pPr indent="0" marL="0">
              <a:lnSpc>
                <a:spcPct val="140000"/>
              </a:lnSpc>
              <a:buNone/>
            </a:pPr>
            <a:r>
              <a:rPr lang="en-US" sz="850" dirty="0">
                <a:solidFill>
                  <a:srgbClr val="94A3B8"/>
                </a:solidFill>
              </a:rPr>
              <a:t>• Map to equipment / process unit</a:t>
            </a:r>
            <a:endParaRPr lang="en-US" sz="850" dirty="0"/>
          </a:p>
          <a:p>
            <a:pPr indent="0" marL="0">
              <a:lnSpc>
                <a:spcPct val="140000"/>
              </a:lnSpc>
              <a:buNone/>
            </a:pPr>
            <a:r>
              <a:rPr lang="en-US" sz="850" dirty="0">
                <a:solidFill>
                  <a:srgbClr val="94A3B8"/>
                </a:solidFill>
              </a:rPr>
              <a:t>→ Populates tag table draft (pending review)</a:t>
            </a:r>
            <a:endParaRPr lang="en-US" sz="850" dirty="0"/>
          </a:p>
        </p:txBody>
      </p:sp>
      <p:sp>
        <p:nvSpPr>
          <p:cNvPr id="23" name="Shape 21"/>
          <p:cNvSpPr/>
          <p:nvPr/>
        </p:nvSpPr>
        <p:spPr>
          <a:xfrm>
            <a:off x="8019288" y="2039112"/>
            <a:ext cx="182880" cy="228600"/>
          </a:xfrm>
          <a:prstGeom prst="rightArrow">
            <a:avLst/>
          </a:prstGeom>
          <a:solidFill>
            <a:srgbClr val="000000"/>
          </a:solidFill>
          <a:ln/>
        </p:spPr>
      </p:sp>
      <p:sp>
        <p:nvSpPr>
          <p:cNvPr id="24" name="Shape 22"/>
          <p:cNvSpPr/>
          <p:nvPr/>
        </p:nvSpPr>
        <p:spPr>
          <a:xfrm>
            <a:off x="8229600" y="1353312"/>
            <a:ext cx="3749040" cy="2286000"/>
          </a:xfrm>
          <a:prstGeom prst="rect">
            <a:avLst/>
          </a:prstGeom>
          <a:solidFill>
            <a:srgbClr val="162944"/>
          </a:solidFill>
          <a:ln w="12700">
            <a:solidFill>
              <a:srgbClr val="1E3A5F"/>
            </a:solidFill>
            <a:prstDash val="solid"/>
          </a:ln>
        </p:spPr>
      </p:sp>
      <p:sp>
        <p:nvSpPr>
          <p:cNvPr id="25" name="Shape 23"/>
          <p:cNvSpPr/>
          <p:nvPr/>
        </p:nvSpPr>
        <p:spPr>
          <a:xfrm>
            <a:off x="8229600" y="1353312"/>
            <a:ext cx="3749040" cy="36576"/>
          </a:xfrm>
          <a:prstGeom prst="rect">
            <a:avLst/>
          </a:prstGeom>
          <a:solidFill>
            <a:srgbClr val="F59E0B"/>
          </a:solidFill>
          <a:ln/>
        </p:spPr>
      </p:sp>
      <p:sp>
        <p:nvSpPr>
          <p:cNvPr id="26" name="Text 24"/>
          <p:cNvSpPr/>
          <p:nvPr/>
        </p:nvSpPr>
        <p:spPr>
          <a:xfrm>
            <a:off x="8229600" y="1426464"/>
            <a:ext cx="3749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7" name="Text 25"/>
          <p:cNvSpPr/>
          <p:nvPr/>
        </p:nvSpPr>
        <p:spPr>
          <a:xfrm>
            <a:off x="8229600" y="1947672"/>
            <a:ext cx="3749040" cy="411480"/>
          </a:xfrm>
          <a:prstGeom prst="rect">
            <a:avLst/>
          </a:prstGeom>
          <a:noFill/>
          <a:ln/>
        </p:spPr>
        <p:txBody>
          <a:bodyPr wrap="square" rtlCol="0" anchor="ctr"/>
          <a:lstStyle/>
          <a:p>
            <a:pPr algn="ctr" indent="0" marL="0">
              <a:lnSpc>
                <a:spcPct val="120000"/>
              </a:lnSpc>
              <a:buNone/>
            </a:pPr>
            <a:r>
              <a:rPr lang="en-US" sz="1100" b="1" dirty="0">
                <a:solidFill>
                  <a:srgbClr val="FFFFFF"/>
                </a:solidFill>
              </a:rPr>
              <a:t>Auto Dependency</a:t>
            </a:r>
            <a:endParaRPr lang="en-US" sz="1100" dirty="0"/>
          </a:p>
          <a:p>
            <a:pPr algn="ctr" indent="0" marL="0">
              <a:lnSpc>
                <a:spcPct val="120000"/>
              </a:lnSpc>
              <a:buNone/>
            </a:pPr>
            <a:r>
              <a:rPr lang="en-US" sz="1100" b="1" dirty="0">
                <a:solidFill>
                  <a:srgbClr val="FFFFFF"/>
                </a:solidFill>
              </a:rPr>
              <a:t>Graph</a:t>
            </a:r>
            <a:endParaRPr lang="en-US" sz="1100" dirty="0"/>
          </a:p>
        </p:txBody>
      </p:sp>
      <p:sp>
        <p:nvSpPr>
          <p:cNvPr id="28" name="Text 26"/>
          <p:cNvSpPr/>
          <p:nvPr/>
        </p:nvSpPr>
        <p:spPr>
          <a:xfrm>
            <a:off x="8339328" y="2359152"/>
            <a:ext cx="3529584" cy="1234440"/>
          </a:xfrm>
          <a:prstGeom prst="rect">
            <a:avLst/>
          </a:prstGeom>
          <a:noFill/>
          <a:ln/>
        </p:spPr>
        <p:txBody>
          <a:bodyPr wrap="square" rtlCol="0" anchor="ctr"/>
          <a:lstStyle/>
          <a:p>
            <a:pPr indent="0" marL="0">
              <a:lnSpc>
                <a:spcPct val="140000"/>
              </a:lnSpc>
              <a:buNone/>
            </a:pPr>
            <a:r>
              <a:rPr lang="en-US" sz="850" dirty="0">
                <a:solidFill>
                  <a:srgbClr val="94A3B8"/>
                </a:solidFill>
              </a:rPr>
              <a:t>LLM infers process relationships from P&amp;ID topology. NetworkX DAG auto-constructed from extracted connections. No manual wiring. Circular ref detection automatic.</a:t>
            </a:r>
            <a:endParaRPr lang="en-US" sz="850" dirty="0"/>
          </a:p>
        </p:txBody>
      </p:sp>
      <p:sp>
        <p:nvSpPr>
          <p:cNvPr id="29" name="Shape 27"/>
          <p:cNvSpPr/>
          <p:nvPr/>
        </p:nvSpPr>
        <p:spPr>
          <a:xfrm>
            <a:off x="274320" y="3776472"/>
            <a:ext cx="3749040" cy="2286000"/>
          </a:xfrm>
          <a:prstGeom prst="rect">
            <a:avLst/>
          </a:prstGeom>
          <a:solidFill>
            <a:srgbClr val="162944"/>
          </a:solidFill>
          <a:ln w="12700">
            <a:solidFill>
              <a:srgbClr val="1E3A5F"/>
            </a:solidFill>
            <a:prstDash val="solid"/>
          </a:ln>
        </p:spPr>
      </p:sp>
      <p:sp>
        <p:nvSpPr>
          <p:cNvPr id="30" name="Shape 28"/>
          <p:cNvSpPr/>
          <p:nvPr/>
        </p:nvSpPr>
        <p:spPr>
          <a:xfrm>
            <a:off x="274320" y="3776472"/>
            <a:ext cx="3749040" cy="36576"/>
          </a:xfrm>
          <a:prstGeom prst="rect">
            <a:avLst/>
          </a:prstGeom>
          <a:solidFill>
            <a:srgbClr val="10B981"/>
          </a:solidFill>
          <a:ln/>
        </p:spPr>
      </p:sp>
      <p:sp>
        <p:nvSpPr>
          <p:cNvPr id="31" name="Text 29"/>
          <p:cNvSpPr/>
          <p:nvPr/>
        </p:nvSpPr>
        <p:spPr>
          <a:xfrm>
            <a:off x="274320" y="3849624"/>
            <a:ext cx="3749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2" name="Text 30"/>
          <p:cNvSpPr/>
          <p:nvPr/>
        </p:nvSpPr>
        <p:spPr>
          <a:xfrm>
            <a:off x="274320" y="4370832"/>
            <a:ext cx="3749040" cy="411480"/>
          </a:xfrm>
          <a:prstGeom prst="rect">
            <a:avLst/>
          </a:prstGeom>
          <a:noFill/>
          <a:ln/>
        </p:spPr>
        <p:txBody>
          <a:bodyPr wrap="square" rtlCol="0" anchor="ctr"/>
          <a:lstStyle/>
          <a:p>
            <a:pPr algn="ctr" indent="0" marL="0">
              <a:lnSpc>
                <a:spcPct val="120000"/>
              </a:lnSpc>
              <a:buNone/>
            </a:pPr>
            <a:r>
              <a:rPr lang="en-US" sz="1100" b="1" dirty="0">
                <a:solidFill>
                  <a:srgbClr val="FFFFFF"/>
                </a:solidFill>
              </a:rPr>
              <a:t>Formula Suggestion</a:t>
            </a:r>
            <a:endParaRPr lang="en-US" sz="1100" dirty="0"/>
          </a:p>
        </p:txBody>
      </p:sp>
      <p:sp>
        <p:nvSpPr>
          <p:cNvPr id="33" name="Text 31"/>
          <p:cNvSpPr/>
          <p:nvPr/>
        </p:nvSpPr>
        <p:spPr>
          <a:xfrm>
            <a:off x="384048" y="4782312"/>
            <a:ext cx="3529584" cy="1234440"/>
          </a:xfrm>
          <a:prstGeom prst="rect">
            <a:avLst/>
          </a:prstGeom>
          <a:noFill/>
          <a:ln/>
        </p:spPr>
        <p:txBody>
          <a:bodyPr wrap="square" rtlCol="0" anchor="ctr"/>
          <a:lstStyle/>
          <a:p>
            <a:pPr indent="0" marL="0">
              <a:lnSpc>
                <a:spcPct val="140000"/>
              </a:lnSpc>
              <a:buNone/>
            </a:pPr>
            <a:r>
              <a:rPr lang="en-US" sz="850" dirty="0">
                <a:solidFill>
                  <a:srgbClr val="94A3B8"/>
                </a:solidFill>
              </a:rPr>
              <a:t>Given raw PI tags + process context:</a:t>
            </a:r>
            <a:endParaRPr lang="en-US" sz="850" dirty="0"/>
          </a:p>
          <a:p>
            <a:pPr indent="0" marL="0">
              <a:lnSpc>
                <a:spcPct val="140000"/>
              </a:lnSpc>
              <a:buNone/>
            </a:pPr>
            <a:r>
              <a:rPr lang="en-US" sz="850" dirty="0">
                <a:solidFill>
                  <a:srgbClr val="94A3B8"/>
                </a:solidFill>
              </a:rPr>
              <a:t>LLM suggests inferred_details formulas.</a:t>
            </a:r>
            <a:endParaRPr lang="en-US" sz="850" dirty="0"/>
          </a:p>
          <a:p>
            <a:pPr indent="0" marL="0">
              <a:lnSpc>
                <a:spcPct val="140000"/>
              </a:lnSpc>
              <a:buNone/>
            </a:pPr>
            <a:r>
              <a:rPr lang="en-US" sz="850" dirty="0">
                <a:solidFill>
                  <a:srgbClr val="94A3B8"/>
                </a:solidFill>
              </a:rPr>
              <a:t>Example: efficiency = (T_out - T_in) / T_in</a:t>
            </a:r>
            <a:endParaRPr lang="en-US" sz="850" dirty="0"/>
          </a:p>
          <a:p>
            <a:pPr indent="0" marL="0">
              <a:lnSpc>
                <a:spcPct val="140000"/>
              </a:lnSpc>
              <a:buNone/>
            </a:pPr>
            <a:r>
              <a:rPr lang="en-US" sz="850" dirty="0">
                <a:solidFill>
                  <a:srgbClr val="94A3B8"/>
                </a:solidFill>
              </a:rPr>
              <a:t>→ Engineer reviews in approval UI before DB write.</a:t>
            </a:r>
            <a:endParaRPr lang="en-US" sz="850" dirty="0"/>
          </a:p>
        </p:txBody>
      </p:sp>
      <p:sp>
        <p:nvSpPr>
          <p:cNvPr id="34" name="Shape 32"/>
          <p:cNvSpPr/>
          <p:nvPr/>
        </p:nvSpPr>
        <p:spPr>
          <a:xfrm>
            <a:off x="4041648" y="4462272"/>
            <a:ext cx="182880" cy="228600"/>
          </a:xfrm>
          <a:prstGeom prst="rightArrow">
            <a:avLst/>
          </a:prstGeom>
          <a:solidFill>
            <a:srgbClr val="000000"/>
          </a:solidFill>
          <a:ln/>
        </p:spPr>
      </p:sp>
      <p:sp>
        <p:nvSpPr>
          <p:cNvPr id="35" name="Shape 33"/>
          <p:cNvSpPr/>
          <p:nvPr/>
        </p:nvSpPr>
        <p:spPr>
          <a:xfrm>
            <a:off x="4251960" y="3776472"/>
            <a:ext cx="3749040" cy="2286000"/>
          </a:xfrm>
          <a:prstGeom prst="rect">
            <a:avLst/>
          </a:prstGeom>
          <a:solidFill>
            <a:srgbClr val="162944"/>
          </a:solidFill>
          <a:ln w="12700">
            <a:solidFill>
              <a:srgbClr val="1E3A5F"/>
            </a:solidFill>
            <a:prstDash val="solid"/>
          </a:ln>
        </p:spPr>
      </p:sp>
      <p:sp>
        <p:nvSpPr>
          <p:cNvPr id="36" name="Shape 34"/>
          <p:cNvSpPr/>
          <p:nvPr/>
        </p:nvSpPr>
        <p:spPr>
          <a:xfrm>
            <a:off x="4251960" y="3776472"/>
            <a:ext cx="3749040" cy="36576"/>
          </a:xfrm>
          <a:prstGeom prst="rect">
            <a:avLst/>
          </a:prstGeom>
          <a:solidFill>
            <a:srgbClr val="E05A4F"/>
          </a:solidFill>
          <a:ln/>
        </p:spPr>
      </p:sp>
      <p:sp>
        <p:nvSpPr>
          <p:cNvPr id="37" name="Text 35"/>
          <p:cNvSpPr/>
          <p:nvPr/>
        </p:nvSpPr>
        <p:spPr>
          <a:xfrm>
            <a:off x="4251960" y="3849624"/>
            <a:ext cx="3749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8" name="Text 36"/>
          <p:cNvSpPr/>
          <p:nvPr/>
        </p:nvSpPr>
        <p:spPr>
          <a:xfrm>
            <a:off x="4251960" y="4370832"/>
            <a:ext cx="3749040" cy="411480"/>
          </a:xfrm>
          <a:prstGeom prst="rect">
            <a:avLst/>
          </a:prstGeom>
          <a:noFill/>
          <a:ln/>
        </p:spPr>
        <p:txBody>
          <a:bodyPr wrap="square" rtlCol="0" anchor="ctr"/>
          <a:lstStyle/>
          <a:p>
            <a:pPr algn="ctr" indent="0" marL="0">
              <a:lnSpc>
                <a:spcPct val="120000"/>
              </a:lnSpc>
              <a:buNone/>
            </a:pPr>
            <a:r>
              <a:rPr lang="en-US" sz="1100" b="1" dirty="0">
                <a:solidFill>
                  <a:srgbClr val="FFFFFF"/>
                </a:solidFill>
              </a:rPr>
              <a:t>Human Review Gate</a:t>
            </a:r>
            <a:endParaRPr lang="en-US" sz="1100" dirty="0"/>
          </a:p>
        </p:txBody>
      </p:sp>
      <p:sp>
        <p:nvSpPr>
          <p:cNvPr id="39" name="Text 37"/>
          <p:cNvSpPr/>
          <p:nvPr/>
        </p:nvSpPr>
        <p:spPr>
          <a:xfrm>
            <a:off x="4361688" y="4782312"/>
            <a:ext cx="3529584" cy="1234440"/>
          </a:xfrm>
          <a:prstGeom prst="rect">
            <a:avLst/>
          </a:prstGeom>
          <a:noFill/>
          <a:ln/>
        </p:spPr>
        <p:txBody>
          <a:bodyPr wrap="square" rtlCol="0" anchor="ctr"/>
          <a:lstStyle/>
          <a:p>
            <a:pPr indent="0" marL="0">
              <a:lnSpc>
                <a:spcPct val="140000"/>
              </a:lnSpc>
              <a:buNone/>
            </a:pPr>
            <a:r>
              <a:rPr lang="en-US" sz="850" dirty="0">
                <a:solidFill>
                  <a:srgbClr val="94A3B8"/>
                </a:solidFill>
              </a:rPr>
              <a:t>Approval workflow UI:</a:t>
            </a:r>
            <a:endParaRPr lang="en-US" sz="850" dirty="0"/>
          </a:p>
          <a:p>
            <a:pPr indent="0" marL="0">
              <a:lnSpc>
                <a:spcPct val="140000"/>
              </a:lnSpc>
              <a:buNone/>
            </a:pPr>
            <a:r>
              <a:rPr lang="en-US" sz="850" dirty="0">
                <a:solidFill>
                  <a:srgbClr val="94A3B8"/>
                </a:solidFill>
              </a:rPr>
              <a:t>• Show extracted tags side-by-side with source diagram</a:t>
            </a:r>
            <a:endParaRPr lang="en-US" sz="850" dirty="0"/>
          </a:p>
          <a:p>
            <a:pPr indent="0" marL="0">
              <a:lnSpc>
                <a:spcPct val="140000"/>
              </a:lnSpc>
              <a:buNone/>
            </a:pPr>
            <a:r>
              <a:rPr lang="en-US" sz="850" dirty="0">
                <a:solidFill>
                  <a:srgbClr val="94A3B8"/>
                </a:solidFill>
              </a:rPr>
              <a:t>• Accept / Reject / Edit each tag and formula</a:t>
            </a:r>
            <a:endParaRPr lang="en-US" sz="850" dirty="0"/>
          </a:p>
          <a:p>
            <a:pPr indent="0" marL="0">
              <a:lnSpc>
                <a:spcPct val="140000"/>
              </a:lnSpc>
              <a:buNone/>
            </a:pPr>
            <a:r>
              <a:rPr lang="en-US" sz="850" dirty="0">
                <a:solidFill>
                  <a:srgbClr val="94A3B8"/>
                </a:solidFill>
              </a:rPr>
              <a:t>• Approved → written to EO config tables</a:t>
            </a:r>
            <a:endParaRPr lang="en-US" sz="850" dirty="0"/>
          </a:p>
          <a:p>
            <a:pPr indent="0" marL="0">
              <a:lnSpc>
                <a:spcPct val="140000"/>
              </a:lnSpc>
              <a:buNone/>
            </a:pPr>
            <a:r>
              <a:rPr lang="en-US" sz="850" dirty="0">
                <a:solidFill>
                  <a:srgbClr val="94A3B8"/>
                </a:solidFill>
              </a:rPr>
              <a:t>• Rejected → flagged for manual entry</a:t>
            </a:r>
            <a:endParaRPr lang="en-US" sz="850" dirty="0"/>
          </a:p>
        </p:txBody>
      </p:sp>
      <p:sp>
        <p:nvSpPr>
          <p:cNvPr id="40" name="Shape 38"/>
          <p:cNvSpPr/>
          <p:nvPr/>
        </p:nvSpPr>
        <p:spPr>
          <a:xfrm>
            <a:off x="8019288" y="4462272"/>
            <a:ext cx="182880" cy="228600"/>
          </a:xfrm>
          <a:prstGeom prst="rightArrow">
            <a:avLst/>
          </a:prstGeom>
          <a:solidFill>
            <a:srgbClr val="000000"/>
          </a:solidFill>
          <a:ln/>
        </p:spPr>
      </p:sp>
      <p:sp>
        <p:nvSpPr>
          <p:cNvPr id="41" name="Shape 39"/>
          <p:cNvSpPr/>
          <p:nvPr/>
        </p:nvSpPr>
        <p:spPr>
          <a:xfrm>
            <a:off x="8229600" y="3776472"/>
            <a:ext cx="3749040" cy="2286000"/>
          </a:xfrm>
          <a:prstGeom prst="rect">
            <a:avLst/>
          </a:prstGeom>
          <a:solidFill>
            <a:srgbClr val="162944"/>
          </a:solidFill>
          <a:ln w="12700">
            <a:solidFill>
              <a:srgbClr val="1E3A5F"/>
            </a:solidFill>
            <a:prstDash val="solid"/>
          </a:ln>
        </p:spPr>
      </p:sp>
      <p:sp>
        <p:nvSpPr>
          <p:cNvPr id="42" name="Shape 40"/>
          <p:cNvSpPr/>
          <p:nvPr/>
        </p:nvSpPr>
        <p:spPr>
          <a:xfrm>
            <a:off x="8229600" y="3776472"/>
            <a:ext cx="3749040" cy="36576"/>
          </a:xfrm>
          <a:prstGeom prst="rect">
            <a:avLst/>
          </a:prstGeom>
          <a:solidFill>
            <a:srgbClr val="00897B"/>
          </a:solidFill>
          <a:ln/>
        </p:spPr>
      </p:sp>
      <p:sp>
        <p:nvSpPr>
          <p:cNvPr id="43" name="Text 41"/>
          <p:cNvSpPr/>
          <p:nvPr/>
        </p:nvSpPr>
        <p:spPr>
          <a:xfrm>
            <a:off x="8229600" y="3849624"/>
            <a:ext cx="3749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44" name="Text 42"/>
          <p:cNvSpPr/>
          <p:nvPr/>
        </p:nvSpPr>
        <p:spPr>
          <a:xfrm>
            <a:off x="8229600" y="4370832"/>
            <a:ext cx="3749040" cy="411480"/>
          </a:xfrm>
          <a:prstGeom prst="rect">
            <a:avLst/>
          </a:prstGeom>
          <a:noFill/>
          <a:ln/>
        </p:spPr>
        <p:txBody>
          <a:bodyPr wrap="square" rtlCol="0" anchor="ctr"/>
          <a:lstStyle/>
          <a:p>
            <a:pPr algn="ctr" indent="0" marL="0">
              <a:lnSpc>
                <a:spcPct val="120000"/>
              </a:lnSpc>
              <a:buNone/>
            </a:pPr>
            <a:r>
              <a:rPr lang="en-US" sz="1100" b="1" dirty="0">
                <a:solidFill>
                  <a:srgbClr val="FFFFFF"/>
                </a:solidFill>
              </a:rPr>
              <a:t>Same 8-Stage</a:t>
            </a:r>
            <a:endParaRPr lang="en-US" sz="1100" dirty="0"/>
          </a:p>
          <a:p>
            <a:pPr algn="ctr" indent="0" marL="0">
              <a:lnSpc>
                <a:spcPct val="120000"/>
              </a:lnSpc>
              <a:buNone/>
            </a:pPr>
            <a:r>
              <a:rPr lang="en-US" sz="1100" b="1" dirty="0">
                <a:solidFill>
                  <a:srgbClr val="FFFFFF"/>
                </a:solidFill>
              </a:rPr>
              <a:t>Pipeline Executes</a:t>
            </a:r>
            <a:endParaRPr lang="en-US" sz="1100" dirty="0"/>
          </a:p>
        </p:txBody>
      </p:sp>
      <p:sp>
        <p:nvSpPr>
          <p:cNvPr id="45" name="Text 43"/>
          <p:cNvSpPr/>
          <p:nvPr/>
        </p:nvSpPr>
        <p:spPr>
          <a:xfrm>
            <a:off x="8339328" y="4782312"/>
            <a:ext cx="3529584" cy="1234440"/>
          </a:xfrm>
          <a:prstGeom prst="rect">
            <a:avLst/>
          </a:prstGeom>
          <a:noFill/>
          <a:ln/>
        </p:spPr>
        <p:txBody>
          <a:bodyPr wrap="square" rtlCol="0" anchor="ctr"/>
          <a:lstStyle/>
          <a:p>
            <a:pPr indent="0" marL="0">
              <a:lnSpc>
                <a:spcPct val="140000"/>
              </a:lnSpc>
              <a:buNone/>
            </a:pPr>
            <a:r>
              <a:rPr lang="en-US" sz="850" dirty="0">
                <a:solidFill>
                  <a:srgbClr val="94A3B8"/>
                </a:solidFill>
              </a:rPr>
              <a:t>Once config tables are populated (same schema as Philosophy 1), the identical Kedro macro-pipeline runs. GenAI is only in the onboarding layer — core optimization logic is identical.</a:t>
            </a:r>
            <a:endParaRPr lang="en-US" sz="850" dirty="0"/>
          </a:p>
        </p:txBody>
      </p:sp>
      <p:sp>
        <p:nvSpPr>
          <p:cNvPr id="46" name="Text 44"/>
          <p:cNvSpPr/>
          <p:nvPr/>
        </p:nvSpPr>
        <p:spPr>
          <a:xfrm>
            <a:off x="274320" y="6400800"/>
            <a:ext cx="11612880" cy="274320"/>
          </a:xfrm>
          <a:prstGeom prst="rect">
            <a:avLst/>
          </a:prstGeom>
          <a:noFill/>
          <a:ln/>
        </p:spPr>
        <p:txBody>
          <a:bodyPr wrap="square" rtlCol="0" anchor="ctr"/>
          <a:lstStyle/>
          <a:p>
            <a:pPr algn="ctr" indent="0" marL="0">
              <a:buNone/>
            </a:pPr>
            <a:r>
              <a:rPr lang="en-US" sz="900" dirty="0">
                <a:solidFill>
                  <a:srgbClr val="F59E0B"/>
                </a:solidFill>
              </a:rPr>
              <a:t>★  Human review gates are non-negotiable before any LLM-extracted config enters the optimizer. Never trust raw LLM output without engineer sign-off.</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274320" y="201168"/>
            <a:ext cx="384048" cy="384048"/>
          </a:xfrm>
          <a:prstGeom prst="roundRect">
            <a:avLst>
              <a:gd name="adj" fmla="val 14286"/>
            </a:avLst>
          </a:prstGeom>
          <a:solidFill>
            <a:srgbClr val="000000"/>
          </a:solidFill>
          <a:ln w="19050">
            <a:solidFill>
              <a:srgbClr val="F59E0B"/>
            </a:solidFill>
            <a:prstDash val="solid"/>
          </a:ln>
        </p:spPr>
      </p:sp>
      <p:sp>
        <p:nvSpPr>
          <p:cNvPr id="4" name="Text 2"/>
          <p:cNvSpPr/>
          <p:nvPr/>
        </p:nvSpPr>
        <p:spPr>
          <a:xfrm>
            <a:off x="274320" y="201168"/>
            <a:ext cx="384048" cy="384048"/>
          </a:xfrm>
          <a:prstGeom prst="rect">
            <a:avLst/>
          </a:prstGeom>
          <a:noFill/>
          <a:ln/>
        </p:spPr>
        <p:txBody>
          <a:bodyPr wrap="square" lIns="0" tIns="0" rIns="0" bIns="0" rtlCol="0" anchor="ctr"/>
          <a:lstStyle/>
          <a:p>
            <a:pPr algn="ctr" indent="0" marL="0">
              <a:buNone/>
            </a:pPr>
            <a:r>
              <a:rPr lang="en-US" sz="1300" b="1" dirty="0">
                <a:solidFill>
                  <a:srgbClr val="F59E0B"/>
                </a:solidFill>
                <a:latin typeface="Consolas" pitchFamily="34" charset="0"/>
                <a:ea typeface="Consolas" pitchFamily="34" charset="-122"/>
                <a:cs typeface="Consolas" pitchFamily="34" charset="-120"/>
              </a:rPr>
              <a:t>05</a:t>
            </a:r>
            <a:endParaRPr lang="en-US" sz="1300" dirty="0"/>
          </a:p>
        </p:txBody>
      </p:sp>
      <p:sp>
        <p:nvSpPr>
          <p:cNvPr id="5" name="Text 3"/>
          <p:cNvSpPr/>
          <p:nvPr/>
        </p:nvSpPr>
        <p:spPr>
          <a:xfrm>
            <a:off x="777240" y="201168"/>
            <a:ext cx="105156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Optimizer Strategy: MINLP → Hybrid Approach</a:t>
            </a:r>
            <a:endParaRPr lang="en-US" sz="2200" dirty="0"/>
          </a:p>
        </p:txBody>
      </p:sp>
      <p:sp>
        <p:nvSpPr>
          <p:cNvPr id="6" name="Shape 4"/>
          <p:cNvSpPr/>
          <p:nvPr/>
        </p:nvSpPr>
        <p:spPr>
          <a:xfrm>
            <a:off x="274320" y="640080"/>
            <a:ext cx="11612880" cy="27432"/>
          </a:xfrm>
          <a:prstGeom prst="rect">
            <a:avLst/>
          </a:prstGeom>
          <a:solidFill>
            <a:srgbClr val="1E3A5F"/>
          </a:solidFill>
          <a:ln/>
        </p:spPr>
      </p:sp>
      <p:sp>
        <p:nvSpPr>
          <p:cNvPr id="7" name="Shape 5"/>
          <p:cNvSpPr/>
          <p:nvPr/>
        </p:nvSpPr>
        <p:spPr>
          <a:xfrm>
            <a:off x="274320" y="777240"/>
            <a:ext cx="5394960" cy="2560320"/>
          </a:xfrm>
          <a:prstGeom prst="rect">
            <a:avLst/>
          </a:prstGeom>
          <a:solidFill>
            <a:srgbClr val="162944"/>
          </a:solidFill>
          <a:ln w="12700">
            <a:solidFill>
              <a:srgbClr val="1E3A5F"/>
            </a:solidFill>
            <a:prstDash val="solid"/>
          </a:ln>
        </p:spPr>
      </p:sp>
      <p:sp>
        <p:nvSpPr>
          <p:cNvPr id="8" name="Shape 6"/>
          <p:cNvSpPr/>
          <p:nvPr/>
        </p:nvSpPr>
        <p:spPr>
          <a:xfrm>
            <a:off x="274320" y="777240"/>
            <a:ext cx="45720" cy="2560320"/>
          </a:xfrm>
          <a:prstGeom prst="rect">
            <a:avLst/>
          </a:prstGeom>
          <a:solidFill>
            <a:srgbClr val="E05A4F"/>
          </a:solidFill>
          <a:ln/>
        </p:spPr>
      </p:sp>
      <p:sp>
        <p:nvSpPr>
          <p:cNvPr id="9" name="Text 7"/>
          <p:cNvSpPr/>
          <p:nvPr/>
        </p:nvSpPr>
        <p:spPr>
          <a:xfrm>
            <a:off x="457200" y="841248"/>
            <a:ext cx="5029200" cy="292608"/>
          </a:xfrm>
          <a:prstGeom prst="rect">
            <a:avLst/>
          </a:prstGeom>
          <a:noFill/>
          <a:ln/>
        </p:spPr>
        <p:txBody>
          <a:bodyPr wrap="square" rtlCol="0" anchor="ctr"/>
          <a:lstStyle/>
          <a:p>
            <a:pPr indent="0" marL="0">
              <a:buNone/>
            </a:pPr>
            <a:r>
              <a:rPr lang="en-US" sz="1400" b="1" dirty="0">
                <a:solidFill>
                  <a:srgbClr val="E05A4F"/>
                </a:solidFill>
              </a:rPr>
              <a:t>Current: GEKKO MINLP</a:t>
            </a:r>
            <a:endParaRPr lang="en-US" sz="1400" dirty="0"/>
          </a:p>
        </p:txBody>
      </p:sp>
      <p:sp>
        <p:nvSpPr>
          <p:cNvPr id="10" name="Text 8"/>
          <p:cNvSpPr/>
          <p:nvPr/>
        </p:nvSpPr>
        <p:spPr>
          <a:xfrm>
            <a:off x="457200" y="1115568"/>
            <a:ext cx="5029200" cy="201168"/>
          </a:xfrm>
          <a:prstGeom prst="rect">
            <a:avLst/>
          </a:prstGeom>
          <a:noFill/>
          <a:ln/>
        </p:spPr>
        <p:txBody>
          <a:bodyPr wrap="square"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RapidMiner → Python GEKKO</a:t>
            </a:r>
            <a:endParaRPr lang="en-US" sz="950" dirty="0"/>
          </a:p>
        </p:txBody>
      </p:sp>
      <p:sp>
        <p:nvSpPr>
          <p:cNvPr id="11" name="Text 9"/>
          <p:cNvSpPr/>
          <p:nvPr/>
        </p:nvSpPr>
        <p:spPr>
          <a:xfrm>
            <a:off x="457200" y="1389888"/>
            <a:ext cx="5029200" cy="228600"/>
          </a:xfrm>
          <a:prstGeom prst="rect">
            <a:avLst/>
          </a:prstGeom>
          <a:noFill/>
          <a:ln/>
        </p:spPr>
        <p:txBody>
          <a:bodyPr wrap="square" rtlCol="0" anchor="ctr"/>
          <a:lstStyle/>
          <a:p>
            <a:pPr indent="0" marL="0">
              <a:buNone/>
            </a:pPr>
            <a:r>
              <a:rPr lang="en-US" sz="950" dirty="0">
                <a:solidFill>
                  <a:srgbClr val="10B981"/>
                </a:solidFill>
              </a:rPr>
              <a:t>✓  Works well for well-constrained convex problems</a:t>
            </a:r>
            <a:endParaRPr lang="en-US" sz="950" dirty="0"/>
          </a:p>
        </p:txBody>
      </p:sp>
      <p:sp>
        <p:nvSpPr>
          <p:cNvPr id="12" name="Text 10"/>
          <p:cNvSpPr/>
          <p:nvPr/>
        </p:nvSpPr>
        <p:spPr>
          <a:xfrm>
            <a:off x="457200" y="1645920"/>
            <a:ext cx="5029200" cy="228600"/>
          </a:xfrm>
          <a:prstGeom prst="rect">
            <a:avLst/>
          </a:prstGeom>
          <a:noFill/>
          <a:ln/>
        </p:spPr>
        <p:txBody>
          <a:bodyPr wrap="square" rtlCol="0" anchor="ctr"/>
          <a:lstStyle/>
          <a:p>
            <a:pPr indent="0" marL="0">
              <a:buNone/>
            </a:pPr>
            <a:r>
              <a:rPr lang="en-US" sz="950" dirty="0">
                <a:solidFill>
                  <a:srgbClr val="10B981"/>
                </a:solidFill>
              </a:rPr>
              <a:t>✓  Hard constraint guarantees (mass/energy balances)</a:t>
            </a:r>
            <a:endParaRPr lang="en-US" sz="950" dirty="0"/>
          </a:p>
        </p:txBody>
      </p:sp>
      <p:sp>
        <p:nvSpPr>
          <p:cNvPr id="13" name="Text 11"/>
          <p:cNvSpPr/>
          <p:nvPr/>
        </p:nvSpPr>
        <p:spPr>
          <a:xfrm>
            <a:off x="457200" y="1901952"/>
            <a:ext cx="5029200" cy="228600"/>
          </a:xfrm>
          <a:prstGeom prst="rect">
            <a:avLst/>
          </a:prstGeom>
          <a:noFill/>
          <a:ln/>
        </p:spPr>
        <p:txBody>
          <a:bodyPr wrap="square" rtlCol="0" anchor="ctr"/>
          <a:lstStyle/>
          <a:p>
            <a:pPr indent="0" marL="0">
              <a:buNone/>
            </a:pPr>
            <a:r>
              <a:rPr lang="en-US" sz="950" dirty="0">
                <a:solidFill>
                  <a:srgbClr val="10B981"/>
                </a:solidFill>
              </a:rPr>
              <a:t>✓  Proven on ETH furnaces + boiler steam optimization</a:t>
            </a:r>
            <a:endParaRPr lang="en-US" sz="950" dirty="0"/>
          </a:p>
        </p:txBody>
      </p:sp>
      <p:sp>
        <p:nvSpPr>
          <p:cNvPr id="14" name="Text 12"/>
          <p:cNvSpPr/>
          <p:nvPr/>
        </p:nvSpPr>
        <p:spPr>
          <a:xfrm>
            <a:off x="457200" y="2157984"/>
            <a:ext cx="5029200" cy="228600"/>
          </a:xfrm>
          <a:prstGeom prst="rect">
            <a:avLst/>
          </a:prstGeom>
          <a:noFill/>
          <a:ln/>
        </p:spPr>
        <p:txBody>
          <a:bodyPr wrap="square" rtlCol="0" anchor="ctr"/>
          <a:lstStyle/>
          <a:p>
            <a:pPr indent="0" marL="0">
              <a:buNone/>
            </a:pPr>
            <a:r>
              <a:rPr lang="en-US" sz="950" dirty="0">
                <a:solidFill>
                  <a:srgbClr val="E05A4F"/>
                </a:solidFill>
              </a:rPr>
              <a:t>✗  Struggles with non-convex, noisy furnace surfaces</a:t>
            </a:r>
            <a:endParaRPr lang="en-US" sz="950" dirty="0"/>
          </a:p>
        </p:txBody>
      </p:sp>
      <p:sp>
        <p:nvSpPr>
          <p:cNvPr id="15" name="Text 13"/>
          <p:cNvSpPr/>
          <p:nvPr/>
        </p:nvSpPr>
        <p:spPr>
          <a:xfrm>
            <a:off x="457200" y="2414016"/>
            <a:ext cx="5029200" cy="228600"/>
          </a:xfrm>
          <a:prstGeom prst="rect">
            <a:avLst/>
          </a:prstGeom>
          <a:noFill/>
          <a:ln/>
        </p:spPr>
        <p:txBody>
          <a:bodyPr wrap="square" rtlCol="0" anchor="ctr"/>
          <a:lstStyle/>
          <a:p>
            <a:pPr indent="0" marL="0">
              <a:buNone/>
            </a:pPr>
            <a:r>
              <a:rPr lang="en-US" sz="950" dirty="0">
                <a:solidFill>
                  <a:srgbClr val="E05A4F"/>
                </a:solidFill>
              </a:rPr>
              <a:t>✗  Requires good initial values — sensitive to IV switch</a:t>
            </a:r>
            <a:endParaRPr lang="en-US" sz="950" dirty="0"/>
          </a:p>
        </p:txBody>
      </p:sp>
      <p:sp>
        <p:nvSpPr>
          <p:cNvPr id="16" name="Text 14"/>
          <p:cNvSpPr/>
          <p:nvPr/>
        </p:nvSpPr>
        <p:spPr>
          <a:xfrm>
            <a:off x="457200" y="2670048"/>
            <a:ext cx="5029200" cy="228600"/>
          </a:xfrm>
          <a:prstGeom prst="rect">
            <a:avLst/>
          </a:prstGeom>
          <a:noFill/>
          <a:ln/>
        </p:spPr>
        <p:txBody>
          <a:bodyPr wrap="square" rtlCol="0" anchor="ctr"/>
          <a:lstStyle/>
          <a:p>
            <a:pPr indent="0" marL="0">
              <a:buNone/>
            </a:pPr>
            <a:r>
              <a:rPr lang="en-US" sz="950" dirty="0">
                <a:solidFill>
                  <a:srgbClr val="E05A4F"/>
                </a:solidFill>
              </a:rPr>
              <a:t>✗  Max iterations set to 1000 — can fail to converge</a:t>
            </a:r>
            <a:endParaRPr lang="en-US" sz="950" dirty="0"/>
          </a:p>
        </p:txBody>
      </p:sp>
      <p:sp>
        <p:nvSpPr>
          <p:cNvPr id="17" name="Text 15"/>
          <p:cNvSpPr/>
          <p:nvPr/>
        </p:nvSpPr>
        <p:spPr>
          <a:xfrm>
            <a:off x="457200" y="2926080"/>
            <a:ext cx="5029200" cy="228600"/>
          </a:xfrm>
          <a:prstGeom prst="rect">
            <a:avLst/>
          </a:prstGeom>
          <a:noFill/>
          <a:ln/>
        </p:spPr>
        <p:txBody>
          <a:bodyPr wrap="square" rtlCol="0" anchor="ctr"/>
          <a:lstStyle/>
          <a:p>
            <a:pPr indent="0" marL="0">
              <a:buNone/>
            </a:pPr>
            <a:r>
              <a:rPr lang="en-US" sz="950" dirty="0">
                <a:solidFill>
                  <a:srgbClr val="E05A4F"/>
                </a:solidFill>
              </a:rPr>
              <a:t>✗  Binary integer variables slow branch-and-bound</a:t>
            </a:r>
            <a:endParaRPr lang="en-US" sz="950" dirty="0"/>
          </a:p>
        </p:txBody>
      </p:sp>
      <p:sp>
        <p:nvSpPr>
          <p:cNvPr id="18" name="Shape 16"/>
          <p:cNvSpPr/>
          <p:nvPr/>
        </p:nvSpPr>
        <p:spPr>
          <a:xfrm>
            <a:off x="5943600" y="777240"/>
            <a:ext cx="5943600" cy="2560320"/>
          </a:xfrm>
          <a:prstGeom prst="rect">
            <a:avLst/>
          </a:prstGeom>
          <a:solidFill>
            <a:srgbClr val="162944"/>
          </a:solidFill>
          <a:ln w="12700">
            <a:solidFill>
              <a:srgbClr val="1E3A5F"/>
            </a:solidFill>
            <a:prstDash val="solid"/>
          </a:ln>
        </p:spPr>
      </p:sp>
      <p:sp>
        <p:nvSpPr>
          <p:cNvPr id="19" name="Shape 17"/>
          <p:cNvSpPr/>
          <p:nvPr/>
        </p:nvSpPr>
        <p:spPr>
          <a:xfrm>
            <a:off x="5943600" y="777240"/>
            <a:ext cx="45720" cy="2560320"/>
          </a:xfrm>
          <a:prstGeom prst="rect">
            <a:avLst/>
          </a:prstGeom>
          <a:solidFill>
            <a:srgbClr val="10B981"/>
          </a:solidFill>
          <a:ln/>
        </p:spPr>
      </p:sp>
      <p:sp>
        <p:nvSpPr>
          <p:cNvPr id="20" name="Text 18"/>
          <p:cNvSpPr/>
          <p:nvPr/>
        </p:nvSpPr>
        <p:spPr>
          <a:xfrm>
            <a:off x="6126480" y="841248"/>
            <a:ext cx="5577840" cy="292608"/>
          </a:xfrm>
          <a:prstGeom prst="rect">
            <a:avLst/>
          </a:prstGeom>
          <a:noFill/>
          <a:ln/>
        </p:spPr>
        <p:txBody>
          <a:bodyPr wrap="square" rtlCol="0" anchor="ctr"/>
          <a:lstStyle/>
          <a:p>
            <a:pPr indent="0" marL="0">
              <a:buNone/>
            </a:pPr>
            <a:r>
              <a:rPr lang="en-US" sz="1400" b="1" dirty="0">
                <a:solidFill>
                  <a:srgbClr val="10B981"/>
                </a:solidFill>
              </a:rPr>
              <a:t>Proposed: Hybrid Strategy</a:t>
            </a:r>
            <a:endParaRPr lang="en-US" sz="1400" dirty="0"/>
          </a:p>
        </p:txBody>
      </p:sp>
      <p:sp>
        <p:nvSpPr>
          <p:cNvPr id="21" name="Text 19"/>
          <p:cNvSpPr/>
          <p:nvPr/>
        </p:nvSpPr>
        <p:spPr>
          <a:xfrm>
            <a:off x="6126480" y="1115568"/>
            <a:ext cx="5577840" cy="201168"/>
          </a:xfrm>
          <a:prstGeom prst="rect">
            <a:avLst/>
          </a:prstGeom>
          <a:noFill/>
          <a:ln/>
        </p:spPr>
        <p:txBody>
          <a:bodyPr wrap="square"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BoTorch Bayesian Opt + GEKKO fallback</a:t>
            </a:r>
            <a:endParaRPr lang="en-US" sz="950" dirty="0"/>
          </a:p>
        </p:txBody>
      </p:sp>
      <p:sp>
        <p:nvSpPr>
          <p:cNvPr id="22" name="Shape 20"/>
          <p:cNvSpPr/>
          <p:nvPr/>
        </p:nvSpPr>
        <p:spPr>
          <a:xfrm>
            <a:off x="6035040" y="1389888"/>
            <a:ext cx="5760720" cy="566928"/>
          </a:xfrm>
          <a:prstGeom prst="rect">
            <a:avLst/>
          </a:prstGeom>
          <a:solidFill>
            <a:srgbClr val="132238"/>
          </a:solidFill>
          <a:ln w="12700">
            <a:solidFill>
              <a:srgbClr val="1E3A5F"/>
            </a:solidFill>
            <a:prstDash val="solid"/>
          </a:ln>
        </p:spPr>
      </p:sp>
      <p:sp>
        <p:nvSpPr>
          <p:cNvPr id="23" name="Shape 21"/>
          <p:cNvSpPr/>
          <p:nvPr/>
        </p:nvSpPr>
        <p:spPr>
          <a:xfrm>
            <a:off x="6035040" y="1389888"/>
            <a:ext cx="45720" cy="566928"/>
          </a:xfrm>
          <a:prstGeom prst="rect">
            <a:avLst/>
          </a:prstGeom>
          <a:solidFill>
            <a:srgbClr val="10B981"/>
          </a:solidFill>
          <a:ln/>
        </p:spPr>
      </p:sp>
      <p:sp>
        <p:nvSpPr>
          <p:cNvPr id="24" name="Text 22"/>
          <p:cNvSpPr/>
          <p:nvPr/>
        </p:nvSpPr>
        <p:spPr>
          <a:xfrm>
            <a:off x="6172200" y="1417320"/>
            <a:ext cx="3200400" cy="274320"/>
          </a:xfrm>
          <a:prstGeom prst="rect">
            <a:avLst/>
          </a:prstGeom>
          <a:noFill/>
          <a:ln/>
        </p:spPr>
        <p:txBody>
          <a:bodyPr wrap="square" rtlCol="0" anchor="ctr"/>
          <a:lstStyle/>
          <a:p>
            <a:pPr indent="0" marL="0">
              <a:buNone/>
            </a:pPr>
            <a:r>
              <a:rPr lang="en-US" sz="950" b="1" dirty="0">
                <a:solidFill>
                  <a:srgbClr val="FFFFFF"/>
                </a:solidFill>
              </a:rPr>
              <a:t>Primary: Bayesian Optimization (BoTorch)</a:t>
            </a:r>
            <a:endParaRPr lang="en-US" sz="950" dirty="0"/>
          </a:p>
        </p:txBody>
      </p:sp>
      <p:sp>
        <p:nvSpPr>
          <p:cNvPr id="25" name="Text 23"/>
          <p:cNvSpPr/>
          <p:nvPr/>
        </p:nvSpPr>
        <p:spPr>
          <a:xfrm>
            <a:off x="6172200" y="1664208"/>
            <a:ext cx="5486400" cy="256032"/>
          </a:xfrm>
          <a:prstGeom prst="rect">
            <a:avLst/>
          </a:prstGeom>
          <a:noFill/>
          <a:ln/>
        </p:spPr>
        <p:txBody>
          <a:bodyPr wrap="square" rtlCol="0" anchor="ctr"/>
          <a:lstStyle/>
          <a:p>
            <a:pPr indent="0" marL="0">
              <a:buNone/>
            </a:pPr>
            <a:r>
              <a:rPr lang="en-US" sz="850" dirty="0">
                <a:solidFill>
                  <a:srgbClr val="94A3B8"/>
                </a:solidFill>
              </a:rPr>
              <a:t>Gaussian Process surrogate model over objective surface. Ideal for non-convex, expensive-to-evaluate furnace simulations. Uncertainty quantification on setpoint recommendations.</a:t>
            </a:r>
            <a:endParaRPr lang="en-US" sz="850" dirty="0"/>
          </a:p>
        </p:txBody>
      </p:sp>
      <p:sp>
        <p:nvSpPr>
          <p:cNvPr id="26" name="Shape 24"/>
          <p:cNvSpPr/>
          <p:nvPr/>
        </p:nvSpPr>
        <p:spPr>
          <a:xfrm>
            <a:off x="6035040" y="2011680"/>
            <a:ext cx="5760720" cy="566928"/>
          </a:xfrm>
          <a:prstGeom prst="rect">
            <a:avLst/>
          </a:prstGeom>
          <a:solidFill>
            <a:srgbClr val="132238"/>
          </a:solidFill>
          <a:ln w="12700">
            <a:solidFill>
              <a:srgbClr val="1E3A5F"/>
            </a:solidFill>
            <a:prstDash val="solid"/>
          </a:ln>
        </p:spPr>
      </p:sp>
      <p:sp>
        <p:nvSpPr>
          <p:cNvPr id="27" name="Shape 25"/>
          <p:cNvSpPr/>
          <p:nvPr/>
        </p:nvSpPr>
        <p:spPr>
          <a:xfrm>
            <a:off x="6035040" y="2011680"/>
            <a:ext cx="45720" cy="566928"/>
          </a:xfrm>
          <a:prstGeom prst="rect">
            <a:avLst/>
          </a:prstGeom>
          <a:solidFill>
            <a:srgbClr val="F59E0B"/>
          </a:solidFill>
          <a:ln/>
        </p:spPr>
      </p:sp>
      <p:sp>
        <p:nvSpPr>
          <p:cNvPr id="28" name="Text 26"/>
          <p:cNvSpPr/>
          <p:nvPr/>
        </p:nvSpPr>
        <p:spPr>
          <a:xfrm>
            <a:off x="6172200" y="2039112"/>
            <a:ext cx="3200400" cy="274320"/>
          </a:xfrm>
          <a:prstGeom prst="rect">
            <a:avLst/>
          </a:prstGeom>
          <a:noFill/>
          <a:ln/>
        </p:spPr>
        <p:txBody>
          <a:bodyPr wrap="square" rtlCol="0" anchor="ctr"/>
          <a:lstStyle/>
          <a:p>
            <a:pPr indent="0" marL="0">
              <a:buNone/>
            </a:pPr>
            <a:r>
              <a:rPr lang="en-US" sz="950" b="1" dirty="0">
                <a:solidFill>
                  <a:srgbClr val="FFFFFF"/>
                </a:solidFill>
              </a:rPr>
              <a:t>Fallback: GEKKO MINLP</a:t>
            </a:r>
            <a:endParaRPr lang="en-US" sz="950" dirty="0"/>
          </a:p>
        </p:txBody>
      </p:sp>
      <p:sp>
        <p:nvSpPr>
          <p:cNvPr id="29" name="Text 27"/>
          <p:cNvSpPr/>
          <p:nvPr/>
        </p:nvSpPr>
        <p:spPr>
          <a:xfrm>
            <a:off x="6172200" y="2286000"/>
            <a:ext cx="5486400" cy="256032"/>
          </a:xfrm>
          <a:prstGeom prst="rect">
            <a:avLst/>
          </a:prstGeom>
          <a:noFill/>
          <a:ln/>
        </p:spPr>
        <p:txBody>
          <a:bodyPr wrap="square" rtlCol="0" anchor="ctr"/>
          <a:lstStyle/>
          <a:p>
            <a:pPr indent="0" marL="0">
              <a:buNone/>
            </a:pPr>
            <a:r>
              <a:rPr lang="en-US" sz="850" dirty="0">
                <a:solidFill>
                  <a:srgbClr val="94A3B8"/>
                </a:solidFill>
              </a:rPr>
              <a:t>For constraint-satisfaction-critical sub-problems where hard algebraic constraint guarantees are required (mass/energy balances). Called when BO solution violates a hard constraint.</a:t>
            </a:r>
            <a:endParaRPr lang="en-US" sz="850" dirty="0"/>
          </a:p>
        </p:txBody>
      </p:sp>
      <p:sp>
        <p:nvSpPr>
          <p:cNvPr id="30" name="Shape 28"/>
          <p:cNvSpPr/>
          <p:nvPr/>
        </p:nvSpPr>
        <p:spPr>
          <a:xfrm>
            <a:off x="6035040" y="2633472"/>
            <a:ext cx="5760720" cy="566928"/>
          </a:xfrm>
          <a:prstGeom prst="rect">
            <a:avLst/>
          </a:prstGeom>
          <a:solidFill>
            <a:srgbClr val="132238"/>
          </a:solidFill>
          <a:ln w="12700">
            <a:solidFill>
              <a:srgbClr val="1E3A5F"/>
            </a:solidFill>
            <a:prstDash val="solid"/>
          </a:ln>
        </p:spPr>
      </p:sp>
      <p:sp>
        <p:nvSpPr>
          <p:cNvPr id="31" name="Shape 29"/>
          <p:cNvSpPr/>
          <p:nvPr/>
        </p:nvSpPr>
        <p:spPr>
          <a:xfrm>
            <a:off x="6035040" y="2633472"/>
            <a:ext cx="45720" cy="566928"/>
          </a:xfrm>
          <a:prstGeom prst="rect">
            <a:avLst/>
          </a:prstGeom>
          <a:solidFill>
            <a:srgbClr val="6B46C1"/>
          </a:solidFill>
          <a:ln/>
        </p:spPr>
      </p:sp>
      <p:sp>
        <p:nvSpPr>
          <p:cNvPr id="32" name="Text 30"/>
          <p:cNvSpPr/>
          <p:nvPr/>
        </p:nvSpPr>
        <p:spPr>
          <a:xfrm>
            <a:off x="6172200" y="2660904"/>
            <a:ext cx="3200400" cy="274320"/>
          </a:xfrm>
          <a:prstGeom prst="rect">
            <a:avLst/>
          </a:prstGeom>
          <a:noFill/>
          <a:ln/>
        </p:spPr>
        <p:txBody>
          <a:bodyPr wrap="square" rtlCol="0" anchor="ctr"/>
          <a:lstStyle/>
          <a:p>
            <a:pPr indent="0" marL="0">
              <a:buNone/>
            </a:pPr>
            <a:r>
              <a:rPr lang="en-US" sz="950" b="1" dirty="0">
                <a:solidFill>
                  <a:srgbClr val="FFFFFF"/>
                </a:solidFill>
              </a:rPr>
              <a:t>Future: RL (PPO/SAC)</a:t>
            </a:r>
            <a:endParaRPr lang="en-US" sz="950" dirty="0"/>
          </a:p>
        </p:txBody>
      </p:sp>
      <p:sp>
        <p:nvSpPr>
          <p:cNvPr id="33" name="Text 31"/>
          <p:cNvSpPr/>
          <p:nvPr/>
        </p:nvSpPr>
        <p:spPr>
          <a:xfrm>
            <a:off x="6172200" y="2907792"/>
            <a:ext cx="5486400" cy="256032"/>
          </a:xfrm>
          <a:prstGeom prst="rect">
            <a:avLst/>
          </a:prstGeom>
          <a:noFill/>
          <a:ln/>
        </p:spPr>
        <p:txBody>
          <a:bodyPr wrap="square" rtlCol="0" anchor="ctr"/>
          <a:lstStyle/>
          <a:p>
            <a:pPr indent="0" marL="0">
              <a:buNone/>
            </a:pPr>
            <a:r>
              <a:rPr lang="en-US" sz="850" dirty="0">
                <a:solidFill>
                  <a:srgbClr val="94A3B8"/>
                </a:solidFill>
              </a:rPr>
              <a:t>For long-horizon control (shift-level). Requires a validated plant digital twin. Phase 3 roadmap after BO deployment and sufficient historical data.</a:t>
            </a:r>
            <a:endParaRPr lang="en-US" sz="850" dirty="0"/>
          </a:p>
        </p:txBody>
      </p:sp>
      <p:sp>
        <p:nvSpPr>
          <p:cNvPr id="34" name="Shape 32"/>
          <p:cNvSpPr/>
          <p:nvPr/>
        </p:nvSpPr>
        <p:spPr>
          <a:xfrm>
            <a:off x="274320" y="3520440"/>
            <a:ext cx="11612880" cy="1645920"/>
          </a:xfrm>
          <a:prstGeom prst="rect">
            <a:avLst/>
          </a:prstGeom>
          <a:solidFill>
            <a:srgbClr val="132238"/>
          </a:solidFill>
          <a:ln w="12700">
            <a:solidFill>
              <a:srgbClr val="1E3A5F"/>
            </a:solidFill>
            <a:prstDash val="solid"/>
          </a:ln>
        </p:spPr>
      </p:sp>
      <p:sp>
        <p:nvSpPr>
          <p:cNvPr id="35" name="Text 33"/>
          <p:cNvSpPr/>
          <p:nvPr/>
        </p:nvSpPr>
        <p:spPr>
          <a:xfrm>
            <a:off x="457200" y="3584448"/>
            <a:ext cx="7315200" cy="274320"/>
          </a:xfrm>
          <a:prstGeom prst="rect">
            <a:avLst/>
          </a:prstGeom>
          <a:noFill/>
          <a:ln/>
        </p:spPr>
        <p:txBody>
          <a:bodyPr wrap="square" rtlCol="0" anchor="ctr"/>
          <a:lstStyle/>
          <a:p>
            <a:pPr indent="0" marL="0">
              <a:buNone/>
            </a:pPr>
            <a:r>
              <a:rPr lang="en-US" sz="1300" b="1" dirty="0">
                <a:solidFill>
                  <a:srgbClr val="F59E0B"/>
                </a:solidFill>
              </a:rPr>
              <a:t>Circular Reference Handling — Fixed-Point Iteration</a:t>
            </a:r>
            <a:endParaRPr lang="en-US" sz="1300" dirty="0"/>
          </a:p>
        </p:txBody>
      </p:sp>
      <p:sp>
        <p:nvSpPr>
          <p:cNvPr id="36" name="Text 34"/>
          <p:cNvSpPr/>
          <p:nvPr/>
        </p:nvSpPr>
        <p:spPr>
          <a:xfrm>
            <a:off x="457200" y="3840480"/>
            <a:ext cx="7315200" cy="201168"/>
          </a:xfrm>
          <a:prstGeom prst="rect">
            <a:avLst/>
          </a:prstGeom>
          <a:noFill/>
          <a:ln/>
        </p:spPr>
        <p:txBody>
          <a:bodyPr wrap="square" rtlCol="0" anchor="ctr"/>
          <a:lstStyle/>
          <a:p>
            <a:pPr indent="0" marL="0">
              <a:buNone/>
            </a:pPr>
            <a:r>
              <a:rPr lang="en-US" sz="850" dirty="0">
                <a:solidFill>
                  <a:srgbClr val="64748B"/>
                </a:solidFill>
                <a:latin typeface="Consolas" pitchFamily="34" charset="0"/>
                <a:ea typeface="Consolas" pitchFamily="34" charset="-122"/>
                <a:cs typeface="Consolas" pitchFamily="34" charset="-120"/>
              </a:rPr>
              <a:t>FROM FLOWCHART + FEATURE FILE  |  pre_optimizer_iterative_inferred block</a:t>
            </a:r>
            <a:endParaRPr lang="en-US" sz="850" dirty="0"/>
          </a:p>
        </p:txBody>
      </p:sp>
      <p:sp>
        <p:nvSpPr>
          <p:cNvPr id="37" name="Text 35"/>
          <p:cNvSpPr/>
          <p:nvPr/>
        </p:nvSpPr>
        <p:spPr>
          <a:xfrm>
            <a:off x="457200" y="4069080"/>
            <a:ext cx="11155680" cy="1005840"/>
          </a:xfrm>
          <a:prstGeom prst="rect">
            <a:avLst/>
          </a:prstGeom>
          <a:noFill/>
          <a:ln/>
        </p:spPr>
        <p:txBody>
          <a:bodyPr wrap="square" rtlCol="0" anchor="ctr"/>
          <a:lstStyle/>
          <a:p>
            <a:pPr indent="0" marL="0">
              <a:lnSpc>
                <a:spcPct val="150000"/>
              </a:lnSpc>
              <a:buNone/>
            </a:pPr>
            <a:r>
              <a:rPr lang="en-US" sz="950" dirty="0">
                <a:solidFill>
                  <a:srgbClr val="94A3B8"/>
                </a:solidFill>
              </a:rPr>
              <a:t>Problem: Some inferred tags are mutually dependent — A = f(B), B = f(A). Standard df.eval() cannot resolve these sequentially.</a:t>
            </a:r>
            <a:endParaRPr lang="en-US" sz="950" dirty="0"/>
          </a:p>
          <a:p>
            <a:pPr indent="0" marL="0">
              <a:lnSpc>
                <a:spcPct val="150000"/>
              </a:lnSpc>
              <a:buNone/>
            </a:pPr>
            <a:r>
              <a:rPr lang="en-US" sz="950" dirty="0">
                <a:solidFill>
                  <a:srgbClr val="94A3B8"/>
                </a:solidFill>
              </a:rPr>
              <a:t>Solution: scipy.optimize.fsolve() solves the system of equations simultaneously. Tags flagged pre_optimizer_iterative_inferred = 1 in inferred_tag_rm_block_mapping table enter this block.</a:t>
            </a:r>
            <a:endParaRPr lang="en-US" sz="950" dirty="0"/>
          </a:p>
          <a:p>
            <a:pPr indent="0" marL="0">
              <a:lnSpc>
                <a:spcPct val="150000"/>
              </a:lnSpc>
              <a:buNone/>
            </a:pPr>
            <a:r>
              <a:rPr lang="en-US" sz="950" dirty="0">
                <a:solidFill>
                  <a:srgbClr val="94A3B8"/>
                </a:solidFill>
              </a:rPr>
              <a:t>Example from feature file: EOEG_2_MPS_Demand_raw depends on multiple reactor temps, oxygen control, EOE metrics — complex interdependency resolved via fsolve.</a:t>
            </a:r>
            <a:endParaRPr lang="en-US" sz="950" dirty="0"/>
          </a:p>
        </p:txBody>
      </p:sp>
      <p:sp>
        <p:nvSpPr>
          <p:cNvPr id="38" name="Shape 36"/>
          <p:cNvSpPr/>
          <p:nvPr/>
        </p:nvSpPr>
        <p:spPr>
          <a:xfrm>
            <a:off x="274320" y="5303520"/>
            <a:ext cx="11612880" cy="1325880"/>
          </a:xfrm>
          <a:prstGeom prst="rect">
            <a:avLst/>
          </a:prstGeom>
          <a:solidFill>
            <a:srgbClr val="162944"/>
          </a:solidFill>
          <a:ln w="12700">
            <a:solidFill>
              <a:srgbClr val="1E3A5F"/>
            </a:solidFill>
            <a:prstDash val="solid"/>
          </a:ln>
        </p:spPr>
      </p:sp>
      <p:sp>
        <p:nvSpPr>
          <p:cNvPr id="39" name="Text 37"/>
          <p:cNvSpPr/>
          <p:nvPr/>
        </p:nvSpPr>
        <p:spPr>
          <a:xfrm>
            <a:off x="457200" y="5376672"/>
            <a:ext cx="8229600" cy="256032"/>
          </a:xfrm>
          <a:prstGeom prst="rect">
            <a:avLst/>
          </a:prstGeom>
          <a:noFill/>
          <a:ln/>
        </p:spPr>
        <p:txBody>
          <a:bodyPr wrap="square" rtlCol="0" anchor="ctr"/>
          <a:lstStyle/>
          <a:p>
            <a:pPr indent="0" marL="0">
              <a:buNone/>
            </a:pPr>
            <a:r>
              <a:rPr lang="en-US" sz="1300" b="1" dirty="0">
                <a:solidFill>
                  <a:srgbClr val="00897B"/>
                </a:solidFill>
              </a:rPr>
              <a:t>SEU (Specific Energy Units) &amp; ODS (Operational Decision Support) Layer</a:t>
            </a:r>
            <a:endParaRPr lang="en-US" sz="1300" dirty="0"/>
          </a:p>
        </p:txBody>
      </p:sp>
      <p:sp>
        <p:nvSpPr>
          <p:cNvPr id="40" name="Text 38"/>
          <p:cNvSpPr/>
          <p:nvPr/>
        </p:nvSpPr>
        <p:spPr>
          <a:xfrm>
            <a:off x="457200" y="5650992"/>
            <a:ext cx="11155680" cy="914400"/>
          </a:xfrm>
          <a:prstGeom prst="rect">
            <a:avLst/>
          </a:prstGeom>
          <a:noFill/>
          <a:ln/>
        </p:spPr>
        <p:txBody>
          <a:bodyPr wrap="square" rtlCol="0" anchor="ctr"/>
          <a:lstStyle/>
          <a:p>
            <a:pPr indent="0" marL="0">
              <a:lnSpc>
                <a:spcPct val="145000"/>
              </a:lnSpc>
              <a:buNone/>
            </a:pPr>
            <a:r>
              <a:rPr lang="en-US" sz="900" dirty="0">
                <a:solidFill>
                  <a:srgbClr val="94A3B8"/>
                </a:solidFill>
              </a:rPr>
              <a:t>SEU per equipment (59 equipment units): baseline_duty, actual_duty, target_duty, gain_expression, enpi_expression, benefit_factor — written to output PI tags via output_pi_mapping.</a:t>
            </a:r>
            <a:endParaRPr lang="en-US" sz="900" dirty="0"/>
          </a:p>
          <a:p>
            <a:pPr indent="0" marL="0">
              <a:lnSpc>
                <a:spcPct val="145000"/>
              </a:lnSpc>
              <a:buNone/>
            </a:pPr>
            <a:r>
              <a:rPr lang="en-US" sz="900" dirty="0">
                <a:solidFill>
                  <a:srgbClr val="94A3B8"/>
                </a:solidFill>
              </a:rPr>
              <a:t>ODS: effect (Power_Bill, Fuel_Bill, DMW_Bill) → cause (Boiler_Load_HIGH, Low_Conductivity, Compressor_Efficiency_low) mapping generates actionable operator messages with step change values.</a:t>
            </a:r>
            <a:endParaRPr lang="en-US" sz="900" dirty="0"/>
          </a:p>
          <a:p>
            <a:pPr indent="0" marL="0">
              <a:lnSpc>
                <a:spcPct val="145000"/>
              </a:lnSpc>
              <a:buNone/>
            </a:pPr>
            <a:r>
              <a:rPr lang="en-US" sz="900" dirty="0">
                <a:solidFill>
                  <a:srgbClr val="94A3B8"/>
                </a:solidFill>
              </a:rPr>
              <a:t>PEEO Adjustment: Efficiency model-based adjustments (peeo_based_adjustment table) feed back into SEU target calculations for each EG unit.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274320" y="201168"/>
            <a:ext cx="384048" cy="384048"/>
          </a:xfrm>
          <a:prstGeom prst="roundRect">
            <a:avLst>
              <a:gd name="adj" fmla="val 14286"/>
            </a:avLst>
          </a:prstGeom>
          <a:solidFill>
            <a:srgbClr val="000000"/>
          </a:solidFill>
          <a:ln w="19050">
            <a:solidFill>
              <a:srgbClr val="6B46C1"/>
            </a:solidFill>
            <a:prstDash val="solid"/>
          </a:ln>
        </p:spPr>
      </p:sp>
      <p:sp>
        <p:nvSpPr>
          <p:cNvPr id="4" name="Text 2"/>
          <p:cNvSpPr/>
          <p:nvPr/>
        </p:nvSpPr>
        <p:spPr>
          <a:xfrm>
            <a:off x="274320" y="201168"/>
            <a:ext cx="384048" cy="384048"/>
          </a:xfrm>
          <a:prstGeom prst="rect">
            <a:avLst/>
          </a:prstGeom>
          <a:noFill/>
          <a:ln/>
        </p:spPr>
        <p:txBody>
          <a:bodyPr wrap="square" lIns="0" tIns="0" rIns="0" bIns="0" rtlCol="0" anchor="ctr"/>
          <a:lstStyle/>
          <a:p>
            <a:pPr algn="ctr" indent="0" marL="0">
              <a:buNone/>
            </a:pPr>
            <a:r>
              <a:rPr lang="en-US" sz="1300" b="1" dirty="0">
                <a:solidFill>
                  <a:srgbClr val="6B46C1"/>
                </a:solidFill>
                <a:latin typeface="Consolas" pitchFamily="34" charset="0"/>
                <a:ea typeface="Consolas" pitchFamily="34" charset="-122"/>
                <a:cs typeface="Consolas" pitchFamily="34" charset="-120"/>
              </a:rPr>
              <a:t>06</a:t>
            </a:r>
            <a:endParaRPr lang="en-US" sz="1300" dirty="0"/>
          </a:p>
        </p:txBody>
      </p:sp>
      <p:sp>
        <p:nvSpPr>
          <p:cNvPr id="5" name="Text 3"/>
          <p:cNvSpPr/>
          <p:nvPr/>
        </p:nvSpPr>
        <p:spPr>
          <a:xfrm>
            <a:off x="777240" y="201168"/>
            <a:ext cx="105156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Kedro Module Structure — Node-Level Architecture</a:t>
            </a:r>
            <a:endParaRPr lang="en-US" sz="2200" dirty="0"/>
          </a:p>
        </p:txBody>
      </p:sp>
      <p:sp>
        <p:nvSpPr>
          <p:cNvPr id="6" name="Shape 4"/>
          <p:cNvSpPr/>
          <p:nvPr/>
        </p:nvSpPr>
        <p:spPr>
          <a:xfrm>
            <a:off x="274320" y="640080"/>
            <a:ext cx="11612880" cy="27432"/>
          </a:xfrm>
          <a:prstGeom prst="rect">
            <a:avLst/>
          </a:prstGeom>
          <a:solidFill>
            <a:srgbClr val="1E3A5F"/>
          </a:solidFill>
          <a:ln/>
        </p:spPr>
      </p:sp>
      <p:sp>
        <p:nvSpPr>
          <p:cNvPr id="7" name="Shape 5"/>
          <p:cNvSpPr/>
          <p:nvPr/>
        </p:nvSpPr>
        <p:spPr>
          <a:xfrm>
            <a:off x="274320" y="777240"/>
            <a:ext cx="4572000" cy="5852160"/>
          </a:xfrm>
          <a:prstGeom prst="rect">
            <a:avLst/>
          </a:prstGeom>
          <a:solidFill>
            <a:srgbClr val="132238"/>
          </a:solidFill>
          <a:ln w="12700">
            <a:solidFill>
              <a:srgbClr val="1E3A5F"/>
            </a:solidFill>
            <a:prstDash val="solid"/>
          </a:ln>
        </p:spPr>
      </p:sp>
      <p:sp>
        <p:nvSpPr>
          <p:cNvPr id="8" name="Text 6"/>
          <p:cNvSpPr/>
          <p:nvPr/>
        </p:nvSpPr>
        <p:spPr>
          <a:xfrm>
            <a:off x="411480" y="822960"/>
            <a:ext cx="4297680" cy="256032"/>
          </a:xfrm>
          <a:prstGeom prst="rect">
            <a:avLst/>
          </a:prstGeom>
          <a:noFill/>
          <a:ln/>
        </p:spPr>
        <p:txBody>
          <a:bodyPr wrap="square" rtlCol="0" anchor="ctr"/>
          <a:lstStyle/>
          <a:p>
            <a:pPr indent="0" marL="0">
              <a:buNone/>
            </a:pPr>
            <a:r>
              <a:rPr lang="en-US" sz="1100" b="1" dirty="0">
                <a:solidFill>
                  <a:srgbClr val="6B46C1"/>
                </a:solidFill>
              </a:rPr>
              <a:t>Folder Structure</a:t>
            </a:r>
            <a:endParaRPr lang="en-US" sz="1100" dirty="0"/>
          </a:p>
        </p:txBody>
      </p:sp>
      <p:sp>
        <p:nvSpPr>
          <p:cNvPr id="9" name="Text 7"/>
          <p:cNvSpPr/>
          <p:nvPr/>
        </p:nvSpPr>
        <p:spPr>
          <a:xfrm>
            <a:off x="347472" y="111556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project_root/src/</a:t>
            </a:r>
            <a:endParaRPr lang="en-US" sz="780" dirty="0"/>
          </a:p>
        </p:txBody>
      </p:sp>
      <p:sp>
        <p:nvSpPr>
          <p:cNvPr id="10" name="Text 8"/>
          <p:cNvSpPr/>
          <p:nvPr/>
        </p:nvSpPr>
        <p:spPr>
          <a:xfrm>
            <a:off x="347472" y="1298448"/>
            <a:ext cx="4389120" cy="182880"/>
          </a:xfrm>
          <a:prstGeom prst="rect">
            <a:avLst/>
          </a:prstGeom>
          <a:noFill/>
          <a:ln/>
        </p:spPr>
        <p:txBody>
          <a:bodyPr wrap="square" rtlCol="0" anchor="ctr"/>
          <a:lstStyle/>
          <a:p>
            <a:pPr indent="0" marL="0">
              <a:buNone/>
            </a:pPr>
            <a:r>
              <a:rPr lang="en-US" sz="780" dirty="0">
                <a:solidFill>
                  <a:srgbClr val="FFFFFF"/>
                </a:solidFill>
                <a:latin typeface="Consolas" pitchFamily="34" charset="0"/>
                <a:ea typeface="Consolas" pitchFamily="34" charset="-122"/>
                <a:cs typeface="Consolas" pitchFamily="34" charset="-120"/>
              </a:rPr>
              <a:t>├── pipelines/</a:t>
            </a:r>
            <a:endParaRPr lang="en-US" sz="780" dirty="0"/>
          </a:p>
        </p:txBody>
      </p:sp>
      <p:sp>
        <p:nvSpPr>
          <p:cNvPr id="11" name="Text 9"/>
          <p:cNvSpPr/>
          <p:nvPr/>
        </p:nvSpPr>
        <p:spPr>
          <a:xfrm>
            <a:off x="356616" y="1481328"/>
            <a:ext cx="4389120" cy="182880"/>
          </a:xfrm>
          <a:prstGeom prst="rect">
            <a:avLst/>
          </a:prstGeom>
          <a:noFill/>
          <a:ln/>
        </p:spPr>
        <p:txBody>
          <a:bodyPr wrap="square" rtlCol="0" anchor="ctr"/>
          <a:lstStyle/>
          <a:p>
            <a:pPr indent="0" marL="0">
              <a:buNone/>
            </a:pPr>
            <a:r>
              <a:rPr lang="en-US" sz="780" dirty="0">
                <a:solidFill>
                  <a:srgbClr val="00BCD4"/>
                </a:solidFill>
                <a:latin typeface="Consolas" pitchFamily="34" charset="0"/>
                <a:ea typeface="Consolas" pitchFamily="34" charset="-122"/>
                <a:cs typeface="Consolas" pitchFamily="34" charset="-120"/>
              </a:rPr>
              <a:t>│   ├── macro_pipelines/</a:t>
            </a:r>
            <a:endParaRPr lang="en-US" sz="780" dirty="0"/>
          </a:p>
        </p:txBody>
      </p:sp>
      <p:sp>
        <p:nvSpPr>
          <p:cNvPr id="12" name="Text 10"/>
          <p:cNvSpPr/>
          <p:nvPr/>
        </p:nvSpPr>
        <p:spPr>
          <a:xfrm>
            <a:off x="365760" y="1664208"/>
            <a:ext cx="4389120" cy="182880"/>
          </a:xfrm>
          <a:prstGeom prst="rect">
            <a:avLst/>
          </a:prstGeom>
          <a:noFill/>
          <a:ln/>
        </p:spPr>
        <p:txBody>
          <a:bodyPr wrap="square" rtlCol="0" anchor="ctr"/>
          <a:lstStyle/>
          <a:p>
            <a:pPr indent="0" marL="0">
              <a:buNone/>
            </a:pPr>
            <a:r>
              <a:rPr lang="en-US" sz="780" dirty="0">
                <a:solidFill>
                  <a:srgbClr val="00BCD4"/>
                </a:solidFill>
                <a:latin typeface="Consolas" pitchFamily="34" charset="0"/>
                <a:ea typeface="Consolas" pitchFamily="34" charset="-122"/>
                <a:cs typeface="Consolas" pitchFamily="34" charset="-120"/>
              </a:rPr>
              <a:t>│   │   └── eo_optimization/</a:t>
            </a:r>
            <a:endParaRPr lang="en-US" sz="780" dirty="0"/>
          </a:p>
        </p:txBody>
      </p:sp>
      <p:sp>
        <p:nvSpPr>
          <p:cNvPr id="13" name="Text 11"/>
          <p:cNvSpPr/>
          <p:nvPr/>
        </p:nvSpPr>
        <p:spPr>
          <a:xfrm>
            <a:off x="374904" y="184708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 pipeline.py</a:t>
            </a:r>
            <a:endParaRPr lang="en-US" sz="780" dirty="0"/>
          </a:p>
        </p:txBody>
      </p:sp>
      <p:sp>
        <p:nvSpPr>
          <p:cNvPr id="14" name="Text 12"/>
          <p:cNvSpPr/>
          <p:nvPr/>
        </p:nvSpPr>
        <p:spPr>
          <a:xfrm>
            <a:off x="374904" y="202996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 runner.py</a:t>
            </a:r>
            <a:endParaRPr lang="en-US" sz="780" dirty="0"/>
          </a:p>
        </p:txBody>
      </p:sp>
      <p:sp>
        <p:nvSpPr>
          <p:cNvPr id="15" name="Text 13"/>
          <p:cNvSpPr/>
          <p:nvPr/>
        </p:nvSpPr>
        <p:spPr>
          <a:xfrm>
            <a:off x="356616" y="2212848"/>
            <a:ext cx="4389120" cy="182880"/>
          </a:xfrm>
          <a:prstGeom prst="rect">
            <a:avLst/>
          </a:prstGeom>
          <a:noFill/>
          <a:ln/>
        </p:spPr>
        <p:txBody>
          <a:bodyPr wrap="square" rtlCol="0" anchor="ctr"/>
          <a:lstStyle/>
          <a:p>
            <a:pPr indent="0" marL="0">
              <a:buNone/>
            </a:pPr>
            <a:r>
              <a:rPr lang="en-US" sz="780" dirty="0">
                <a:solidFill>
                  <a:srgbClr val="00897B"/>
                </a:solidFill>
                <a:latin typeface="Consolas" pitchFamily="34" charset="0"/>
                <a:ea typeface="Consolas" pitchFamily="34" charset="-122"/>
                <a:cs typeface="Consolas" pitchFamily="34" charset="-120"/>
              </a:rPr>
              <a:t>│   └── micro_pipelines/</a:t>
            </a:r>
            <a:endParaRPr lang="en-US" sz="780" dirty="0"/>
          </a:p>
        </p:txBody>
      </p:sp>
      <p:sp>
        <p:nvSpPr>
          <p:cNvPr id="16" name="Text 14"/>
          <p:cNvSpPr/>
          <p:nvPr/>
        </p:nvSpPr>
        <p:spPr>
          <a:xfrm>
            <a:off x="365760" y="2395728"/>
            <a:ext cx="4389120" cy="182880"/>
          </a:xfrm>
          <a:prstGeom prst="rect">
            <a:avLst/>
          </a:prstGeom>
          <a:noFill/>
          <a:ln/>
        </p:spPr>
        <p:txBody>
          <a:bodyPr wrap="square" rtlCol="0" anchor="ctr"/>
          <a:lstStyle/>
          <a:p>
            <a:pPr indent="0" marL="0">
              <a:buNone/>
            </a:pPr>
            <a:r>
              <a:rPr lang="en-US" sz="780" dirty="0">
                <a:solidFill>
                  <a:srgbClr val="00897B"/>
                </a:solidFill>
                <a:latin typeface="Consolas" pitchFamily="34" charset="0"/>
                <a:ea typeface="Consolas" pitchFamily="34" charset="-122"/>
                <a:cs typeface="Consolas" pitchFamily="34" charset="-120"/>
              </a:rPr>
              <a:t>│       ├── ingestion/</a:t>
            </a:r>
            <a:endParaRPr lang="en-US" sz="780" dirty="0"/>
          </a:p>
        </p:txBody>
      </p:sp>
      <p:sp>
        <p:nvSpPr>
          <p:cNvPr id="17" name="Text 15"/>
          <p:cNvSpPr/>
          <p:nvPr/>
        </p:nvSpPr>
        <p:spPr>
          <a:xfrm>
            <a:off x="365760" y="2578608"/>
            <a:ext cx="4389120" cy="182880"/>
          </a:xfrm>
          <a:prstGeom prst="rect">
            <a:avLst/>
          </a:prstGeom>
          <a:noFill/>
          <a:ln/>
        </p:spPr>
        <p:txBody>
          <a:bodyPr wrap="square" rtlCol="0" anchor="ctr"/>
          <a:lstStyle/>
          <a:p>
            <a:pPr indent="0" marL="0">
              <a:buNone/>
            </a:pPr>
            <a:r>
              <a:rPr lang="en-US" sz="780" dirty="0">
                <a:solidFill>
                  <a:srgbClr val="00BCD4"/>
                </a:solidFill>
                <a:latin typeface="Consolas" pitchFamily="34" charset="0"/>
                <a:ea typeface="Consolas" pitchFamily="34" charset="-122"/>
                <a:cs typeface="Consolas" pitchFamily="34" charset="-120"/>
              </a:rPr>
              <a:t>│       ├── ccp_quality/</a:t>
            </a:r>
            <a:endParaRPr lang="en-US" sz="780" dirty="0"/>
          </a:p>
        </p:txBody>
      </p:sp>
      <p:sp>
        <p:nvSpPr>
          <p:cNvPr id="18" name="Text 16"/>
          <p:cNvSpPr/>
          <p:nvPr/>
        </p:nvSpPr>
        <p:spPr>
          <a:xfrm>
            <a:off x="365760" y="2761488"/>
            <a:ext cx="4389120" cy="182880"/>
          </a:xfrm>
          <a:prstGeom prst="rect">
            <a:avLst/>
          </a:prstGeom>
          <a:noFill/>
          <a:ln/>
        </p:spPr>
        <p:txBody>
          <a:bodyPr wrap="square" rtlCol="0" anchor="ctr"/>
          <a:lstStyle/>
          <a:p>
            <a:pPr indent="0" marL="0">
              <a:buNone/>
            </a:pPr>
            <a:r>
              <a:rPr lang="en-US" sz="780" dirty="0">
                <a:solidFill>
                  <a:srgbClr val="F59E0B"/>
                </a:solidFill>
                <a:latin typeface="Consolas" pitchFamily="34" charset="0"/>
                <a:ea typeface="Consolas" pitchFamily="34" charset="-122"/>
                <a:cs typeface="Consolas" pitchFamily="34" charset="-120"/>
              </a:rPr>
              <a:t>│       ├── inferred_engine/</a:t>
            </a:r>
            <a:endParaRPr lang="en-US" sz="780" dirty="0"/>
          </a:p>
        </p:txBody>
      </p:sp>
      <p:sp>
        <p:nvSpPr>
          <p:cNvPr id="19" name="Text 17"/>
          <p:cNvSpPr/>
          <p:nvPr/>
        </p:nvSpPr>
        <p:spPr>
          <a:xfrm>
            <a:off x="365760" y="2944368"/>
            <a:ext cx="4389120" cy="182880"/>
          </a:xfrm>
          <a:prstGeom prst="rect">
            <a:avLst/>
          </a:prstGeom>
          <a:noFill/>
          <a:ln/>
        </p:spPr>
        <p:txBody>
          <a:bodyPr wrap="square" rtlCol="0" anchor="ctr"/>
          <a:lstStyle/>
          <a:p>
            <a:pPr indent="0" marL="0">
              <a:buNone/>
            </a:pPr>
            <a:r>
              <a:rPr lang="en-US" sz="780" dirty="0">
                <a:solidFill>
                  <a:srgbClr val="6B46C1"/>
                </a:solidFill>
                <a:latin typeface="Consolas" pitchFamily="34" charset="0"/>
                <a:ea typeface="Consolas" pitchFamily="34" charset="-122"/>
                <a:cs typeface="Consolas" pitchFamily="34" charset="-120"/>
              </a:rPr>
              <a:t>│       ├── sub_model/</a:t>
            </a:r>
            <a:endParaRPr lang="en-US" sz="780" dirty="0"/>
          </a:p>
        </p:txBody>
      </p:sp>
      <p:sp>
        <p:nvSpPr>
          <p:cNvPr id="20" name="Text 18"/>
          <p:cNvSpPr/>
          <p:nvPr/>
        </p:nvSpPr>
        <p:spPr>
          <a:xfrm>
            <a:off x="365760" y="3127248"/>
            <a:ext cx="4389120" cy="182880"/>
          </a:xfrm>
          <a:prstGeom prst="rect">
            <a:avLst/>
          </a:prstGeom>
          <a:noFill/>
          <a:ln/>
        </p:spPr>
        <p:txBody>
          <a:bodyPr wrap="square" rtlCol="0" anchor="ctr"/>
          <a:lstStyle/>
          <a:p>
            <a:pPr indent="0" marL="0">
              <a:buNone/>
            </a:pPr>
            <a:r>
              <a:rPr lang="en-US" sz="780" dirty="0">
                <a:solidFill>
                  <a:srgbClr val="E05A4F"/>
                </a:solidFill>
                <a:latin typeface="Consolas" pitchFamily="34" charset="0"/>
                <a:ea typeface="Consolas" pitchFamily="34" charset="-122"/>
                <a:cs typeface="Consolas" pitchFamily="34" charset="-120"/>
              </a:rPr>
              <a:t>│       ├── optimizer_prep/</a:t>
            </a:r>
            <a:endParaRPr lang="en-US" sz="780" dirty="0"/>
          </a:p>
        </p:txBody>
      </p:sp>
      <p:sp>
        <p:nvSpPr>
          <p:cNvPr id="21" name="Text 19"/>
          <p:cNvSpPr/>
          <p:nvPr/>
        </p:nvSpPr>
        <p:spPr>
          <a:xfrm>
            <a:off x="365760" y="3310128"/>
            <a:ext cx="4389120" cy="182880"/>
          </a:xfrm>
          <a:prstGeom prst="rect">
            <a:avLst/>
          </a:prstGeom>
          <a:noFill/>
          <a:ln/>
        </p:spPr>
        <p:txBody>
          <a:bodyPr wrap="square" rtlCol="0" anchor="ctr"/>
          <a:lstStyle/>
          <a:p>
            <a:pPr indent="0" marL="0">
              <a:buNone/>
            </a:pPr>
            <a:r>
              <a:rPr lang="en-US" sz="780" dirty="0">
                <a:solidFill>
                  <a:srgbClr val="10B981"/>
                </a:solidFill>
                <a:latin typeface="Consolas" pitchFamily="34" charset="0"/>
                <a:ea typeface="Consolas" pitchFamily="34" charset="-122"/>
                <a:cs typeface="Consolas" pitchFamily="34" charset="-120"/>
              </a:rPr>
              <a:t>│       ├── optimizer/</a:t>
            </a:r>
            <a:endParaRPr lang="en-US" sz="780" dirty="0"/>
          </a:p>
        </p:txBody>
      </p:sp>
      <p:sp>
        <p:nvSpPr>
          <p:cNvPr id="22" name="Text 20"/>
          <p:cNvSpPr/>
          <p:nvPr/>
        </p:nvSpPr>
        <p:spPr>
          <a:xfrm>
            <a:off x="365760" y="3493008"/>
            <a:ext cx="4389120" cy="182880"/>
          </a:xfrm>
          <a:prstGeom prst="rect">
            <a:avLst/>
          </a:prstGeom>
          <a:noFill/>
          <a:ln/>
        </p:spPr>
        <p:txBody>
          <a:bodyPr wrap="square" rtlCol="0" anchor="ctr"/>
          <a:lstStyle/>
          <a:p>
            <a:pPr indent="0" marL="0">
              <a:buNone/>
            </a:pPr>
            <a:r>
              <a:rPr lang="en-US" sz="780" dirty="0">
                <a:solidFill>
                  <a:srgbClr val="00897B"/>
                </a:solidFill>
                <a:latin typeface="Consolas" pitchFamily="34" charset="0"/>
                <a:ea typeface="Consolas" pitchFamily="34" charset="-122"/>
                <a:cs typeface="Consolas" pitchFamily="34" charset="-120"/>
              </a:rPr>
              <a:t>│       ├── post_optimizer/</a:t>
            </a:r>
            <a:endParaRPr lang="en-US" sz="780" dirty="0"/>
          </a:p>
        </p:txBody>
      </p:sp>
      <p:sp>
        <p:nvSpPr>
          <p:cNvPr id="23" name="Text 21"/>
          <p:cNvSpPr/>
          <p:nvPr/>
        </p:nvSpPr>
        <p:spPr>
          <a:xfrm>
            <a:off x="365760" y="3675888"/>
            <a:ext cx="4389120" cy="182880"/>
          </a:xfrm>
          <a:prstGeom prst="rect">
            <a:avLst/>
          </a:prstGeom>
          <a:noFill/>
          <a:ln/>
        </p:spPr>
        <p:txBody>
          <a:bodyPr wrap="square" rtlCol="0" anchor="ctr"/>
          <a:lstStyle/>
          <a:p>
            <a:pPr indent="0" marL="0">
              <a:buNone/>
            </a:pPr>
            <a:r>
              <a:rPr lang="en-US" sz="780" dirty="0">
                <a:solidFill>
                  <a:srgbClr val="F59E0B"/>
                </a:solidFill>
                <a:latin typeface="Consolas" pitchFamily="34" charset="0"/>
                <a:ea typeface="Consolas" pitchFamily="34" charset="-122"/>
                <a:cs typeface="Consolas" pitchFamily="34" charset="-120"/>
              </a:rPr>
              <a:t>│       └── ods_reporting/</a:t>
            </a:r>
            <a:endParaRPr lang="en-US" sz="780" dirty="0"/>
          </a:p>
        </p:txBody>
      </p:sp>
      <p:sp>
        <p:nvSpPr>
          <p:cNvPr id="24" name="Text 22"/>
          <p:cNvSpPr/>
          <p:nvPr/>
        </p:nvSpPr>
        <p:spPr>
          <a:xfrm>
            <a:off x="347472" y="3858768"/>
            <a:ext cx="4389120" cy="182880"/>
          </a:xfrm>
          <a:prstGeom prst="rect">
            <a:avLst/>
          </a:prstGeom>
          <a:noFill/>
          <a:ln/>
        </p:spPr>
        <p:txBody>
          <a:bodyPr wrap="square" rtlCol="0" anchor="ctr"/>
          <a:lstStyle/>
          <a:p>
            <a:pPr indent="0" marL="0">
              <a:buNone/>
            </a:pPr>
            <a:r>
              <a:rPr lang="en-US" sz="780" dirty="0">
                <a:solidFill>
                  <a:srgbClr val="FFFFFF"/>
                </a:solidFill>
                <a:latin typeface="Consolas" pitchFamily="34" charset="0"/>
                <a:ea typeface="Consolas" pitchFamily="34" charset="-122"/>
                <a:cs typeface="Consolas" pitchFamily="34" charset="-120"/>
              </a:rPr>
              <a:t>├── config/</a:t>
            </a:r>
            <a:endParaRPr lang="en-US" sz="780" dirty="0"/>
          </a:p>
        </p:txBody>
      </p:sp>
      <p:sp>
        <p:nvSpPr>
          <p:cNvPr id="25" name="Text 23"/>
          <p:cNvSpPr/>
          <p:nvPr/>
        </p:nvSpPr>
        <p:spPr>
          <a:xfrm>
            <a:off x="356616" y="404164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db_loader.py</a:t>
            </a:r>
            <a:endParaRPr lang="en-US" sz="780" dirty="0"/>
          </a:p>
        </p:txBody>
      </p:sp>
      <p:sp>
        <p:nvSpPr>
          <p:cNvPr id="26" name="Text 24"/>
          <p:cNvSpPr/>
          <p:nvPr/>
        </p:nvSpPr>
        <p:spPr>
          <a:xfrm>
            <a:off x="356616" y="422452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catalog.yaml</a:t>
            </a:r>
            <a:endParaRPr lang="en-US" sz="780" dirty="0"/>
          </a:p>
        </p:txBody>
      </p:sp>
      <p:sp>
        <p:nvSpPr>
          <p:cNvPr id="27" name="Text 25"/>
          <p:cNvSpPr/>
          <p:nvPr/>
        </p:nvSpPr>
        <p:spPr>
          <a:xfrm>
            <a:off x="347472" y="4407408"/>
            <a:ext cx="4389120" cy="182880"/>
          </a:xfrm>
          <a:prstGeom prst="rect">
            <a:avLst/>
          </a:prstGeom>
          <a:noFill/>
          <a:ln/>
        </p:spPr>
        <p:txBody>
          <a:bodyPr wrap="square" rtlCol="0" anchor="ctr"/>
          <a:lstStyle/>
          <a:p>
            <a:pPr indent="0" marL="0">
              <a:buNone/>
            </a:pPr>
            <a:r>
              <a:rPr lang="en-US" sz="780" dirty="0">
                <a:solidFill>
                  <a:srgbClr val="FFFFFF"/>
                </a:solidFill>
                <a:latin typeface="Consolas" pitchFamily="34" charset="0"/>
                <a:ea typeface="Consolas" pitchFamily="34" charset="-122"/>
                <a:cs typeface="Consolas" pitchFamily="34" charset="-120"/>
              </a:rPr>
              <a:t>├── data_access/</a:t>
            </a:r>
            <a:endParaRPr lang="en-US" sz="780" dirty="0"/>
          </a:p>
        </p:txBody>
      </p:sp>
      <p:sp>
        <p:nvSpPr>
          <p:cNvPr id="28" name="Text 26"/>
          <p:cNvSpPr/>
          <p:nvPr/>
        </p:nvSpPr>
        <p:spPr>
          <a:xfrm>
            <a:off x="356616" y="459028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pi_client.py</a:t>
            </a:r>
            <a:endParaRPr lang="en-US" sz="780" dirty="0"/>
          </a:p>
        </p:txBody>
      </p:sp>
      <p:sp>
        <p:nvSpPr>
          <p:cNvPr id="29" name="Text 27"/>
          <p:cNvSpPr/>
          <p:nvPr/>
        </p:nvSpPr>
        <p:spPr>
          <a:xfrm>
            <a:off x="356616" y="477316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db_client.py</a:t>
            </a:r>
            <a:endParaRPr lang="en-US" sz="780" dirty="0"/>
          </a:p>
        </p:txBody>
      </p:sp>
      <p:sp>
        <p:nvSpPr>
          <p:cNvPr id="30" name="Text 28"/>
          <p:cNvSpPr/>
          <p:nvPr/>
        </p:nvSpPr>
        <p:spPr>
          <a:xfrm>
            <a:off x="347472" y="4956048"/>
            <a:ext cx="4389120" cy="182880"/>
          </a:xfrm>
          <a:prstGeom prst="rect">
            <a:avLst/>
          </a:prstGeom>
          <a:noFill/>
          <a:ln/>
        </p:spPr>
        <p:txBody>
          <a:bodyPr wrap="square" rtlCol="0" anchor="ctr"/>
          <a:lstStyle/>
          <a:p>
            <a:pPr indent="0" marL="0">
              <a:buNone/>
            </a:pPr>
            <a:r>
              <a:rPr lang="en-US" sz="780" dirty="0">
                <a:solidFill>
                  <a:srgbClr val="FFFFFF"/>
                </a:solidFill>
                <a:latin typeface="Consolas" pitchFamily="34" charset="0"/>
                <a:ea typeface="Consolas" pitchFamily="34" charset="-122"/>
                <a:cs typeface="Consolas" pitchFamily="34" charset="-120"/>
              </a:rPr>
              <a:t>├── orchestration/</a:t>
            </a:r>
            <a:endParaRPr lang="en-US" sz="780" dirty="0"/>
          </a:p>
        </p:txBody>
      </p:sp>
      <p:sp>
        <p:nvSpPr>
          <p:cNvPr id="31" name="Text 29"/>
          <p:cNvSpPr/>
          <p:nvPr/>
        </p:nvSpPr>
        <p:spPr>
          <a:xfrm>
            <a:off x="356616" y="5138928"/>
            <a:ext cx="4389120" cy="182880"/>
          </a:xfrm>
          <a:prstGeom prst="rect">
            <a:avLst/>
          </a:prstGeom>
          <a:noFill/>
          <a:ln/>
        </p:spPr>
        <p:txBody>
          <a:bodyPr wrap="square" rtlCol="0" anchor="ctr"/>
          <a:lstStyle/>
          <a:p>
            <a:pPr indent="0" marL="0">
              <a:buNone/>
            </a:pPr>
            <a:r>
              <a:rPr lang="en-US" sz="780" dirty="0">
                <a:solidFill>
                  <a:srgbClr val="6B46C1"/>
                </a:solidFill>
                <a:latin typeface="Consolas" pitchFamily="34" charset="0"/>
                <a:ea typeface="Consolas" pitchFamily="34" charset="-122"/>
                <a:cs typeface="Consolas" pitchFamily="34" charset="-120"/>
              </a:rPr>
              <a:t>│   ├── dag_manager.py</a:t>
            </a:r>
            <a:endParaRPr lang="en-US" sz="780" dirty="0"/>
          </a:p>
        </p:txBody>
      </p:sp>
      <p:sp>
        <p:nvSpPr>
          <p:cNvPr id="32" name="Text 30"/>
          <p:cNvSpPr/>
          <p:nvPr/>
        </p:nvSpPr>
        <p:spPr>
          <a:xfrm>
            <a:off x="356616" y="532180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pipeline_builder.py</a:t>
            </a:r>
            <a:endParaRPr lang="en-US" sz="780" dirty="0"/>
          </a:p>
        </p:txBody>
      </p:sp>
      <p:sp>
        <p:nvSpPr>
          <p:cNvPr id="33" name="Text 31"/>
          <p:cNvSpPr/>
          <p:nvPr/>
        </p:nvSpPr>
        <p:spPr>
          <a:xfrm>
            <a:off x="347472" y="5504688"/>
            <a:ext cx="4389120" cy="182880"/>
          </a:xfrm>
          <a:prstGeom prst="rect">
            <a:avLst/>
          </a:prstGeom>
          <a:noFill/>
          <a:ln/>
        </p:spPr>
        <p:txBody>
          <a:bodyPr wrap="square" rtlCol="0" anchor="ctr"/>
          <a:lstStyle/>
          <a:p>
            <a:pPr indent="0" marL="0">
              <a:buNone/>
            </a:pPr>
            <a:r>
              <a:rPr lang="en-US" sz="780" dirty="0">
                <a:solidFill>
                  <a:srgbClr val="00BCD4"/>
                </a:solidFill>
                <a:latin typeface="Consolas" pitchFamily="34" charset="0"/>
                <a:ea typeface="Consolas" pitchFamily="34" charset="-122"/>
                <a:cs typeface="Consolas" pitchFamily="34" charset="-120"/>
              </a:rPr>
              <a:t>└── genai/  ← Phil. 2 only</a:t>
            </a:r>
            <a:endParaRPr lang="en-US" sz="780" dirty="0"/>
          </a:p>
        </p:txBody>
      </p:sp>
      <p:sp>
        <p:nvSpPr>
          <p:cNvPr id="34" name="Text 32"/>
          <p:cNvSpPr/>
          <p:nvPr/>
        </p:nvSpPr>
        <p:spPr>
          <a:xfrm>
            <a:off x="356616" y="568756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document_parser.py</a:t>
            </a:r>
            <a:endParaRPr lang="en-US" sz="780" dirty="0"/>
          </a:p>
        </p:txBody>
      </p:sp>
      <p:sp>
        <p:nvSpPr>
          <p:cNvPr id="35" name="Text 33"/>
          <p:cNvSpPr/>
          <p:nvPr/>
        </p:nvSpPr>
        <p:spPr>
          <a:xfrm>
            <a:off x="356616" y="587044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tag_extractor.py</a:t>
            </a:r>
            <a:endParaRPr lang="en-US" sz="780" dirty="0"/>
          </a:p>
        </p:txBody>
      </p:sp>
      <p:sp>
        <p:nvSpPr>
          <p:cNvPr id="36" name="Text 34"/>
          <p:cNvSpPr/>
          <p:nvPr/>
        </p:nvSpPr>
        <p:spPr>
          <a:xfrm>
            <a:off x="356616" y="6053328"/>
            <a:ext cx="4389120" cy="182880"/>
          </a:xfrm>
          <a:prstGeom prst="rect">
            <a:avLst/>
          </a:prstGeom>
          <a:noFill/>
          <a:ln/>
        </p:spPr>
        <p:txBody>
          <a:bodyPr wrap="square" rtlCol="0" anchor="ctr"/>
          <a:lstStyle/>
          <a:p>
            <a:pPr indent="0" marL="0">
              <a:buNone/>
            </a:pPr>
            <a:r>
              <a:rPr lang="en-US" sz="780" dirty="0">
                <a:solidFill>
                  <a:srgbClr val="94A3B8"/>
                </a:solidFill>
                <a:latin typeface="Consolas" pitchFamily="34" charset="0"/>
                <a:ea typeface="Consolas" pitchFamily="34" charset="-122"/>
                <a:cs typeface="Consolas" pitchFamily="34" charset="-120"/>
              </a:rPr>
              <a:t>    └── review_gateway.py</a:t>
            </a:r>
            <a:endParaRPr lang="en-US" sz="780" dirty="0"/>
          </a:p>
        </p:txBody>
      </p:sp>
      <p:sp>
        <p:nvSpPr>
          <p:cNvPr id="37" name="Shape 35"/>
          <p:cNvSpPr/>
          <p:nvPr/>
        </p:nvSpPr>
        <p:spPr>
          <a:xfrm>
            <a:off x="5074920" y="777240"/>
            <a:ext cx="1691640" cy="2743200"/>
          </a:xfrm>
          <a:prstGeom prst="rect">
            <a:avLst/>
          </a:prstGeom>
          <a:solidFill>
            <a:srgbClr val="162944"/>
          </a:solidFill>
          <a:ln w="12700">
            <a:solidFill>
              <a:srgbClr val="1E3A5F"/>
            </a:solidFill>
            <a:prstDash val="solid"/>
          </a:ln>
        </p:spPr>
      </p:sp>
      <p:sp>
        <p:nvSpPr>
          <p:cNvPr id="38" name="Shape 36"/>
          <p:cNvSpPr/>
          <p:nvPr/>
        </p:nvSpPr>
        <p:spPr>
          <a:xfrm>
            <a:off x="5074920" y="777240"/>
            <a:ext cx="1691640" cy="36576"/>
          </a:xfrm>
          <a:prstGeom prst="rect">
            <a:avLst/>
          </a:prstGeom>
          <a:solidFill>
            <a:srgbClr val="00897B"/>
          </a:solidFill>
          <a:ln/>
        </p:spPr>
      </p:sp>
      <p:sp>
        <p:nvSpPr>
          <p:cNvPr id="39" name="Text 37"/>
          <p:cNvSpPr/>
          <p:nvPr/>
        </p:nvSpPr>
        <p:spPr>
          <a:xfrm>
            <a:off x="5120640" y="850392"/>
            <a:ext cx="1600200" cy="274320"/>
          </a:xfrm>
          <a:prstGeom prst="rect">
            <a:avLst/>
          </a:prstGeom>
          <a:noFill/>
          <a:ln/>
        </p:spPr>
        <p:txBody>
          <a:bodyPr wrap="square" rtlCol="0" anchor="ctr"/>
          <a:lstStyle/>
          <a:p>
            <a:pPr indent="0" marL="0">
              <a:buNone/>
            </a:pPr>
            <a:r>
              <a:rPr lang="en-US" sz="700" b="1" dirty="0">
                <a:solidFill>
                  <a:srgbClr val="00897B"/>
                </a:solidFill>
                <a:latin typeface="Consolas" pitchFamily="34" charset="0"/>
                <a:ea typeface="Consolas" pitchFamily="34" charset="-122"/>
                <a:cs typeface="Consolas" pitchFamily="34" charset="-120"/>
              </a:rPr>
              <a:t>ingestion/nodes.py</a:t>
            </a:r>
            <a:endParaRPr lang="en-US" sz="700" dirty="0"/>
          </a:p>
        </p:txBody>
      </p:sp>
      <p:sp>
        <p:nvSpPr>
          <p:cNvPr id="40" name="Shape 38"/>
          <p:cNvSpPr/>
          <p:nvPr/>
        </p:nvSpPr>
        <p:spPr>
          <a:xfrm>
            <a:off x="5120640" y="1161288"/>
            <a:ext cx="1600200" cy="502920"/>
          </a:xfrm>
          <a:prstGeom prst="rect">
            <a:avLst/>
          </a:prstGeom>
          <a:solidFill>
            <a:srgbClr val="132238"/>
          </a:solidFill>
          <a:ln w="12700">
            <a:solidFill>
              <a:srgbClr val="1E3A5F"/>
            </a:solidFill>
            <a:prstDash val="solid"/>
          </a:ln>
        </p:spPr>
      </p:sp>
      <p:sp>
        <p:nvSpPr>
          <p:cNvPr id="41" name="Text 39"/>
          <p:cNvSpPr/>
          <p:nvPr/>
        </p:nvSpPr>
        <p:spPr>
          <a:xfrm>
            <a:off x="5148072" y="11795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create_pi_connection(pi_config)</a:t>
            </a:r>
            <a:endParaRPr lang="en-US" sz="700" dirty="0"/>
          </a:p>
        </p:txBody>
      </p:sp>
      <p:sp>
        <p:nvSpPr>
          <p:cNvPr id="42" name="Shape 40"/>
          <p:cNvSpPr/>
          <p:nvPr/>
        </p:nvSpPr>
        <p:spPr>
          <a:xfrm>
            <a:off x="5120640" y="1719072"/>
            <a:ext cx="1600200" cy="502920"/>
          </a:xfrm>
          <a:prstGeom prst="rect">
            <a:avLst/>
          </a:prstGeom>
          <a:solidFill>
            <a:srgbClr val="132238"/>
          </a:solidFill>
          <a:ln w="12700">
            <a:solidFill>
              <a:srgbClr val="1E3A5F"/>
            </a:solidFill>
            <a:prstDash val="solid"/>
          </a:ln>
        </p:spPr>
      </p:sp>
      <p:sp>
        <p:nvSpPr>
          <p:cNvPr id="43" name="Text 41"/>
          <p:cNvSpPr/>
          <p:nvPr/>
        </p:nvSpPr>
        <p:spPr>
          <a:xfrm>
            <a:off x="5148072" y="17373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fetch_pi_data(pi_conn, tags, window)</a:t>
            </a:r>
            <a:endParaRPr lang="en-US" sz="700" dirty="0"/>
          </a:p>
        </p:txBody>
      </p:sp>
      <p:sp>
        <p:nvSpPr>
          <p:cNvPr id="44" name="Shape 42"/>
          <p:cNvSpPr/>
          <p:nvPr/>
        </p:nvSpPr>
        <p:spPr>
          <a:xfrm>
            <a:off x="5120640" y="2276856"/>
            <a:ext cx="1600200" cy="502920"/>
          </a:xfrm>
          <a:prstGeom prst="rect">
            <a:avLst/>
          </a:prstGeom>
          <a:solidFill>
            <a:srgbClr val="132238"/>
          </a:solidFill>
          <a:ln w="12700">
            <a:solidFill>
              <a:srgbClr val="1E3A5F"/>
            </a:solidFill>
            <a:prstDash val="solid"/>
          </a:ln>
        </p:spPr>
      </p:sp>
      <p:sp>
        <p:nvSpPr>
          <p:cNvPr id="45" name="Text 43"/>
          <p:cNvSpPr/>
          <p:nvPr/>
        </p:nvSpPr>
        <p:spPr>
          <a:xfrm>
            <a:off x="5148072" y="22951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standardize_columns(raw_df, mapping)</a:t>
            </a:r>
            <a:endParaRPr lang="en-US" sz="700" dirty="0"/>
          </a:p>
        </p:txBody>
      </p:sp>
      <p:sp>
        <p:nvSpPr>
          <p:cNvPr id="46" name="Shape 44"/>
          <p:cNvSpPr/>
          <p:nvPr/>
        </p:nvSpPr>
        <p:spPr>
          <a:xfrm>
            <a:off x="5120640" y="2834640"/>
            <a:ext cx="1600200" cy="502920"/>
          </a:xfrm>
          <a:prstGeom prst="rect">
            <a:avLst/>
          </a:prstGeom>
          <a:solidFill>
            <a:srgbClr val="132238"/>
          </a:solidFill>
          <a:ln w="12700">
            <a:solidFill>
              <a:srgbClr val="1E3A5F"/>
            </a:solidFill>
            <a:prstDash val="solid"/>
          </a:ln>
        </p:spPr>
      </p:sp>
      <p:sp>
        <p:nvSpPr>
          <p:cNvPr id="47" name="Text 45"/>
          <p:cNvSpPr/>
          <p:nvPr/>
        </p:nvSpPr>
        <p:spPr>
          <a:xfrm>
            <a:off x="5148072" y="28529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map_tags(std_df, tag_config)</a:t>
            </a:r>
            <a:endParaRPr lang="en-US" sz="700" dirty="0"/>
          </a:p>
        </p:txBody>
      </p:sp>
      <p:sp>
        <p:nvSpPr>
          <p:cNvPr id="48" name="Shape 46"/>
          <p:cNvSpPr/>
          <p:nvPr/>
        </p:nvSpPr>
        <p:spPr>
          <a:xfrm>
            <a:off x="6858000" y="777240"/>
            <a:ext cx="1691640" cy="2743200"/>
          </a:xfrm>
          <a:prstGeom prst="rect">
            <a:avLst/>
          </a:prstGeom>
          <a:solidFill>
            <a:srgbClr val="162944"/>
          </a:solidFill>
          <a:ln w="12700">
            <a:solidFill>
              <a:srgbClr val="1E3A5F"/>
            </a:solidFill>
            <a:prstDash val="solid"/>
          </a:ln>
        </p:spPr>
      </p:sp>
      <p:sp>
        <p:nvSpPr>
          <p:cNvPr id="49" name="Shape 47"/>
          <p:cNvSpPr/>
          <p:nvPr/>
        </p:nvSpPr>
        <p:spPr>
          <a:xfrm>
            <a:off x="6858000" y="777240"/>
            <a:ext cx="1691640" cy="36576"/>
          </a:xfrm>
          <a:prstGeom prst="rect">
            <a:avLst/>
          </a:prstGeom>
          <a:solidFill>
            <a:srgbClr val="00BCD4"/>
          </a:solidFill>
          <a:ln/>
        </p:spPr>
      </p:sp>
      <p:sp>
        <p:nvSpPr>
          <p:cNvPr id="50" name="Text 48"/>
          <p:cNvSpPr/>
          <p:nvPr/>
        </p:nvSpPr>
        <p:spPr>
          <a:xfrm>
            <a:off x="6903720" y="850392"/>
            <a:ext cx="1600200" cy="274320"/>
          </a:xfrm>
          <a:prstGeom prst="rect">
            <a:avLst/>
          </a:prstGeom>
          <a:noFill/>
          <a:ln/>
        </p:spPr>
        <p:txBody>
          <a:bodyPr wrap="square" rtlCol="0" anchor="ctr"/>
          <a:lstStyle/>
          <a:p>
            <a:pPr indent="0" marL="0">
              <a:buNone/>
            </a:pPr>
            <a:r>
              <a:rPr lang="en-US" sz="700" b="1" dirty="0">
                <a:solidFill>
                  <a:srgbClr val="00BCD4"/>
                </a:solidFill>
                <a:latin typeface="Consolas" pitchFamily="34" charset="0"/>
                <a:ea typeface="Consolas" pitchFamily="34" charset="-122"/>
                <a:cs typeface="Consolas" pitchFamily="34" charset="-120"/>
              </a:rPr>
              <a:t>ccp_quality/nodes.py</a:t>
            </a:r>
            <a:endParaRPr lang="en-US" sz="700" dirty="0"/>
          </a:p>
        </p:txBody>
      </p:sp>
      <p:sp>
        <p:nvSpPr>
          <p:cNvPr id="51" name="Shape 49"/>
          <p:cNvSpPr/>
          <p:nvPr/>
        </p:nvSpPr>
        <p:spPr>
          <a:xfrm>
            <a:off x="6903720" y="1161288"/>
            <a:ext cx="1600200" cy="502920"/>
          </a:xfrm>
          <a:prstGeom prst="rect">
            <a:avLst/>
          </a:prstGeom>
          <a:solidFill>
            <a:srgbClr val="132238"/>
          </a:solidFill>
          <a:ln w="12700">
            <a:solidFill>
              <a:srgbClr val="1E3A5F"/>
            </a:solidFill>
            <a:prstDash val="solid"/>
          </a:ln>
        </p:spPr>
      </p:sp>
      <p:sp>
        <p:nvSpPr>
          <p:cNvPr id="52" name="Text 50"/>
          <p:cNvSpPr/>
          <p:nvPr/>
        </p:nvSpPr>
        <p:spPr>
          <a:xfrm>
            <a:off x="6931152" y="11795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check_tag_nan(df, ccp_config)</a:t>
            </a:r>
            <a:endParaRPr lang="en-US" sz="700" dirty="0"/>
          </a:p>
        </p:txBody>
      </p:sp>
      <p:sp>
        <p:nvSpPr>
          <p:cNvPr id="53" name="Shape 51"/>
          <p:cNvSpPr/>
          <p:nvPr/>
        </p:nvSpPr>
        <p:spPr>
          <a:xfrm>
            <a:off x="6903720" y="1719072"/>
            <a:ext cx="1600200" cy="502920"/>
          </a:xfrm>
          <a:prstGeom prst="rect">
            <a:avLst/>
          </a:prstGeom>
          <a:solidFill>
            <a:srgbClr val="132238"/>
          </a:solidFill>
          <a:ln w="12700">
            <a:solidFill>
              <a:srgbClr val="1E3A5F"/>
            </a:solidFill>
            <a:prstDash val="solid"/>
          </a:ln>
        </p:spPr>
      </p:sp>
      <p:sp>
        <p:nvSpPr>
          <p:cNvPr id="54" name="Text 52"/>
          <p:cNvSpPr/>
          <p:nvPr/>
        </p:nvSpPr>
        <p:spPr>
          <a:xfrm>
            <a:off x="6931152" y="17373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check_tag_stuck(df, ccp_config, n_hours)</a:t>
            </a:r>
            <a:endParaRPr lang="en-US" sz="700" dirty="0"/>
          </a:p>
        </p:txBody>
      </p:sp>
      <p:sp>
        <p:nvSpPr>
          <p:cNvPr id="55" name="Shape 53"/>
          <p:cNvSpPr/>
          <p:nvPr/>
        </p:nvSpPr>
        <p:spPr>
          <a:xfrm>
            <a:off x="6903720" y="2276856"/>
            <a:ext cx="1600200" cy="502920"/>
          </a:xfrm>
          <a:prstGeom prst="rect">
            <a:avLst/>
          </a:prstGeom>
          <a:solidFill>
            <a:srgbClr val="132238"/>
          </a:solidFill>
          <a:ln w="12700">
            <a:solidFill>
              <a:srgbClr val="1E3A5F"/>
            </a:solidFill>
            <a:prstDash val="solid"/>
          </a:ln>
        </p:spPr>
      </p:sp>
      <p:sp>
        <p:nvSpPr>
          <p:cNvPr id="56" name="Text 54"/>
          <p:cNvSpPr/>
          <p:nvPr/>
        </p:nvSpPr>
        <p:spPr>
          <a:xfrm>
            <a:off x="6931152" y="22951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check_tag_out_of_bound(df, ccp_config)</a:t>
            </a:r>
            <a:endParaRPr lang="en-US" sz="700" dirty="0"/>
          </a:p>
        </p:txBody>
      </p:sp>
      <p:sp>
        <p:nvSpPr>
          <p:cNvPr id="57" name="Shape 55"/>
          <p:cNvSpPr/>
          <p:nvPr/>
        </p:nvSpPr>
        <p:spPr>
          <a:xfrm>
            <a:off x="6903720" y="2834640"/>
            <a:ext cx="1600200" cy="502920"/>
          </a:xfrm>
          <a:prstGeom prst="rect">
            <a:avLst/>
          </a:prstGeom>
          <a:solidFill>
            <a:srgbClr val="132238"/>
          </a:solidFill>
          <a:ln w="12700">
            <a:solidFill>
              <a:srgbClr val="1E3A5F"/>
            </a:solidFill>
            <a:prstDash val="solid"/>
          </a:ln>
        </p:spPr>
      </p:sp>
      <p:sp>
        <p:nvSpPr>
          <p:cNvPr id="58" name="Text 56"/>
          <p:cNvSpPr/>
          <p:nvPr/>
        </p:nvSpPr>
        <p:spPr>
          <a:xfrm>
            <a:off x="6931152" y="28529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apply_defaults(df, ccp_config)</a:t>
            </a:r>
            <a:endParaRPr lang="en-US" sz="700" dirty="0"/>
          </a:p>
        </p:txBody>
      </p:sp>
      <p:sp>
        <p:nvSpPr>
          <p:cNvPr id="59" name="Shape 57"/>
          <p:cNvSpPr/>
          <p:nvPr/>
        </p:nvSpPr>
        <p:spPr>
          <a:xfrm>
            <a:off x="8641080" y="777240"/>
            <a:ext cx="1691640" cy="2743200"/>
          </a:xfrm>
          <a:prstGeom prst="rect">
            <a:avLst/>
          </a:prstGeom>
          <a:solidFill>
            <a:srgbClr val="162944"/>
          </a:solidFill>
          <a:ln w="12700">
            <a:solidFill>
              <a:srgbClr val="1E3A5F"/>
            </a:solidFill>
            <a:prstDash val="solid"/>
          </a:ln>
        </p:spPr>
      </p:sp>
      <p:sp>
        <p:nvSpPr>
          <p:cNvPr id="60" name="Shape 58"/>
          <p:cNvSpPr/>
          <p:nvPr/>
        </p:nvSpPr>
        <p:spPr>
          <a:xfrm>
            <a:off x="8641080" y="777240"/>
            <a:ext cx="1691640" cy="36576"/>
          </a:xfrm>
          <a:prstGeom prst="rect">
            <a:avLst/>
          </a:prstGeom>
          <a:solidFill>
            <a:srgbClr val="F59E0B"/>
          </a:solidFill>
          <a:ln/>
        </p:spPr>
      </p:sp>
      <p:sp>
        <p:nvSpPr>
          <p:cNvPr id="61" name="Text 59"/>
          <p:cNvSpPr/>
          <p:nvPr/>
        </p:nvSpPr>
        <p:spPr>
          <a:xfrm>
            <a:off x="8686800" y="850392"/>
            <a:ext cx="1600200" cy="274320"/>
          </a:xfrm>
          <a:prstGeom prst="rect">
            <a:avLst/>
          </a:prstGeom>
          <a:noFill/>
          <a:ln/>
        </p:spPr>
        <p:txBody>
          <a:bodyPr wrap="square" rtlCol="0" anchor="ctr"/>
          <a:lstStyle/>
          <a:p>
            <a:pPr indent="0" marL="0">
              <a:buNone/>
            </a:pPr>
            <a:r>
              <a:rPr lang="en-US" sz="700" b="1" dirty="0">
                <a:solidFill>
                  <a:srgbClr val="F59E0B"/>
                </a:solidFill>
                <a:latin typeface="Consolas" pitchFamily="34" charset="0"/>
                <a:ea typeface="Consolas" pitchFamily="34" charset="-122"/>
                <a:cs typeface="Consolas" pitchFamily="34" charset="-120"/>
              </a:rPr>
              <a:t>inferred_engine/nodes.py</a:t>
            </a:r>
            <a:endParaRPr lang="en-US" sz="700" dirty="0"/>
          </a:p>
        </p:txBody>
      </p:sp>
      <p:sp>
        <p:nvSpPr>
          <p:cNvPr id="62" name="Shape 60"/>
          <p:cNvSpPr/>
          <p:nvPr/>
        </p:nvSpPr>
        <p:spPr>
          <a:xfrm>
            <a:off x="8686800" y="1161288"/>
            <a:ext cx="1600200" cy="502920"/>
          </a:xfrm>
          <a:prstGeom prst="rect">
            <a:avLst/>
          </a:prstGeom>
          <a:solidFill>
            <a:srgbClr val="132238"/>
          </a:solidFill>
          <a:ln w="12700">
            <a:solidFill>
              <a:srgbClr val="1E3A5F"/>
            </a:solidFill>
            <a:prstDash val="solid"/>
          </a:ln>
        </p:spPr>
      </p:sp>
      <p:sp>
        <p:nvSpPr>
          <p:cNvPr id="63" name="Text 61"/>
          <p:cNvSpPr/>
          <p:nvPr/>
        </p:nvSpPr>
        <p:spPr>
          <a:xfrm>
            <a:off x="8714232" y="11795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build_dependency_graph(inferred_cfg)</a:t>
            </a:r>
            <a:endParaRPr lang="en-US" sz="700" dirty="0"/>
          </a:p>
        </p:txBody>
      </p:sp>
      <p:sp>
        <p:nvSpPr>
          <p:cNvPr id="64" name="Shape 62"/>
          <p:cNvSpPr/>
          <p:nvPr/>
        </p:nvSpPr>
        <p:spPr>
          <a:xfrm>
            <a:off x="8686800" y="1719072"/>
            <a:ext cx="1600200" cy="502920"/>
          </a:xfrm>
          <a:prstGeom prst="rect">
            <a:avLst/>
          </a:prstGeom>
          <a:solidFill>
            <a:srgbClr val="132238"/>
          </a:solidFill>
          <a:ln w="12700">
            <a:solidFill>
              <a:srgbClr val="1E3A5F"/>
            </a:solidFill>
            <a:prstDash val="solid"/>
          </a:ln>
        </p:spPr>
      </p:sp>
      <p:sp>
        <p:nvSpPr>
          <p:cNvPr id="65" name="Text 63"/>
          <p:cNvSpPr/>
          <p:nvPr/>
        </p:nvSpPr>
        <p:spPr>
          <a:xfrm>
            <a:off x="8714232" y="17373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detect_circular_refs(G) → fsolve_tags</a:t>
            </a:r>
            <a:endParaRPr lang="en-US" sz="700" dirty="0"/>
          </a:p>
        </p:txBody>
      </p:sp>
      <p:sp>
        <p:nvSpPr>
          <p:cNvPr id="66" name="Shape 64"/>
          <p:cNvSpPr/>
          <p:nvPr/>
        </p:nvSpPr>
        <p:spPr>
          <a:xfrm>
            <a:off x="8686800" y="2276856"/>
            <a:ext cx="1600200" cy="502920"/>
          </a:xfrm>
          <a:prstGeom prst="rect">
            <a:avLst/>
          </a:prstGeom>
          <a:solidFill>
            <a:srgbClr val="132238"/>
          </a:solidFill>
          <a:ln w="12700">
            <a:solidFill>
              <a:srgbClr val="1E3A5F"/>
            </a:solidFill>
            <a:prstDash val="solid"/>
          </a:ln>
        </p:spPr>
      </p:sp>
      <p:sp>
        <p:nvSpPr>
          <p:cNvPr id="67" name="Text 65"/>
          <p:cNvSpPr/>
          <p:nvPr/>
        </p:nvSpPr>
        <p:spPr>
          <a:xfrm>
            <a:off x="8714232" y="22951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topological_sort_tags(G)</a:t>
            </a:r>
            <a:endParaRPr lang="en-US" sz="700" dirty="0"/>
          </a:p>
        </p:txBody>
      </p:sp>
      <p:sp>
        <p:nvSpPr>
          <p:cNvPr id="68" name="Shape 66"/>
          <p:cNvSpPr/>
          <p:nvPr/>
        </p:nvSpPr>
        <p:spPr>
          <a:xfrm>
            <a:off x="8686800" y="2834640"/>
            <a:ext cx="1600200" cy="502920"/>
          </a:xfrm>
          <a:prstGeom prst="rect">
            <a:avLst/>
          </a:prstGeom>
          <a:solidFill>
            <a:srgbClr val="132238"/>
          </a:solidFill>
          <a:ln w="12700">
            <a:solidFill>
              <a:srgbClr val="1E3A5F"/>
            </a:solidFill>
            <a:prstDash val="solid"/>
          </a:ln>
        </p:spPr>
      </p:sp>
      <p:sp>
        <p:nvSpPr>
          <p:cNvPr id="69" name="Text 67"/>
          <p:cNvSpPr/>
          <p:nvPr/>
        </p:nvSpPr>
        <p:spPr>
          <a:xfrm>
            <a:off x="8714232" y="28529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evaluate_inferred_tags(df, formula_cfg, order)</a:t>
            </a:r>
            <a:endParaRPr lang="en-US" sz="700" dirty="0"/>
          </a:p>
        </p:txBody>
      </p:sp>
      <p:sp>
        <p:nvSpPr>
          <p:cNvPr id="70" name="Shape 68"/>
          <p:cNvSpPr/>
          <p:nvPr/>
        </p:nvSpPr>
        <p:spPr>
          <a:xfrm>
            <a:off x="10424160" y="777240"/>
            <a:ext cx="1691640" cy="2743200"/>
          </a:xfrm>
          <a:prstGeom prst="rect">
            <a:avLst/>
          </a:prstGeom>
          <a:solidFill>
            <a:srgbClr val="162944"/>
          </a:solidFill>
          <a:ln w="12700">
            <a:solidFill>
              <a:srgbClr val="1E3A5F"/>
            </a:solidFill>
            <a:prstDash val="solid"/>
          </a:ln>
        </p:spPr>
      </p:sp>
      <p:sp>
        <p:nvSpPr>
          <p:cNvPr id="71" name="Shape 69"/>
          <p:cNvSpPr/>
          <p:nvPr/>
        </p:nvSpPr>
        <p:spPr>
          <a:xfrm>
            <a:off x="10424160" y="777240"/>
            <a:ext cx="1691640" cy="36576"/>
          </a:xfrm>
          <a:prstGeom prst="rect">
            <a:avLst/>
          </a:prstGeom>
          <a:solidFill>
            <a:srgbClr val="6B46C1"/>
          </a:solidFill>
          <a:ln/>
        </p:spPr>
      </p:sp>
      <p:sp>
        <p:nvSpPr>
          <p:cNvPr id="72" name="Text 70"/>
          <p:cNvSpPr/>
          <p:nvPr/>
        </p:nvSpPr>
        <p:spPr>
          <a:xfrm>
            <a:off x="10469880" y="850392"/>
            <a:ext cx="1600200" cy="274320"/>
          </a:xfrm>
          <a:prstGeom prst="rect">
            <a:avLst/>
          </a:prstGeom>
          <a:noFill/>
          <a:ln/>
        </p:spPr>
        <p:txBody>
          <a:bodyPr wrap="square" rtlCol="0" anchor="ctr"/>
          <a:lstStyle/>
          <a:p>
            <a:pPr indent="0" marL="0">
              <a:buNone/>
            </a:pPr>
            <a:r>
              <a:rPr lang="en-US" sz="700" b="1" dirty="0">
                <a:solidFill>
                  <a:srgbClr val="6B46C1"/>
                </a:solidFill>
                <a:latin typeface="Consolas" pitchFamily="34" charset="0"/>
                <a:ea typeface="Consolas" pitchFamily="34" charset="-122"/>
                <a:cs typeface="Consolas" pitchFamily="34" charset="-120"/>
              </a:rPr>
              <a:t>sub_model/nodes.py</a:t>
            </a:r>
            <a:endParaRPr lang="en-US" sz="700" dirty="0"/>
          </a:p>
        </p:txBody>
      </p:sp>
      <p:sp>
        <p:nvSpPr>
          <p:cNvPr id="73" name="Shape 71"/>
          <p:cNvSpPr/>
          <p:nvPr/>
        </p:nvSpPr>
        <p:spPr>
          <a:xfrm>
            <a:off x="10469880" y="1161288"/>
            <a:ext cx="1600200" cy="502920"/>
          </a:xfrm>
          <a:prstGeom prst="rect">
            <a:avLst/>
          </a:prstGeom>
          <a:solidFill>
            <a:srgbClr val="132238"/>
          </a:solidFill>
          <a:ln w="12700">
            <a:solidFill>
              <a:srgbClr val="1E3A5F"/>
            </a:solidFill>
            <a:prstDash val="solid"/>
          </a:ln>
        </p:spPr>
      </p:sp>
      <p:sp>
        <p:nvSpPr>
          <p:cNvPr id="74" name="Text 72"/>
          <p:cNvSpPr/>
          <p:nvPr/>
        </p:nvSpPr>
        <p:spPr>
          <a:xfrm>
            <a:off x="10497312" y="11795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execute_equation_model(df, model_cfg)</a:t>
            </a:r>
            <a:endParaRPr lang="en-US" sz="700" dirty="0"/>
          </a:p>
        </p:txBody>
      </p:sp>
      <p:sp>
        <p:nvSpPr>
          <p:cNvPr id="75" name="Shape 73"/>
          <p:cNvSpPr/>
          <p:nvPr/>
        </p:nvSpPr>
        <p:spPr>
          <a:xfrm>
            <a:off x="10469880" y="1719072"/>
            <a:ext cx="1600200" cy="502920"/>
          </a:xfrm>
          <a:prstGeom prst="rect">
            <a:avLst/>
          </a:prstGeom>
          <a:solidFill>
            <a:srgbClr val="132238"/>
          </a:solidFill>
          <a:ln w="12700">
            <a:solidFill>
              <a:srgbClr val="1E3A5F"/>
            </a:solidFill>
            <a:prstDash val="solid"/>
          </a:ln>
        </p:spPr>
      </p:sp>
      <p:sp>
        <p:nvSpPr>
          <p:cNvPr id="76" name="Text 74"/>
          <p:cNvSpPr/>
          <p:nvPr/>
        </p:nvSpPr>
        <p:spPr>
          <a:xfrm>
            <a:off x="10497312" y="17373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execute_ml_model(df, model_cfg, model_file)</a:t>
            </a:r>
            <a:endParaRPr lang="en-US" sz="700" dirty="0"/>
          </a:p>
        </p:txBody>
      </p:sp>
      <p:sp>
        <p:nvSpPr>
          <p:cNvPr id="77" name="Shape 75"/>
          <p:cNvSpPr/>
          <p:nvPr/>
        </p:nvSpPr>
        <p:spPr>
          <a:xfrm>
            <a:off x="10469880" y="2276856"/>
            <a:ext cx="1600200" cy="502920"/>
          </a:xfrm>
          <a:prstGeom prst="rect">
            <a:avLst/>
          </a:prstGeom>
          <a:solidFill>
            <a:srgbClr val="132238"/>
          </a:solidFill>
          <a:ln w="12700">
            <a:solidFill>
              <a:srgbClr val="1E3A5F"/>
            </a:solidFill>
            <a:prstDash val="solid"/>
          </a:ln>
        </p:spPr>
      </p:sp>
      <p:sp>
        <p:nvSpPr>
          <p:cNvPr id="78" name="Text 76"/>
          <p:cNvSpPr/>
          <p:nvPr/>
        </p:nvSpPr>
        <p:spPr>
          <a:xfrm>
            <a:off x="10497312" y="22951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run_fixed_point_iteration(df, iter_cfg)</a:t>
            </a:r>
            <a:endParaRPr lang="en-US" sz="700" dirty="0"/>
          </a:p>
        </p:txBody>
      </p:sp>
      <p:sp>
        <p:nvSpPr>
          <p:cNvPr id="79" name="Shape 77"/>
          <p:cNvSpPr/>
          <p:nvPr/>
        </p:nvSpPr>
        <p:spPr>
          <a:xfrm>
            <a:off x="10469880" y="2834640"/>
            <a:ext cx="1600200" cy="502920"/>
          </a:xfrm>
          <a:prstGeom prst="rect">
            <a:avLst/>
          </a:prstGeom>
          <a:solidFill>
            <a:srgbClr val="132238"/>
          </a:solidFill>
          <a:ln w="12700">
            <a:solidFill>
              <a:srgbClr val="1E3A5F"/>
            </a:solidFill>
            <a:prstDash val="solid"/>
          </a:ln>
        </p:spPr>
      </p:sp>
      <p:sp>
        <p:nvSpPr>
          <p:cNvPr id="80" name="Text 78"/>
          <p:cNvSpPr/>
          <p:nvPr/>
        </p:nvSpPr>
        <p:spPr>
          <a:xfrm>
            <a:off x="10497312" y="28529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aggregate_sub_model_outputs(df)</a:t>
            </a:r>
            <a:endParaRPr lang="en-US" sz="700" dirty="0"/>
          </a:p>
        </p:txBody>
      </p:sp>
      <p:sp>
        <p:nvSpPr>
          <p:cNvPr id="81" name="Shape 79"/>
          <p:cNvSpPr/>
          <p:nvPr/>
        </p:nvSpPr>
        <p:spPr>
          <a:xfrm>
            <a:off x="5074920" y="3749040"/>
            <a:ext cx="1691640" cy="2743200"/>
          </a:xfrm>
          <a:prstGeom prst="rect">
            <a:avLst/>
          </a:prstGeom>
          <a:solidFill>
            <a:srgbClr val="162944"/>
          </a:solidFill>
          <a:ln w="12700">
            <a:solidFill>
              <a:srgbClr val="1E3A5F"/>
            </a:solidFill>
            <a:prstDash val="solid"/>
          </a:ln>
        </p:spPr>
      </p:sp>
      <p:sp>
        <p:nvSpPr>
          <p:cNvPr id="82" name="Shape 80"/>
          <p:cNvSpPr/>
          <p:nvPr/>
        </p:nvSpPr>
        <p:spPr>
          <a:xfrm>
            <a:off x="5074920" y="3749040"/>
            <a:ext cx="1691640" cy="36576"/>
          </a:xfrm>
          <a:prstGeom prst="rect">
            <a:avLst/>
          </a:prstGeom>
          <a:solidFill>
            <a:srgbClr val="E05A4F"/>
          </a:solidFill>
          <a:ln/>
        </p:spPr>
      </p:sp>
      <p:sp>
        <p:nvSpPr>
          <p:cNvPr id="83" name="Text 81"/>
          <p:cNvSpPr/>
          <p:nvPr/>
        </p:nvSpPr>
        <p:spPr>
          <a:xfrm>
            <a:off x="5120640" y="3822192"/>
            <a:ext cx="1600200" cy="274320"/>
          </a:xfrm>
          <a:prstGeom prst="rect">
            <a:avLst/>
          </a:prstGeom>
          <a:noFill/>
          <a:ln/>
        </p:spPr>
        <p:txBody>
          <a:bodyPr wrap="square" rtlCol="0" anchor="ctr"/>
          <a:lstStyle/>
          <a:p>
            <a:pPr indent="0" marL="0">
              <a:buNone/>
            </a:pPr>
            <a:r>
              <a:rPr lang="en-US" sz="700" b="1" dirty="0">
                <a:solidFill>
                  <a:srgbClr val="E05A4F"/>
                </a:solidFill>
                <a:latin typeface="Consolas" pitchFamily="34" charset="0"/>
                <a:ea typeface="Consolas" pitchFamily="34" charset="-122"/>
                <a:cs typeface="Consolas" pitchFamily="34" charset="-120"/>
              </a:rPr>
              <a:t>optimizer_prep/nodes.py</a:t>
            </a:r>
            <a:endParaRPr lang="en-US" sz="700" dirty="0"/>
          </a:p>
        </p:txBody>
      </p:sp>
      <p:sp>
        <p:nvSpPr>
          <p:cNvPr id="84" name="Shape 82"/>
          <p:cNvSpPr/>
          <p:nvPr/>
        </p:nvSpPr>
        <p:spPr>
          <a:xfrm>
            <a:off x="5120640" y="4133088"/>
            <a:ext cx="1600200" cy="502920"/>
          </a:xfrm>
          <a:prstGeom prst="rect">
            <a:avLst/>
          </a:prstGeom>
          <a:solidFill>
            <a:srgbClr val="132238"/>
          </a:solidFill>
          <a:ln w="12700">
            <a:solidFill>
              <a:srgbClr val="1E3A5F"/>
            </a:solidFill>
            <a:prstDash val="solid"/>
          </a:ln>
        </p:spPr>
      </p:sp>
      <p:sp>
        <p:nvSpPr>
          <p:cNvPr id="85" name="Text 83"/>
          <p:cNvSpPr/>
          <p:nvPr/>
        </p:nvSpPr>
        <p:spPr>
          <a:xfrm>
            <a:off x="5148072" y="41513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build_variables(df, var_cfg)</a:t>
            </a:r>
            <a:endParaRPr lang="en-US" sz="700" dirty="0"/>
          </a:p>
        </p:txBody>
      </p:sp>
      <p:sp>
        <p:nvSpPr>
          <p:cNvPr id="86" name="Shape 84"/>
          <p:cNvSpPr/>
          <p:nvPr/>
        </p:nvSpPr>
        <p:spPr>
          <a:xfrm>
            <a:off x="5120640" y="4690872"/>
            <a:ext cx="1600200" cy="502920"/>
          </a:xfrm>
          <a:prstGeom prst="rect">
            <a:avLst/>
          </a:prstGeom>
          <a:solidFill>
            <a:srgbClr val="132238"/>
          </a:solidFill>
          <a:ln w="12700">
            <a:solidFill>
              <a:srgbClr val="1E3A5F"/>
            </a:solidFill>
            <a:prstDash val="solid"/>
          </a:ln>
        </p:spPr>
      </p:sp>
      <p:sp>
        <p:nvSpPr>
          <p:cNvPr id="87" name="Text 85"/>
          <p:cNvSpPr/>
          <p:nvPr/>
        </p:nvSpPr>
        <p:spPr>
          <a:xfrm>
            <a:off x="5148072" y="47091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evaluate_bounds(df, var_cfg)</a:t>
            </a:r>
            <a:endParaRPr lang="en-US" sz="700" dirty="0"/>
          </a:p>
        </p:txBody>
      </p:sp>
      <p:sp>
        <p:nvSpPr>
          <p:cNvPr id="88" name="Shape 86"/>
          <p:cNvSpPr/>
          <p:nvPr/>
        </p:nvSpPr>
        <p:spPr>
          <a:xfrm>
            <a:off x="5120640" y="5248656"/>
            <a:ext cx="1600200" cy="502920"/>
          </a:xfrm>
          <a:prstGeom prst="rect">
            <a:avLst/>
          </a:prstGeom>
          <a:solidFill>
            <a:srgbClr val="132238"/>
          </a:solidFill>
          <a:ln w="12700">
            <a:solidFill>
              <a:srgbClr val="1E3A5F"/>
            </a:solidFill>
            <a:prstDash val="solid"/>
          </a:ln>
        </p:spPr>
      </p:sp>
      <p:sp>
        <p:nvSpPr>
          <p:cNvPr id="89" name="Text 87"/>
          <p:cNvSpPr/>
          <p:nvPr/>
        </p:nvSpPr>
        <p:spPr>
          <a:xfrm>
            <a:off x="5148072" y="52669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build_constraints(df, const_cfg)</a:t>
            </a:r>
            <a:endParaRPr lang="en-US" sz="700" dirty="0"/>
          </a:p>
        </p:txBody>
      </p:sp>
      <p:sp>
        <p:nvSpPr>
          <p:cNvPr id="90" name="Shape 88"/>
          <p:cNvSpPr/>
          <p:nvPr/>
        </p:nvSpPr>
        <p:spPr>
          <a:xfrm>
            <a:off x="5120640" y="5806440"/>
            <a:ext cx="1600200" cy="502920"/>
          </a:xfrm>
          <a:prstGeom prst="rect">
            <a:avLst/>
          </a:prstGeom>
          <a:solidFill>
            <a:srgbClr val="132238"/>
          </a:solidFill>
          <a:ln w="12700">
            <a:solidFill>
              <a:srgbClr val="1E3A5F"/>
            </a:solidFill>
            <a:prstDash val="solid"/>
          </a:ln>
        </p:spPr>
      </p:sp>
      <p:sp>
        <p:nvSpPr>
          <p:cNvPr id="91" name="Text 89"/>
          <p:cNvSpPr/>
          <p:nvPr/>
        </p:nvSpPr>
        <p:spPr>
          <a:xfrm>
            <a:off x="5148072" y="58247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build_objective(df, obj_cfg)</a:t>
            </a:r>
            <a:endParaRPr lang="en-US" sz="700" dirty="0"/>
          </a:p>
        </p:txBody>
      </p:sp>
      <p:sp>
        <p:nvSpPr>
          <p:cNvPr id="92" name="Shape 90"/>
          <p:cNvSpPr/>
          <p:nvPr/>
        </p:nvSpPr>
        <p:spPr>
          <a:xfrm>
            <a:off x="6858000" y="3749040"/>
            <a:ext cx="1691640" cy="2743200"/>
          </a:xfrm>
          <a:prstGeom prst="rect">
            <a:avLst/>
          </a:prstGeom>
          <a:solidFill>
            <a:srgbClr val="162944"/>
          </a:solidFill>
          <a:ln w="12700">
            <a:solidFill>
              <a:srgbClr val="1E3A5F"/>
            </a:solidFill>
            <a:prstDash val="solid"/>
          </a:ln>
        </p:spPr>
      </p:sp>
      <p:sp>
        <p:nvSpPr>
          <p:cNvPr id="93" name="Shape 91"/>
          <p:cNvSpPr/>
          <p:nvPr/>
        </p:nvSpPr>
        <p:spPr>
          <a:xfrm>
            <a:off x="6858000" y="3749040"/>
            <a:ext cx="1691640" cy="36576"/>
          </a:xfrm>
          <a:prstGeom prst="rect">
            <a:avLst/>
          </a:prstGeom>
          <a:solidFill>
            <a:srgbClr val="10B981"/>
          </a:solidFill>
          <a:ln/>
        </p:spPr>
      </p:sp>
      <p:sp>
        <p:nvSpPr>
          <p:cNvPr id="94" name="Text 92"/>
          <p:cNvSpPr/>
          <p:nvPr/>
        </p:nvSpPr>
        <p:spPr>
          <a:xfrm>
            <a:off x="6903720" y="3822192"/>
            <a:ext cx="1600200" cy="274320"/>
          </a:xfrm>
          <a:prstGeom prst="rect">
            <a:avLst/>
          </a:prstGeom>
          <a:noFill/>
          <a:ln/>
        </p:spPr>
        <p:txBody>
          <a:bodyPr wrap="square" rtlCol="0" anchor="ctr"/>
          <a:lstStyle/>
          <a:p>
            <a:pPr indent="0" marL="0">
              <a:buNone/>
            </a:pPr>
            <a:r>
              <a:rPr lang="en-US" sz="700" b="1" dirty="0">
                <a:solidFill>
                  <a:srgbClr val="10B981"/>
                </a:solidFill>
                <a:latin typeface="Consolas" pitchFamily="34" charset="0"/>
                <a:ea typeface="Consolas" pitchFamily="34" charset="-122"/>
                <a:cs typeface="Consolas" pitchFamily="34" charset="-120"/>
              </a:rPr>
              <a:t>optimizer/nodes.py</a:t>
            </a:r>
            <a:endParaRPr lang="en-US" sz="700" dirty="0"/>
          </a:p>
        </p:txBody>
      </p:sp>
      <p:sp>
        <p:nvSpPr>
          <p:cNvPr id="95" name="Shape 93"/>
          <p:cNvSpPr/>
          <p:nvPr/>
        </p:nvSpPr>
        <p:spPr>
          <a:xfrm>
            <a:off x="6903720" y="4133088"/>
            <a:ext cx="1600200" cy="502920"/>
          </a:xfrm>
          <a:prstGeom prst="rect">
            <a:avLst/>
          </a:prstGeom>
          <a:solidFill>
            <a:srgbClr val="132238"/>
          </a:solidFill>
          <a:ln w="12700">
            <a:solidFill>
              <a:srgbClr val="1E3A5F"/>
            </a:solidFill>
            <a:prstDash val="solid"/>
          </a:ln>
        </p:spPr>
      </p:sp>
      <p:sp>
        <p:nvSpPr>
          <p:cNvPr id="96" name="Text 94"/>
          <p:cNvSpPr/>
          <p:nvPr/>
        </p:nvSpPr>
        <p:spPr>
          <a:xfrm>
            <a:off x="6931152" y="41513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run_bayesian_optimizer(vars, obj, const)</a:t>
            </a:r>
            <a:endParaRPr lang="en-US" sz="700" dirty="0"/>
          </a:p>
        </p:txBody>
      </p:sp>
      <p:sp>
        <p:nvSpPr>
          <p:cNvPr id="97" name="Shape 95"/>
          <p:cNvSpPr/>
          <p:nvPr/>
        </p:nvSpPr>
        <p:spPr>
          <a:xfrm>
            <a:off x="6903720" y="4690872"/>
            <a:ext cx="1600200" cy="502920"/>
          </a:xfrm>
          <a:prstGeom prst="rect">
            <a:avLst/>
          </a:prstGeom>
          <a:solidFill>
            <a:srgbClr val="132238"/>
          </a:solidFill>
          <a:ln w="12700">
            <a:solidFill>
              <a:srgbClr val="1E3A5F"/>
            </a:solidFill>
            <a:prstDash val="solid"/>
          </a:ln>
        </p:spPr>
      </p:sp>
      <p:sp>
        <p:nvSpPr>
          <p:cNvPr id="98" name="Text 96"/>
          <p:cNvSpPr/>
          <p:nvPr/>
        </p:nvSpPr>
        <p:spPr>
          <a:xfrm>
            <a:off x="6931152" y="47091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run_gekko_minlp(vars, obj, const)</a:t>
            </a:r>
            <a:endParaRPr lang="en-US" sz="700" dirty="0"/>
          </a:p>
        </p:txBody>
      </p:sp>
      <p:sp>
        <p:nvSpPr>
          <p:cNvPr id="99" name="Shape 97"/>
          <p:cNvSpPr/>
          <p:nvPr/>
        </p:nvSpPr>
        <p:spPr>
          <a:xfrm>
            <a:off x="6903720" y="5248656"/>
            <a:ext cx="1600200" cy="502920"/>
          </a:xfrm>
          <a:prstGeom prst="rect">
            <a:avLst/>
          </a:prstGeom>
          <a:solidFill>
            <a:srgbClr val="132238"/>
          </a:solidFill>
          <a:ln w="12700">
            <a:solidFill>
              <a:srgbClr val="1E3A5F"/>
            </a:solidFill>
            <a:prstDash val="solid"/>
          </a:ln>
        </p:spPr>
      </p:sp>
      <p:sp>
        <p:nvSpPr>
          <p:cNvPr id="100" name="Text 98"/>
          <p:cNvSpPr/>
          <p:nvPr/>
        </p:nvSpPr>
        <p:spPr>
          <a:xfrm>
            <a:off x="6931152" y="52669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validate_solution(result, const)</a:t>
            </a:r>
            <a:endParaRPr lang="en-US" sz="700" dirty="0"/>
          </a:p>
        </p:txBody>
      </p:sp>
      <p:sp>
        <p:nvSpPr>
          <p:cNvPr id="101" name="Shape 99"/>
          <p:cNvSpPr/>
          <p:nvPr/>
        </p:nvSpPr>
        <p:spPr>
          <a:xfrm>
            <a:off x="6903720" y="5806440"/>
            <a:ext cx="1600200" cy="502920"/>
          </a:xfrm>
          <a:prstGeom prst="rect">
            <a:avLst/>
          </a:prstGeom>
          <a:solidFill>
            <a:srgbClr val="132238"/>
          </a:solidFill>
          <a:ln w="12700">
            <a:solidFill>
              <a:srgbClr val="1E3A5F"/>
            </a:solidFill>
            <a:prstDash val="solid"/>
          </a:ln>
        </p:spPr>
      </p:sp>
      <p:sp>
        <p:nvSpPr>
          <p:cNvPr id="102" name="Text 100"/>
          <p:cNvSpPr/>
          <p:nvPr/>
        </p:nvSpPr>
        <p:spPr>
          <a:xfrm>
            <a:off x="6931152" y="58247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format_optimizer_output(result)</a:t>
            </a:r>
            <a:endParaRPr lang="en-US" sz="700" dirty="0"/>
          </a:p>
        </p:txBody>
      </p:sp>
      <p:sp>
        <p:nvSpPr>
          <p:cNvPr id="103" name="Shape 101"/>
          <p:cNvSpPr/>
          <p:nvPr/>
        </p:nvSpPr>
        <p:spPr>
          <a:xfrm>
            <a:off x="8641080" y="3749040"/>
            <a:ext cx="1691640" cy="2743200"/>
          </a:xfrm>
          <a:prstGeom prst="rect">
            <a:avLst/>
          </a:prstGeom>
          <a:solidFill>
            <a:srgbClr val="162944"/>
          </a:solidFill>
          <a:ln w="12700">
            <a:solidFill>
              <a:srgbClr val="1E3A5F"/>
            </a:solidFill>
            <a:prstDash val="solid"/>
          </a:ln>
        </p:spPr>
      </p:sp>
      <p:sp>
        <p:nvSpPr>
          <p:cNvPr id="104" name="Shape 102"/>
          <p:cNvSpPr/>
          <p:nvPr/>
        </p:nvSpPr>
        <p:spPr>
          <a:xfrm>
            <a:off x="8641080" y="3749040"/>
            <a:ext cx="1691640" cy="36576"/>
          </a:xfrm>
          <a:prstGeom prst="rect">
            <a:avLst/>
          </a:prstGeom>
          <a:solidFill>
            <a:srgbClr val="00897B"/>
          </a:solidFill>
          <a:ln/>
        </p:spPr>
      </p:sp>
      <p:sp>
        <p:nvSpPr>
          <p:cNvPr id="105" name="Text 103"/>
          <p:cNvSpPr/>
          <p:nvPr/>
        </p:nvSpPr>
        <p:spPr>
          <a:xfrm>
            <a:off x="8686800" y="3822192"/>
            <a:ext cx="1600200" cy="274320"/>
          </a:xfrm>
          <a:prstGeom prst="rect">
            <a:avLst/>
          </a:prstGeom>
          <a:noFill/>
          <a:ln/>
        </p:spPr>
        <p:txBody>
          <a:bodyPr wrap="square" rtlCol="0" anchor="ctr"/>
          <a:lstStyle/>
          <a:p>
            <a:pPr indent="0" marL="0">
              <a:buNone/>
            </a:pPr>
            <a:r>
              <a:rPr lang="en-US" sz="700" b="1" dirty="0">
                <a:solidFill>
                  <a:srgbClr val="00897B"/>
                </a:solidFill>
                <a:latin typeface="Consolas" pitchFamily="34" charset="0"/>
                <a:ea typeface="Consolas" pitchFamily="34" charset="-122"/>
                <a:cs typeface="Consolas" pitchFamily="34" charset="-120"/>
              </a:rPr>
              <a:t>post_optimizer/nodes.py</a:t>
            </a:r>
            <a:endParaRPr lang="en-US" sz="700" dirty="0"/>
          </a:p>
        </p:txBody>
      </p:sp>
      <p:sp>
        <p:nvSpPr>
          <p:cNvPr id="106" name="Shape 104"/>
          <p:cNvSpPr/>
          <p:nvPr/>
        </p:nvSpPr>
        <p:spPr>
          <a:xfrm>
            <a:off x="8686800" y="4133088"/>
            <a:ext cx="1600200" cy="502920"/>
          </a:xfrm>
          <a:prstGeom prst="rect">
            <a:avLst/>
          </a:prstGeom>
          <a:solidFill>
            <a:srgbClr val="132238"/>
          </a:solidFill>
          <a:ln w="12700">
            <a:solidFill>
              <a:srgbClr val="1E3A5F"/>
            </a:solidFill>
            <a:prstDash val="solid"/>
          </a:ln>
        </p:spPr>
      </p:sp>
      <p:sp>
        <p:nvSpPr>
          <p:cNvPr id="107" name="Text 105"/>
          <p:cNvSpPr/>
          <p:nvPr/>
        </p:nvSpPr>
        <p:spPr>
          <a:xfrm>
            <a:off x="8714232" y="41513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calc_derived_post_opt(df, derived_cfg)</a:t>
            </a:r>
            <a:endParaRPr lang="en-US" sz="700" dirty="0"/>
          </a:p>
        </p:txBody>
      </p:sp>
      <p:sp>
        <p:nvSpPr>
          <p:cNvPr id="108" name="Shape 106"/>
          <p:cNvSpPr/>
          <p:nvPr/>
        </p:nvSpPr>
        <p:spPr>
          <a:xfrm>
            <a:off x="8686800" y="4690872"/>
            <a:ext cx="1600200" cy="502920"/>
          </a:xfrm>
          <a:prstGeom prst="rect">
            <a:avLst/>
          </a:prstGeom>
          <a:solidFill>
            <a:srgbClr val="132238"/>
          </a:solidFill>
          <a:ln w="12700">
            <a:solidFill>
              <a:srgbClr val="1E3A5F"/>
            </a:solidFill>
            <a:prstDash val="solid"/>
          </a:ln>
        </p:spPr>
      </p:sp>
      <p:sp>
        <p:nvSpPr>
          <p:cNvPr id="109" name="Text 107"/>
          <p:cNvSpPr/>
          <p:nvPr/>
        </p:nvSpPr>
        <p:spPr>
          <a:xfrm>
            <a:off x="8714232" y="47091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calc_optimum_inferred(df_opt, inferred_cfg)</a:t>
            </a:r>
            <a:endParaRPr lang="en-US" sz="700" dirty="0"/>
          </a:p>
        </p:txBody>
      </p:sp>
      <p:sp>
        <p:nvSpPr>
          <p:cNvPr id="110" name="Shape 108"/>
          <p:cNvSpPr/>
          <p:nvPr/>
        </p:nvSpPr>
        <p:spPr>
          <a:xfrm>
            <a:off x="8686800" y="5248656"/>
            <a:ext cx="1600200" cy="502920"/>
          </a:xfrm>
          <a:prstGeom prst="rect">
            <a:avLst/>
          </a:prstGeom>
          <a:solidFill>
            <a:srgbClr val="132238"/>
          </a:solidFill>
          <a:ln w="12700">
            <a:solidFill>
              <a:srgbClr val="1E3A5F"/>
            </a:solidFill>
            <a:prstDash val="solid"/>
          </a:ln>
        </p:spPr>
      </p:sp>
      <p:sp>
        <p:nvSpPr>
          <p:cNvPr id="111" name="Text 109"/>
          <p:cNvSpPr/>
          <p:nvPr/>
        </p:nvSpPr>
        <p:spPr>
          <a:xfrm>
            <a:off x="8714232" y="52669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merge_actual_optimum(df_actual, df_opt)</a:t>
            </a:r>
            <a:endParaRPr lang="en-US" sz="700" dirty="0"/>
          </a:p>
        </p:txBody>
      </p:sp>
      <p:sp>
        <p:nvSpPr>
          <p:cNvPr id="112" name="Shape 110"/>
          <p:cNvSpPr/>
          <p:nvPr/>
        </p:nvSpPr>
        <p:spPr>
          <a:xfrm>
            <a:off x="8686800" y="5806440"/>
            <a:ext cx="1600200" cy="502920"/>
          </a:xfrm>
          <a:prstGeom prst="rect">
            <a:avLst/>
          </a:prstGeom>
          <a:solidFill>
            <a:srgbClr val="132238"/>
          </a:solidFill>
          <a:ln w="12700">
            <a:solidFill>
              <a:srgbClr val="1E3A5F"/>
            </a:solidFill>
            <a:prstDash val="solid"/>
          </a:ln>
        </p:spPr>
      </p:sp>
      <p:sp>
        <p:nvSpPr>
          <p:cNvPr id="113" name="Text 111"/>
          <p:cNvSpPr/>
          <p:nvPr/>
        </p:nvSpPr>
        <p:spPr>
          <a:xfrm>
            <a:off x="8714232" y="58247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calc_opportunity_tags(merged_df, pol_cfg)</a:t>
            </a:r>
            <a:endParaRPr lang="en-US" sz="700" dirty="0"/>
          </a:p>
        </p:txBody>
      </p:sp>
      <p:sp>
        <p:nvSpPr>
          <p:cNvPr id="114" name="Shape 112"/>
          <p:cNvSpPr/>
          <p:nvPr/>
        </p:nvSpPr>
        <p:spPr>
          <a:xfrm>
            <a:off x="10424160" y="3749040"/>
            <a:ext cx="1691640" cy="2743200"/>
          </a:xfrm>
          <a:prstGeom prst="rect">
            <a:avLst/>
          </a:prstGeom>
          <a:solidFill>
            <a:srgbClr val="162944"/>
          </a:solidFill>
          <a:ln w="12700">
            <a:solidFill>
              <a:srgbClr val="1E3A5F"/>
            </a:solidFill>
            <a:prstDash val="solid"/>
          </a:ln>
        </p:spPr>
      </p:sp>
      <p:sp>
        <p:nvSpPr>
          <p:cNvPr id="115" name="Shape 113"/>
          <p:cNvSpPr/>
          <p:nvPr/>
        </p:nvSpPr>
        <p:spPr>
          <a:xfrm>
            <a:off x="10424160" y="3749040"/>
            <a:ext cx="1691640" cy="36576"/>
          </a:xfrm>
          <a:prstGeom prst="rect">
            <a:avLst/>
          </a:prstGeom>
          <a:solidFill>
            <a:srgbClr val="F59E0B"/>
          </a:solidFill>
          <a:ln/>
        </p:spPr>
      </p:sp>
      <p:sp>
        <p:nvSpPr>
          <p:cNvPr id="116" name="Text 114"/>
          <p:cNvSpPr/>
          <p:nvPr/>
        </p:nvSpPr>
        <p:spPr>
          <a:xfrm>
            <a:off x="10469880" y="3822192"/>
            <a:ext cx="1600200" cy="274320"/>
          </a:xfrm>
          <a:prstGeom prst="rect">
            <a:avLst/>
          </a:prstGeom>
          <a:noFill/>
          <a:ln/>
        </p:spPr>
        <p:txBody>
          <a:bodyPr wrap="square" rtlCol="0" anchor="ctr"/>
          <a:lstStyle/>
          <a:p>
            <a:pPr indent="0" marL="0">
              <a:buNone/>
            </a:pPr>
            <a:r>
              <a:rPr lang="en-US" sz="700" b="1" dirty="0">
                <a:solidFill>
                  <a:srgbClr val="F59E0B"/>
                </a:solidFill>
                <a:latin typeface="Consolas" pitchFamily="34" charset="0"/>
                <a:ea typeface="Consolas" pitchFamily="34" charset="-122"/>
                <a:cs typeface="Consolas" pitchFamily="34" charset="-120"/>
              </a:rPr>
              <a:t>ods_reporting/nodes.py</a:t>
            </a:r>
            <a:endParaRPr lang="en-US" sz="700" dirty="0"/>
          </a:p>
        </p:txBody>
      </p:sp>
      <p:sp>
        <p:nvSpPr>
          <p:cNvPr id="117" name="Shape 115"/>
          <p:cNvSpPr/>
          <p:nvPr/>
        </p:nvSpPr>
        <p:spPr>
          <a:xfrm>
            <a:off x="10469880" y="4133088"/>
            <a:ext cx="1600200" cy="502920"/>
          </a:xfrm>
          <a:prstGeom prst="rect">
            <a:avLst/>
          </a:prstGeom>
          <a:solidFill>
            <a:srgbClr val="132238"/>
          </a:solidFill>
          <a:ln w="12700">
            <a:solidFill>
              <a:srgbClr val="1E3A5F"/>
            </a:solidFill>
            <a:prstDash val="solid"/>
          </a:ln>
        </p:spPr>
      </p:sp>
      <p:sp>
        <p:nvSpPr>
          <p:cNvPr id="118" name="Text 116"/>
          <p:cNvSpPr/>
          <p:nvPr/>
        </p:nvSpPr>
        <p:spPr>
          <a:xfrm>
            <a:off x="10497312" y="4151376"/>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compute_seu_metrics(df, seu_cfg)</a:t>
            </a:r>
            <a:endParaRPr lang="en-US" sz="700" dirty="0"/>
          </a:p>
        </p:txBody>
      </p:sp>
      <p:sp>
        <p:nvSpPr>
          <p:cNvPr id="119" name="Shape 117"/>
          <p:cNvSpPr/>
          <p:nvPr/>
        </p:nvSpPr>
        <p:spPr>
          <a:xfrm>
            <a:off x="10469880" y="4690872"/>
            <a:ext cx="1600200" cy="502920"/>
          </a:xfrm>
          <a:prstGeom prst="rect">
            <a:avLst/>
          </a:prstGeom>
          <a:solidFill>
            <a:srgbClr val="132238"/>
          </a:solidFill>
          <a:ln w="12700">
            <a:solidFill>
              <a:srgbClr val="1E3A5F"/>
            </a:solidFill>
            <a:prstDash val="solid"/>
          </a:ln>
        </p:spPr>
      </p:sp>
      <p:sp>
        <p:nvSpPr>
          <p:cNvPr id="120" name="Text 118"/>
          <p:cNvSpPr/>
          <p:nvPr/>
        </p:nvSpPr>
        <p:spPr>
          <a:xfrm>
            <a:off x="10497312" y="4709160"/>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evaluate_cause_expressions(df, cause_cfg)</a:t>
            </a:r>
            <a:endParaRPr lang="en-US" sz="700" dirty="0"/>
          </a:p>
        </p:txBody>
      </p:sp>
      <p:sp>
        <p:nvSpPr>
          <p:cNvPr id="121" name="Shape 119"/>
          <p:cNvSpPr/>
          <p:nvPr/>
        </p:nvSpPr>
        <p:spPr>
          <a:xfrm>
            <a:off x="10469880" y="5248656"/>
            <a:ext cx="1600200" cy="502920"/>
          </a:xfrm>
          <a:prstGeom prst="rect">
            <a:avLst/>
          </a:prstGeom>
          <a:solidFill>
            <a:srgbClr val="132238"/>
          </a:solidFill>
          <a:ln w="12700">
            <a:solidFill>
              <a:srgbClr val="1E3A5F"/>
            </a:solidFill>
            <a:prstDash val="solid"/>
          </a:ln>
        </p:spPr>
      </p:sp>
      <p:sp>
        <p:nvSpPr>
          <p:cNvPr id="122" name="Text 120"/>
          <p:cNvSpPr/>
          <p:nvPr/>
        </p:nvSpPr>
        <p:spPr>
          <a:xfrm>
            <a:off x="10497312" y="5266944"/>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generate_ods_messages(causes, effect_map)</a:t>
            </a:r>
            <a:endParaRPr lang="en-US" sz="700" dirty="0"/>
          </a:p>
        </p:txBody>
      </p:sp>
      <p:sp>
        <p:nvSpPr>
          <p:cNvPr id="123" name="Shape 121"/>
          <p:cNvSpPr/>
          <p:nvPr/>
        </p:nvSpPr>
        <p:spPr>
          <a:xfrm>
            <a:off x="10469880" y="5806440"/>
            <a:ext cx="1600200" cy="502920"/>
          </a:xfrm>
          <a:prstGeom prst="rect">
            <a:avLst/>
          </a:prstGeom>
          <a:solidFill>
            <a:srgbClr val="132238"/>
          </a:solidFill>
          <a:ln w="12700">
            <a:solidFill>
              <a:srgbClr val="1E3A5F"/>
            </a:solidFill>
            <a:prstDash val="solid"/>
          </a:ln>
        </p:spPr>
      </p:sp>
      <p:sp>
        <p:nvSpPr>
          <p:cNvPr id="124" name="Text 122"/>
          <p:cNvSpPr/>
          <p:nvPr/>
        </p:nvSpPr>
        <p:spPr>
          <a:xfrm>
            <a:off x="10497312" y="5824728"/>
            <a:ext cx="1545336" cy="457200"/>
          </a:xfrm>
          <a:prstGeom prst="rect">
            <a:avLst/>
          </a:prstGeom>
          <a:noFill/>
          <a:ln/>
        </p:spPr>
        <p:txBody>
          <a:bodyPr wrap="square" rtlCol="0" anchor="ctr"/>
          <a:lstStyle/>
          <a:p>
            <a:pPr indent="0" marL="0">
              <a:lnSpc>
                <a:spcPct val="130000"/>
              </a:lnSpc>
              <a:buNone/>
            </a:pPr>
            <a:r>
              <a:rPr lang="en-US" sz="700" dirty="0">
                <a:solidFill>
                  <a:srgbClr val="94A3B8"/>
                </a:solidFill>
                <a:latin typeface="Consolas" pitchFamily="34" charset="0"/>
                <a:ea typeface="Consolas" pitchFamily="34" charset="-122"/>
                <a:cs typeface="Consolas" pitchFamily="34" charset="-120"/>
              </a:rPr>
              <a:t>write_output_to_db(df, output_cfg)</a:t>
            </a:r>
            <a:endParaRPr lang="en-US" sz="700" dirty="0"/>
          </a:p>
        </p:txBody>
      </p:sp>
      <p:sp>
        <p:nvSpPr>
          <p:cNvPr id="125" name="Shape 123"/>
          <p:cNvSpPr/>
          <p:nvPr/>
        </p:nvSpPr>
        <p:spPr>
          <a:xfrm>
            <a:off x="274320" y="6446520"/>
            <a:ext cx="11612880" cy="320040"/>
          </a:xfrm>
          <a:prstGeom prst="rect">
            <a:avLst/>
          </a:prstGeom>
          <a:solidFill>
            <a:srgbClr val="132238"/>
          </a:solidFill>
          <a:ln w="12700">
            <a:solidFill>
              <a:srgbClr val="1E3A5F"/>
            </a:solidFill>
            <a:prstDash val="solid"/>
          </a:ln>
        </p:spPr>
      </p:sp>
      <p:sp>
        <p:nvSpPr>
          <p:cNvPr id="126" name="Text 124"/>
          <p:cNvSpPr/>
          <p:nvPr/>
        </p:nvSpPr>
        <p:spPr>
          <a:xfrm>
            <a:off x="365760" y="6492240"/>
            <a:ext cx="11430000" cy="228600"/>
          </a:xfrm>
          <a:prstGeom prst="rect">
            <a:avLst/>
          </a:prstGeom>
          <a:noFill/>
          <a:ln/>
        </p:spPr>
        <p:txBody>
          <a:bodyPr wrap="square" rtlCol="0" anchor="ctr"/>
          <a:lstStyle/>
          <a:p>
            <a:pPr algn="ctr" indent="0" marL="0">
              <a:buNone/>
            </a:pPr>
            <a:r>
              <a:rPr lang="en-US" sz="900" dirty="0">
                <a:solidFill>
                  <a:srgbClr val="F59E0B"/>
                </a:solidFill>
              </a:rPr>
              <a:t>⚛  Every node: 10-30 lines  |  Pure function (df.copy())  |  Zero furnace-specific logic  |  Single responsibility  |  100% config-driven  |  No hardcoded tag names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274320" y="201168"/>
            <a:ext cx="384048" cy="384048"/>
          </a:xfrm>
          <a:prstGeom prst="roundRect">
            <a:avLst>
              <a:gd name="adj" fmla="val 14286"/>
            </a:avLst>
          </a:prstGeom>
          <a:solidFill>
            <a:srgbClr val="000000"/>
          </a:solidFill>
          <a:ln w="19050">
            <a:solidFill>
              <a:srgbClr val="E05A4F"/>
            </a:solidFill>
            <a:prstDash val="solid"/>
          </a:ln>
        </p:spPr>
      </p:sp>
      <p:sp>
        <p:nvSpPr>
          <p:cNvPr id="4" name="Text 2"/>
          <p:cNvSpPr/>
          <p:nvPr/>
        </p:nvSpPr>
        <p:spPr>
          <a:xfrm>
            <a:off x="274320" y="201168"/>
            <a:ext cx="384048" cy="384048"/>
          </a:xfrm>
          <a:prstGeom prst="rect">
            <a:avLst/>
          </a:prstGeom>
          <a:noFill/>
          <a:ln/>
        </p:spPr>
        <p:txBody>
          <a:bodyPr wrap="square" lIns="0" tIns="0" rIns="0" bIns="0" rtlCol="0" anchor="ctr"/>
          <a:lstStyle/>
          <a:p>
            <a:pPr algn="ctr" indent="0" marL="0">
              <a:buNone/>
            </a:pPr>
            <a:r>
              <a:rPr lang="en-US" sz="1300" b="1" dirty="0">
                <a:solidFill>
                  <a:srgbClr val="E05A4F"/>
                </a:solidFill>
                <a:latin typeface="Consolas" pitchFamily="34" charset="0"/>
                <a:ea typeface="Consolas" pitchFamily="34" charset="-122"/>
                <a:cs typeface="Consolas" pitchFamily="34" charset="-120"/>
              </a:rPr>
              <a:t>07</a:t>
            </a:r>
            <a:endParaRPr lang="en-US" sz="1300" dirty="0"/>
          </a:p>
        </p:txBody>
      </p:sp>
      <p:sp>
        <p:nvSpPr>
          <p:cNvPr id="5" name="Text 3"/>
          <p:cNvSpPr/>
          <p:nvPr/>
        </p:nvSpPr>
        <p:spPr>
          <a:xfrm>
            <a:off x="777240" y="201168"/>
            <a:ext cx="10515600" cy="3840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Side-by-Side Comparison &amp; Tech Stack</a:t>
            </a:r>
            <a:endParaRPr lang="en-US" sz="2200" dirty="0"/>
          </a:p>
        </p:txBody>
      </p:sp>
      <p:sp>
        <p:nvSpPr>
          <p:cNvPr id="6" name="Shape 4"/>
          <p:cNvSpPr/>
          <p:nvPr/>
        </p:nvSpPr>
        <p:spPr>
          <a:xfrm>
            <a:off x="274320" y="640080"/>
            <a:ext cx="11612880" cy="27432"/>
          </a:xfrm>
          <a:prstGeom prst="rect">
            <a:avLst/>
          </a:prstGeom>
          <a:solidFill>
            <a:srgbClr val="1E3A5F"/>
          </a:solidFill>
          <a:ln/>
        </p:spPr>
      </p:sp>
      <p:sp>
        <p:nvSpPr>
          <p:cNvPr id="7" name="Shape 5"/>
          <p:cNvSpPr/>
          <p:nvPr/>
        </p:nvSpPr>
        <p:spPr>
          <a:xfrm>
            <a:off x="274320" y="777240"/>
            <a:ext cx="7863840" cy="4114800"/>
          </a:xfrm>
          <a:prstGeom prst="rect">
            <a:avLst/>
          </a:prstGeom>
          <a:solidFill>
            <a:srgbClr val="162944"/>
          </a:solidFill>
          <a:ln w="12700">
            <a:solidFill>
              <a:srgbClr val="1E3A5F"/>
            </a:solidFill>
            <a:prstDash val="solid"/>
          </a:ln>
        </p:spPr>
      </p:sp>
      <p:sp>
        <p:nvSpPr>
          <p:cNvPr id="8" name="Shape 6"/>
          <p:cNvSpPr/>
          <p:nvPr/>
        </p:nvSpPr>
        <p:spPr>
          <a:xfrm>
            <a:off x="274320" y="777240"/>
            <a:ext cx="7863840" cy="365760"/>
          </a:xfrm>
          <a:prstGeom prst="rect">
            <a:avLst/>
          </a:prstGeom>
          <a:solidFill>
            <a:srgbClr val="132238"/>
          </a:solidFill>
          <a:ln/>
        </p:spPr>
      </p:sp>
      <p:sp>
        <p:nvSpPr>
          <p:cNvPr id="9" name="Text 7"/>
          <p:cNvSpPr/>
          <p:nvPr/>
        </p:nvSpPr>
        <p:spPr>
          <a:xfrm>
            <a:off x="365760" y="804672"/>
            <a:ext cx="2194560" cy="320040"/>
          </a:xfrm>
          <a:prstGeom prst="rect">
            <a:avLst/>
          </a:prstGeom>
          <a:noFill/>
          <a:ln/>
        </p:spPr>
        <p:txBody>
          <a:bodyPr wrap="square" rtlCol="0" anchor="ctr"/>
          <a:lstStyle/>
          <a:p>
            <a:pPr indent="0" marL="0">
              <a:buNone/>
            </a:pPr>
            <a:r>
              <a:rPr lang="en-US" sz="1000" b="1" dirty="0">
                <a:solidFill>
                  <a:srgbClr val="94A3B8"/>
                </a:solidFill>
              </a:rPr>
              <a:t>Dimension</a:t>
            </a:r>
            <a:endParaRPr lang="en-US" sz="1000" dirty="0"/>
          </a:p>
        </p:txBody>
      </p:sp>
      <p:sp>
        <p:nvSpPr>
          <p:cNvPr id="10" name="Text 8"/>
          <p:cNvSpPr/>
          <p:nvPr/>
        </p:nvSpPr>
        <p:spPr>
          <a:xfrm>
            <a:off x="2606040" y="804672"/>
            <a:ext cx="2743200" cy="320040"/>
          </a:xfrm>
          <a:prstGeom prst="rect">
            <a:avLst/>
          </a:prstGeom>
          <a:noFill/>
          <a:ln/>
        </p:spPr>
        <p:txBody>
          <a:bodyPr wrap="square" rtlCol="0" anchor="ctr"/>
          <a:lstStyle/>
          <a:p>
            <a:pPr indent="0" marL="0">
              <a:buNone/>
            </a:pPr>
            <a:r>
              <a:rPr lang="en-US" sz="1000" b="1" dirty="0">
                <a:solidFill>
                  <a:srgbClr val="10B981"/>
                </a:solidFill>
              </a:rPr>
              <a:t>⚙️  Config-Driven (Philosophy 1)</a:t>
            </a:r>
            <a:endParaRPr lang="en-US" sz="1000" dirty="0"/>
          </a:p>
        </p:txBody>
      </p:sp>
      <p:sp>
        <p:nvSpPr>
          <p:cNvPr id="11" name="Text 9"/>
          <p:cNvSpPr/>
          <p:nvPr/>
        </p:nvSpPr>
        <p:spPr>
          <a:xfrm>
            <a:off x="5394960" y="804672"/>
            <a:ext cx="2560320" cy="320040"/>
          </a:xfrm>
          <a:prstGeom prst="rect">
            <a:avLst/>
          </a:prstGeom>
          <a:noFill/>
          <a:ln/>
        </p:spPr>
        <p:txBody>
          <a:bodyPr wrap="square" rtlCol="0" anchor="ctr"/>
          <a:lstStyle/>
          <a:p>
            <a:pPr indent="0" marL="0">
              <a:buNone/>
            </a:pPr>
            <a:r>
              <a:rPr lang="en-US" sz="1000" b="1" dirty="0">
                <a:solidFill>
                  <a:srgbClr val="00BCD4"/>
                </a:solidFill>
              </a:rPr>
              <a:t>🤖  Gen AI (Philosophy 2)</a:t>
            </a:r>
            <a:endParaRPr lang="en-US" sz="1000" dirty="0"/>
          </a:p>
        </p:txBody>
      </p:sp>
      <p:sp>
        <p:nvSpPr>
          <p:cNvPr id="12" name="Shape 10"/>
          <p:cNvSpPr/>
          <p:nvPr/>
        </p:nvSpPr>
        <p:spPr>
          <a:xfrm>
            <a:off x="274320" y="1188720"/>
            <a:ext cx="7863840" cy="338328"/>
          </a:xfrm>
          <a:prstGeom prst="rect">
            <a:avLst/>
          </a:prstGeom>
          <a:solidFill>
            <a:srgbClr val="132238"/>
          </a:solidFill>
          <a:ln/>
        </p:spPr>
      </p:sp>
      <p:sp>
        <p:nvSpPr>
          <p:cNvPr id="13" name="Text 11"/>
          <p:cNvSpPr/>
          <p:nvPr/>
        </p:nvSpPr>
        <p:spPr>
          <a:xfrm>
            <a:off x="365760" y="1188720"/>
            <a:ext cx="2194560" cy="338328"/>
          </a:xfrm>
          <a:prstGeom prst="rect">
            <a:avLst/>
          </a:prstGeom>
          <a:noFill/>
          <a:ln/>
        </p:spPr>
        <p:txBody>
          <a:bodyPr wrap="square" rtlCol="0" anchor="ctr"/>
          <a:lstStyle/>
          <a:p>
            <a:pPr indent="0" marL="0">
              <a:buNone/>
            </a:pPr>
            <a:r>
              <a:rPr lang="en-US" sz="900" b="1" dirty="0">
                <a:solidFill>
                  <a:srgbClr val="E2E8F0"/>
                </a:solidFill>
              </a:rPr>
              <a:t>Tag Onboarding</a:t>
            </a:r>
            <a:endParaRPr lang="en-US" sz="900" dirty="0"/>
          </a:p>
        </p:txBody>
      </p:sp>
      <p:sp>
        <p:nvSpPr>
          <p:cNvPr id="14" name="Text 12"/>
          <p:cNvSpPr/>
          <p:nvPr/>
        </p:nvSpPr>
        <p:spPr>
          <a:xfrm>
            <a:off x="2606040" y="1188720"/>
            <a:ext cx="2743200" cy="338328"/>
          </a:xfrm>
          <a:prstGeom prst="rect">
            <a:avLst/>
          </a:prstGeom>
          <a:noFill/>
          <a:ln/>
        </p:spPr>
        <p:txBody>
          <a:bodyPr wrap="square" rtlCol="0" anchor="ctr"/>
          <a:lstStyle/>
          <a:p>
            <a:pPr indent="0" marL="0">
              <a:buNone/>
            </a:pPr>
            <a:r>
              <a:rPr lang="en-US" sz="900" dirty="0">
                <a:solidFill>
                  <a:srgbClr val="10B981"/>
                </a:solidFill>
              </a:rPr>
              <a:t>Manual CSV/DB entry by engineer</a:t>
            </a:r>
            <a:endParaRPr lang="en-US" sz="900" dirty="0"/>
          </a:p>
        </p:txBody>
      </p:sp>
      <p:sp>
        <p:nvSpPr>
          <p:cNvPr id="15" name="Text 13"/>
          <p:cNvSpPr/>
          <p:nvPr/>
        </p:nvSpPr>
        <p:spPr>
          <a:xfrm>
            <a:off x="5394960" y="1188720"/>
            <a:ext cx="2560320" cy="338328"/>
          </a:xfrm>
          <a:prstGeom prst="rect">
            <a:avLst/>
          </a:prstGeom>
          <a:noFill/>
          <a:ln/>
        </p:spPr>
        <p:txBody>
          <a:bodyPr wrap="square" rtlCol="0" anchor="ctr"/>
          <a:lstStyle/>
          <a:p>
            <a:pPr indent="0" marL="0">
              <a:buNone/>
            </a:pPr>
            <a:r>
              <a:rPr lang="en-US" sz="900" dirty="0">
                <a:solidFill>
                  <a:srgbClr val="00BCD4"/>
                </a:solidFill>
              </a:rPr>
              <a:t>Auto-extracted from P&amp;ID via LLM</a:t>
            </a:r>
            <a:endParaRPr lang="en-US" sz="900" dirty="0"/>
          </a:p>
        </p:txBody>
      </p:sp>
      <p:sp>
        <p:nvSpPr>
          <p:cNvPr id="16" name="Shape 14"/>
          <p:cNvSpPr/>
          <p:nvPr/>
        </p:nvSpPr>
        <p:spPr>
          <a:xfrm>
            <a:off x="274320" y="1527048"/>
            <a:ext cx="7863840" cy="338328"/>
          </a:xfrm>
          <a:prstGeom prst="rect">
            <a:avLst/>
          </a:prstGeom>
          <a:solidFill>
            <a:srgbClr val="162944"/>
          </a:solidFill>
          <a:ln/>
        </p:spPr>
      </p:sp>
      <p:sp>
        <p:nvSpPr>
          <p:cNvPr id="17" name="Text 15"/>
          <p:cNvSpPr/>
          <p:nvPr/>
        </p:nvSpPr>
        <p:spPr>
          <a:xfrm>
            <a:off x="365760" y="1527048"/>
            <a:ext cx="2194560" cy="338328"/>
          </a:xfrm>
          <a:prstGeom prst="rect">
            <a:avLst/>
          </a:prstGeom>
          <a:noFill/>
          <a:ln/>
        </p:spPr>
        <p:txBody>
          <a:bodyPr wrap="square" rtlCol="0" anchor="ctr"/>
          <a:lstStyle/>
          <a:p>
            <a:pPr indent="0" marL="0">
              <a:buNone/>
            </a:pPr>
            <a:r>
              <a:rPr lang="en-US" sz="900" b="1" dirty="0">
                <a:solidFill>
                  <a:srgbClr val="E2E8F0"/>
                </a:solidFill>
              </a:rPr>
              <a:t>Formula Generation</a:t>
            </a:r>
            <a:endParaRPr lang="en-US" sz="900" dirty="0"/>
          </a:p>
        </p:txBody>
      </p:sp>
      <p:sp>
        <p:nvSpPr>
          <p:cNvPr id="18" name="Text 16"/>
          <p:cNvSpPr/>
          <p:nvPr/>
        </p:nvSpPr>
        <p:spPr>
          <a:xfrm>
            <a:off x="2606040" y="1527048"/>
            <a:ext cx="2743200" cy="338328"/>
          </a:xfrm>
          <a:prstGeom prst="rect">
            <a:avLst/>
          </a:prstGeom>
          <a:noFill/>
          <a:ln/>
        </p:spPr>
        <p:txBody>
          <a:bodyPr wrap="square" rtlCol="0" anchor="ctr"/>
          <a:lstStyle/>
          <a:p>
            <a:pPr indent="0" marL="0">
              <a:buNone/>
            </a:pPr>
            <a:r>
              <a:rPr lang="en-US" sz="900" dirty="0">
                <a:solidFill>
                  <a:srgbClr val="10B981"/>
                </a:solidFill>
              </a:rPr>
              <a:t>Engineer writes formulas in DB</a:t>
            </a:r>
            <a:endParaRPr lang="en-US" sz="900" dirty="0"/>
          </a:p>
        </p:txBody>
      </p:sp>
      <p:sp>
        <p:nvSpPr>
          <p:cNvPr id="19" name="Text 17"/>
          <p:cNvSpPr/>
          <p:nvPr/>
        </p:nvSpPr>
        <p:spPr>
          <a:xfrm>
            <a:off x="5394960" y="1527048"/>
            <a:ext cx="2560320" cy="338328"/>
          </a:xfrm>
          <a:prstGeom prst="rect">
            <a:avLst/>
          </a:prstGeom>
          <a:noFill/>
          <a:ln/>
        </p:spPr>
        <p:txBody>
          <a:bodyPr wrap="square" rtlCol="0" anchor="ctr"/>
          <a:lstStyle/>
          <a:p>
            <a:pPr indent="0" marL="0">
              <a:buNone/>
            </a:pPr>
            <a:r>
              <a:rPr lang="en-US" sz="900" dirty="0">
                <a:solidFill>
                  <a:srgbClr val="00BCD4"/>
                </a:solidFill>
              </a:rPr>
              <a:t>LLM suggests, engineer approves</a:t>
            </a:r>
            <a:endParaRPr lang="en-US" sz="900" dirty="0"/>
          </a:p>
        </p:txBody>
      </p:sp>
      <p:sp>
        <p:nvSpPr>
          <p:cNvPr id="20" name="Shape 18"/>
          <p:cNvSpPr/>
          <p:nvPr/>
        </p:nvSpPr>
        <p:spPr>
          <a:xfrm>
            <a:off x="274320" y="1865376"/>
            <a:ext cx="7863840" cy="338328"/>
          </a:xfrm>
          <a:prstGeom prst="rect">
            <a:avLst/>
          </a:prstGeom>
          <a:solidFill>
            <a:srgbClr val="132238"/>
          </a:solidFill>
          <a:ln/>
        </p:spPr>
      </p:sp>
      <p:sp>
        <p:nvSpPr>
          <p:cNvPr id="21" name="Text 19"/>
          <p:cNvSpPr/>
          <p:nvPr/>
        </p:nvSpPr>
        <p:spPr>
          <a:xfrm>
            <a:off x="365760" y="1865376"/>
            <a:ext cx="2194560" cy="338328"/>
          </a:xfrm>
          <a:prstGeom prst="rect">
            <a:avLst/>
          </a:prstGeom>
          <a:noFill/>
          <a:ln/>
        </p:spPr>
        <p:txBody>
          <a:bodyPr wrap="square" rtlCol="0" anchor="ctr"/>
          <a:lstStyle/>
          <a:p>
            <a:pPr indent="0" marL="0">
              <a:buNone/>
            </a:pPr>
            <a:r>
              <a:rPr lang="en-US" sz="900" b="1" dirty="0">
                <a:solidFill>
                  <a:srgbClr val="E2E8F0"/>
                </a:solidFill>
              </a:rPr>
              <a:t>Dependency Wiring</a:t>
            </a:r>
            <a:endParaRPr lang="en-US" sz="900" dirty="0"/>
          </a:p>
        </p:txBody>
      </p:sp>
      <p:sp>
        <p:nvSpPr>
          <p:cNvPr id="22" name="Text 20"/>
          <p:cNvSpPr/>
          <p:nvPr/>
        </p:nvSpPr>
        <p:spPr>
          <a:xfrm>
            <a:off x="2606040" y="1865376"/>
            <a:ext cx="2743200" cy="338328"/>
          </a:xfrm>
          <a:prstGeom prst="rect">
            <a:avLst/>
          </a:prstGeom>
          <a:noFill/>
          <a:ln/>
        </p:spPr>
        <p:txBody>
          <a:bodyPr wrap="square" rtlCol="0" anchor="ctr"/>
          <a:lstStyle/>
          <a:p>
            <a:pPr indent="0" marL="0">
              <a:buNone/>
            </a:pPr>
            <a:r>
              <a:rPr lang="en-US" sz="900" dirty="0">
                <a:solidFill>
                  <a:srgbClr val="10B981"/>
                </a:solidFill>
              </a:rPr>
              <a:t>DAG from inferred_details schema</a:t>
            </a:r>
            <a:endParaRPr lang="en-US" sz="900" dirty="0"/>
          </a:p>
        </p:txBody>
      </p:sp>
      <p:sp>
        <p:nvSpPr>
          <p:cNvPr id="23" name="Text 21"/>
          <p:cNvSpPr/>
          <p:nvPr/>
        </p:nvSpPr>
        <p:spPr>
          <a:xfrm>
            <a:off x="5394960" y="1865376"/>
            <a:ext cx="2560320" cy="338328"/>
          </a:xfrm>
          <a:prstGeom prst="rect">
            <a:avLst/>
          </a:prstGeom>
          <a:noFill/>
          <a:ln/>
        </p:spPr>
        <p:txBody>
          <a:bodyPr wrap="square" rtlCol="0" anchor="ctr"/>
          <a:lstStyle/>
          <a:p>
            <a:pPr indent="0" marL="0">
              <a:buNone/>
            </a:pPr>
            <a:r>
              <a:rPr lang="en-US" sz="900" dirty="0">
                <a:solidFill>
                  <a:srgbClr val="00BCD4"/>
                </a:solidFill>
              </a:rPr>
              <a:t>P&amp;ID topology + LLM inference</a:t>
            </a:r>
            <a:endParaRPr lang="en-US" sz="900" dirty="0"/>
          </a:p>
        </p:txBody>
      </p:sp>
      <p:sp>
        <p:nvSpPr>
          <p:cNvPr id="24" name="Shape 22"/>
          <p:cNvSpPr/>
          <p:nvPr/>
        </p:nvSpPr>
        <p:spPr>
          <a:xfrm>
            <a:off x="274320" y="2203704"/>
            <a:ext cx="7863840" cy="338328"/>
          </a:xfrm>
          <a:prstGeom prst="rect">
            <a:avLst/>
          </a:prstGeom>
          <a:solidFill>
            <a:srgbClr val="162944"/>
          </a:solidFill>
          <a:ln/>
        </p:spPr>
      </p:sp>
      <p:sp>
        <p:nvSpPr>
          <p:cNvPr id="25" name="Text 23"/>
          <p:cNvSpPr/>
          <p:nvPr/>
        </p:nvSpPr>
        <p:spPr>
          <a:xfrm>
            <a:off x="365760" y="2203704"/>
            <a:ext cx="2194560" cy="338328"/>
          </a:xfrm>
          <a:prstGeom prst="rect">
            <a:avLst/>
          </a:prstGeom>
          <a:noFill/>
          <a:ln/>
        </p:spPr>
        <p:txBody>
          <a:bodyPr wrap="square" rtlCol="0" anchor="ctr"/>
          <a:lstStyle/>
          <a:p>
            <a:pPr indent="0" marL="0">
              <a:buNone/>
            </a:pPr>
            <a:r>
              <a:rPr lang="en-US" sz="900" b="1" dirty="0">
                <a:solidFill>
                  <a:srgbClr val="E2E8F0"/>
                </a:solidFill>
              </a:rPr>
              <a:t>Time to New Plant</a:t>
            </a:r>
            <a:endParaRPr lang="en-US" sz="900" dirty="0"/>
          </a:p>
        </p:txBody>
      </p:sp>
      <p:sp>
        <p:nvSpPr>
          <p:cNvPr id="26" name="Text 24"/>
          <p:cNvSpPr/>
          <p:nvPr/>
        </p:nvSpPr>
        <p:spPr>
          <a:xfrm>
            <a:off x="2606040" y="2203704"/>
            <a:ext cx="2743200" cy="338328"/>
          </a:xfrm>
          <a:prstGeom prst="rect">
            <a:avLst/>
          </a:prstGeom>
          <a:noFill/>
          <a:ln/>
        </p:spPr>
        <p:txBody>
          <a:bodyPr wrap="square" rtlCol="0" anchor="ctr"/>
          <a:lstStyle/>
          <a:p>
            <a:pPr indent="0" marL="0">
              <a:buNone/>
            </a:pPr>
            <a:r>
              <a:rPr lang="en-US" sz="900" dirty="0">
                <a:solidFill>
                  <a:srgbClr val="10B981"/>
                </a:solidFill>
              </a:rPr>
              <a:t>Days (full tag entry required)</a:t>
            </a:r>
            <a:endParaRPr lang="en-US" sz="900" dirty="0"/>
          </a:p>
        </p:txBody>
      </p:sp>
      <p:sp>
        <p:nvSpPr>
          <p:cNvPr id="27" name="Text 25"/>
          <p:cNvSpPr/>
          <p:nvPr/>
        </p:nvSpPr>
        <p:spPr>
          <a:xfrm>
            <a:off x="5394960" y="2203704"/>
            <a:ext cx="2560320" cy="338328"/>
          </a:xfrm>
          <a:prstGeom prst="rect">
            <a:avLst/>
          </a:prstGeom>
          <a:noFill/>
          <a:ln/>
        </p:spPr>
        <p:txBody>
          <a:bodyPr wrap="square" rtlCol="0" anchor="ctr"/>
          <a:lstStyle/>
          <a:p>
            <a:pPr indent="0" marL="0">
              <a:buNone/>
            </a:pPr>
            <a:r>
              <a:rPr lang="en-US" sz="900" dirty="0">
                <a:solidFill>
                  <a:srgbClr val="00BCD4"/>
                </a:solidFill>
              </a:rPr>
              <a:t>Hours (upload docs → review)</a:t>
            </a:r>
            <a:endParaRPr lang="en-US" sz="900" dirty="0"/>
          </a:p>
        </p:txBody>
      </p:sp>
      <p:sp>
        <p:nvSpPr>
          <p:cNvPr id="28" name="Shape 26"/>
          <p:cNvSpPr/>
          <p:nvPr/>
        </p:nvSpPr>
        <p:spPr>
          <a:xfrm>
            <a:off x="274320" y="2542032"/>
            <a:ext cx="7863840" cy="338328"/>
          </a:xfrm>
          <a:prstGeom prst="rect">
            <a:avLst/>
          </a:prstGeom>
          <a:solidFill>
            <a:srgbClr val="132238"/>
          </a:solidFill>
          <a:ln/>
        </p:spPr>
      </p:sp>
      <p:sp>
        <p:nvSpPr>
          <p:cNvPr id="29" name="Text 27"/>
          <p:cNvSpPr/>
          <p:nvPr/>
        </p:nvSpPr>
        <p:spPr>
          <a:xfrm>
            <a:off x="365760" y="2542032"/>
            <a:ext cx="2194560" cy="338328"/>
          </a:xfrm>
          <a:prstGeom prst="rect">
            <a:avLst/>
          </a:prstGeom>
          <a:noFill/>
          <a:ln/>
        </p:spPr>
        <p:txBody>
          <a:bodyPr wrap="square" rtlCol="0" anchor="ctr"/>
          <a:lstStyle/>
          <a:p>
            <a:pPr indent="0" marL="0">
              <a:buNone/>
            </a:pPr>
            <a:r>
              <a:rPr lang="en-US" sz="900" b="1" dirty="0">
                <a:solidFill>
                  <a:srgbClr val="E2E8F0"/>
                </a:solidFill>
              </a:rPr>
              <a:t>Hallucination Risk</a:t>
            </a:r>
            <a:endParaRPr lang="en-US" sz="900" dirty="0"/>
          </a:p>
        </p:txBody>
      </p:sp>
      <p:sp>
        <p:nvSpPr>
          <p:cNvPr id="30" name="Text 28"/>
          <p:cNvSpPr/>
          <p:nvPr/>
        </p:nvSpPr>
        <p:spPr>
          <a:xfrm>
            <a:off x="2606040" y="2542032"/>
            <a:ext cx="2743200" cy="338328"/>
          </a:xfrm>
          <a:prstGeom prst="rect">
            <a:avLst/>
          </a:prstGeom>
          <a:noFill/>
          <a:ln/>
        </p:spPr>
        <p:txBody>
          <a:bodyPr wrap="square" rtlCol="0" anchor="ctr"/>
          <a:lstStyle/>
          <a:p>
            <a:pPr indent="0" marL="0">
              <a:buNone/>
            </a:pPr>
            <a:r>
              <a:rPr lang="en-US" sz="900" dirty="0">
                <a:solidFill>
                  <a:srgbClr val="10B981"/>
                </a:solidFill>
              </a:rPr>
              <a:t>None — engineer owns all logic</a:t>
            </a:r>
            <a:endParaRPr lang="en-US" sz="900" dirty="0"/>
          </a:p>
        </p:txBody>
      </p:sp>
      <p:sp>
        <p:nvSpPr>
          <p:cNvPr id="31" name="Text 29"/>
          <p:cNvSpPr/>
          <p:nvPr/>
        </p:nvSpPr>
        <p:spPr>
          <a:xfrm>
            <a:off x="5394960" y="2542032"/>
            <a:ext cx="2560320" cy="338328"/>
          </a:xfrm>
          <a:prstGeom prst="rect">
            <a:avLst/>
          </a:prstGeom>
          <a:noFill/>
          <a:ln/>
        </p:spPr>
        <p:txBody>
          <a:bodyPr wrap="square" rtlCol="0" anchor="ctr"/>
          <a:lstStyle/>
          <a:p>
            <a:pPr indent="0" marL="0">
              <a:buNone/>
            </a:pPr>
            <a:r>
              <a:rPr lang="en-US" sz="900" dirty="0">
                <a:solidFill>
                  <a:srgbClr val="00BCD4"/>
                </a:solidFill>
              </a:rPr>
              <a:t>Medium — needs review gates</a:t>
            </a:r>
            <a:endParaRPr lang="en-US" sz="900" dirty="0"/>
          </a:p>
        </p:txBody>
      </p:sp>
      <p:sp>
        <p:nvSpPr>
          <p:cNvPr id="32" name="Shape 30"/>
          <p:cNvSpPr/>
          <p:nvPr/>
        </p:nvSpPr>
        <p:spPr>
          <a:xfrm>
            <a:off x="274320" y="2880360"/>
            <a:ext cx="7863840" cy="338328"/>
          </a:xfrm>
          <a:prstGeom prst="rect">
            <a:avLst/>
          </a:prstGeom>
          <a:solidFill>
            <a:srgbClr val="162944"/>
          </a:solidFill>
          <a:ln/>
        </p:spPr>
      </p:sp>
      <p:sp>
        <p:nvSpPr>
          <p:cNvPr id="33" name="Text 31"/>
          <p:cNvSpPr/>
          <p:nvPr/>
        </p:nvSpPr>
        <p:spPr>
          <a:xfrm>
            <a:off x="365760" y="2880360"/>
            <a:ext cx="2194560" cy="338328"/>
          </a:xfrm>
          <a:prstGeom prst="rect">
            <a:avLst/>
          </a:prstGeom>
          <a:noFill/>
          <a:ln/>
        </p:spPr>
        <p:txBody>
          <a:bodyPr wrap="square" rtlCol="0" anchor="ctr"/>
          <a:lstStyle/>
          <a:p>
            <a:pPr indent="0" marL="0">
              <a:buNone/>
            </a:pPr>
            <a:r>
              <a:rPr lang="en-US" sz="900" b="1" dirty="0">
                <a:solidFill>
                  <a:srgbClr val="E2E8F0"/>
                </a:solidFill>
              </a:rPr>
              <a:t>Infrastructure Cost</a:t>
            </a:r>
            <a:endParaRPr lang="en-US" sz="900" dirty="0"/>
          </a:p>
        </p:txBody>
      </p:sp>
      <p:sp>
        <p:nvSpPr>
          <p:cNvPr id="34" name="Text 32"/>
          <p:cNvSpPr/>
          <p:nvPr/>
        </p:nvSpPr>
        <p:spPr>
          <a:xfrm>
            <a:off x="2606040" y="2880360"/>
            <a:ext cx="2743200" cy="338328"/>
          </a:xfrm>
          <a:prstGeom prst="rect">
            <a:avLst/>
          </a:prstGeom>
          <a:noFill/>
          <a:ln/>
        </p:spPr>
        <p:txBody>
          <a:bodyPr wrap="square" rtlCol="0" anchor="ctr"/>
          <a:lstStyle/>
          <a:p>
            <a:pPr indent="0" marL="0">
              <a:buNone/>
            </a:pPr>
            <a:r>
              <a:rPr lang="en-US" sz="900" dirty="0">
                <a:solidFill>
                  <a:srgbClr val="10B981"/>
                </a:solidFill>
              </a:rPr>
              <a:t>Low — pure Python, no LLM calls</a:t>
            </a:r>
            <a:endParaRPr lang="en-US" sz="900" dirty="0"/>
          </a:p>
        </p:txBody>
      </p:sp>
      <p:sp>
        <p:nvSpPr>
          <p:cNvPr id="35" name="Text 33"/>
          <p:cNvSpPr/>
          <p:nvPr/>
        </p:nvSpPr>
        <p:spPr>
          <a:xfrm>
            <a:off x="5394960" y="2880360"/>
            <a:ext cx="2560320" cy="338328"/>
          </a:xfrm>
          <a:prstGeom prst="rect">
            <a:avLst/>
          </a:prstGeom>
          <a:noFill/>
          <a:ln/>
        </p:spPr>
        <p:txBody>
          <a:bodyPr wrap="square" rtlCol="0" anchor="ctr"/>
          <a:lstStyle/>
          <a:p>
            <a:pPr indent="0" marL="0">
              <a:buNone/>
            </a:pPr>
            <a:r>
              <a:rPr lang="en-US" sz="900" dirty="0">
                <a:solidFill>
                  <a:srgbClr val="00BCD4"/>
                </a:solidFill>
              </a:rPr>
              <a:t>Higher — LLM API + vision models</a:t>
            </a:r>
            <a:endParaRPr lang="en-US" sz="900" dirty="0"/>
          </a:p>
        </p:txBody>
      </p:sp>
      <p:sp>
        <p:nvSpPr>
          <p:cNvPr id="36" name="Shape 34"/>
          <p:cNvSpPr/>
          <p:nvPr/>
        </p:nvSpPr>
        <p:spPr>
          <a:xfrm>
            <a:off x="274320" y="3218688"/>
            <a:ext cx="7863840" cy="338328"/>
          </a:xfrm>
          <a:prstGeom prst="rect">
            <a:avLst/>
          </a:prstGeom>
          <a:solidFill>
            <a:srgbClr val="132238"/>
          </a:solidFill>
          <a:ln/>
        </p:spPr>
      </p:sp>
      <p:sp>
        <p:nvSpPr>
          <p:cNvPr id="37" name="Text 35"/>
          <p:cNvSpPr/>
          <p:nvPr/>
        </p:nvSpPr>
        <p:spPr>
          <a:xfrm>
            <a:off x="365760" y="3218688"/>
            <a:ext cx="2194560" cy="338328"/>
          </a:xfrm>
          <a:prstGeom prst="rect">
            <a:avLst/>
          </a:prstGeom>
          <a:noFill/>
          <a:ln/>
        </p:spPr>
        <p:txBody>
          <a:bodyPr wrap="square" rtlCol="0" anchor="ctr"/>
          <a:lstStyle/>
          <a:p>
            <a:pPr indent="0" marL="0">
              <a:buNone/>
            </a:pPr>
            <a:r>
              <a:rPr lang="en-US" sz="900" b="1" dirty="0">
                <a:solidFill>
                  <a:srgbClr val="E2E8F0"/>
                </a:solidFill>
              </a:rPr>
              <a:t>Audit Trail</a:t>
            </a:r>
            <a:endParaRPr lang="en-US" sz="900" dirty="0"/>
          </a:p>
        </p:txBody>
      </p:sp>
      <p:sp>
        <p:nvSpPr>
          <p:cNvPr id="38" name="Text 36"/>
          <p:cNvSpPr/>
          <p:nvPr/>
        </p:nvSpPr>
        <p:spPr>
          <a:xfrm>
            <a:off x="2606040" y="3218688"/>
            <a:ext cx="2743200" cy="338328"/>
          </a:xfrm>
          <a:prstGeom prst="rect">
            <a:avLst/>
          </a:prstGeom>
          <a:noFill/>
          <a:ln/>
        </p:spPr>
        <p:txBody>
          <a:bodyPr wrap="square" rtlCol="0" anchor="ctr"/>
          <a:lstStyle/>
          <a:p>
            <a:pPr indent="0" marL="0">
              <a:buNone/>
            </a:pPr>
            <a:r>
              <a:rPr lang="en-US" sz="900" dirty="0">
                <a:solidFill>
                  <a:srgbClr val="10B981"/>
                </a:solidFill>
              </a:rPr>
              <a:t>Fully deterministic, traceable</a:t>
            </a:r>
            <a:endParaRPr lang="en-US" sz="900" dirty="0"/>
          </a:p>
        </p:txBody>
      </p:sp>
      <p:sp>
        <p:nvSpPr>
          <p:cNvPr id="39" name="Text 37"/>
          <p:cNvSpPr/>
          <p:nvPr/>
        </p:nvSpPr>
        <p:spPr>
          <a:xfrm>
            <a:off x="5394960" y="3218688"/>
            <a:ext cx="2560320" cy="338328"/>
          </a:xfrm>
          <a:prstGeom prst="rect">
            <a:avLst/>
          </a:prstGeom>
          <a:noFill/>
          <a:ln/>
        </p:spPr>
        <p:txBody>
          <a:bodyPr wrap="square" rtlCol="0" anchor="ctr"/>
          <a:lstStyle/>
          <a:p>
            <a:pPr indent="0" marL="0">
              <a:buNone/>
            </a:pPr>
            <a:r>
              <a:rPr lang="en-US" sz="900" dirty="0">
                <a:solidFill>
                  <a:srgbClr val="00BCD4"/>
                </a:solidFill>
              </a:rPr>
              <a:t>LLM-assisted, gate-controlled</a:t>
            </a:r>
            <a:endParaRPr lang="en-US" sz="900" dirty="0"/>
          </a:p>
        </p:txBody>
      </p:sp>
      <p:sp>
        <p:nvSpPr>
          <p:cNvPr id="40" name="Shape 38"/>
          <p:cNvSpPr/>
          <p:nvPr/>
        </p:nvSpPr>
        <p:spPr>
          <a:xfrm>
            <a:off x="274320" y="3557016"/>
            <a:ext cx="7863840" cy="338328"/>
          </a:xfrm>
          <a:prstGeom prst="rect">
            <a:avLst/>
          </a:prstGeom>
          <a:solidFill>
            <a:srgbClr val="162944"/>
          </a:solidFill>
          <a:ln/>
        </p:spPr>
      </p:sp>
      <p:sp>
        <p:nvSpPr>
          <p:cNvPr id="41" name="Text 39"/>
          <p:cNvSpPr/>
          <p:nvPr/>
        </p:nvSpPr>
        <p:spPr>
          <a:xfrm>
            <a:off x="365760" y="3557016"/>
            <a:ext cx="2194560" cy="338328"/>
          </a:xfrm>
          <a:prstGeom prst="rect">
            <a:avLst/>
          </a:prstGeom>
          <a:noFill/>
          <a:ln/>
        </p:spPr>
        <p:txBody>
          <a:bodyPr wrap="square" rtlCol="0" anchor="ctr"/>
          <a:lstStyle/>
          <a:p>
            <a:pPr indent="0" marL="0">
              <a:buNone/>
            </a:pPr>
            <a:r>
              <a:rPr lang="en-US" sz="900" b="1" dirty="0">
                <a:solidFill>
                  <a:srgbClr val="E2E8F0"/>
                </a:solidFill>
              </a:rPr>
              <a:t>Explainability</a:t>
            </a:r>
            <a:endParaRPr lang="en-US" sz="900" dirty="0"/>
          </a:p>
        </p:txBody>
      </p:sp>
      <p:sp>
        <p:nvSpPr>
          <p:cNvPr id="42" name="Text 40"/>
          <p:cNvSpPr/>
          <p:nvPr/>
        </p:nvSpPr>
        <p:spPr>
          <a:xfrm>
            <a:off x="2606040" y="3557016"/>
            <a:ext cx="2743200" cy="338328"/>
          </a:xfrm>
          <a:prstGeom prst="rect">
            <a:avLst/>
          </a:prstGeom>
          <a:noFill/>
          <a:ln/>
        </p:spPr>
        <p:txBody>
          <a:bodyPr wrap="square" rtlCol="0" anchor="ctr"/>
          <a:lstStyle/>
          <a:p>
            <a:pPr indent="0" marL="0">
              <a:buNone/>
            </a:pPr>
            <a:r>
              <a:rPr lang="en-US" sz="900" dirty="0">
                <a:solidFill>
                  <a:srgbClr val="10B981"/>
                </a:solidFill>
              </a:rPr>
              <a:t>Config tables = source of truth</a:t>
            </a:r>
            <a:endParaRPr lang="en-US" sz="900" dirty="0"/>
          </a:p>
        </p:txBody>
      </p:sp>
      <p:sp>
        <p:nvSpPr>
          <p:cNvPr id="43" name="Text 41"/>
          <p:cNvSpPr/>
          <p:nvPr/>
        </p:nvSpPr>
        <p:spPr>
          <a:xfrm>
            <a:off x="5394960" y="3557016"/>
            <a:ext cx="2560320" cy="338328"/>
          </a:xfrm>
          <a:prstGeom prst="rect">
            <a:avLst/>
          </a:prstGeom>
          <a:noFill/>
          <a:ln/>
        </p:spPr>
        <p:txBody>
          <a:bodyPr wrap="square" rtlCol="0" anchor="ctr"/>
          <a:lstStyle/>
          <a:p>
            <a:pPr indent="0" marL="0">
              <a:buNone/>
            </a:pPr>
            <a:r>
              <a:rPr lang="en-US" sz="900" dirty="0">
                <a:solidFill>
                  <a:srgbClr val="00BCD4"/>
                </a:solidFill>
              </a:rPr>
              <a:t>LLM generates NL summaries</a:t>
            </a:r>
            <a:endParaRPr lang="en-US" sz="900" dirty="0"/>
          </a:p>
        </p:txBody>
      </p:sp>
      <p:sp>
        <p:nvSpPr>
          <p:cNvPr id="44" name="Shape 42"/>
          <p:cNvSpPr/>
          <p:nvPr/>
        </p:nvSpPr>
        <p:spPr>
          <a:xfrm>
            <a:off x="274320" y="3895344"/>
            <a:ext cx="7863840" cy="338328"/>
          </a:xfrm>
          <a:prstGeom prst="rect">
            <a:avLst/>
          </a:prstGeom>
          <a:solidFill>
            <a:srgbClr val="132238"/>
          </a:solidFill>
          <a:ln/>
        </p:spPr>
      </p:sp>
      <p:sp>
        <p:nvSpPr>
          <p:cNvPr id="45" name="Text 43"/>
          <p:cNvSpPr/>
          <p:nvPr/>
        </p:nvSpPr>
        <p:spPr>
          <a:xfrm>
            <a:off x="365760" y="3895344"/>
            <a:ext cx="2194560" cy="338328"/>
          </a:xfrm>
          <a:prstGeom prst="rect">
            <a:avLst/>
          </a:prstGeom>
          <a:noFill/>
          <a:ln/>
        </p:spPr>
        <p:txBody>
          <a:bodyPr wrap="square" rtlCol="0" anchor="ctr"/>
          <a:lstStyle/>
          <a:p>
            <a:pPr indent="0" marL="0">
              <a:buNone/>
            </a:pPr>
            <a:r>
              <a:rPr lang="en-US" sz="900" b="1" dirty="0">
                <a:solidFill>
                  <a:srgbClr val="E2E8F0"/>
                </a:solidFill>
              </a:rPr>
              <a:t>Optimizer</a:t>
            </a:r>
            <a:endParaRPr lang="en-US" sz="900" dirty="0"/>
          </a:p>
        </p:txBody>
      </p:sp>
      <p:sp>
        <p:nvSpPr>
          <p:cNvPr id="46" name="Text 44"/>
          <p:cNvSpPr/>
          <p:nvPr/>
        </p:nvSpPr>
        <p:spPr>
          <a:xfrm>
            <a:off x="2606040" y="3895344"/>
            <a:ext cx="2743200" cy="338328"/>
          </a:xfrm>
          <a:prstGeom prst="rect">
            <a:avLst/>
          </a:prstGeom>
          <a:noFill/>
          <a:ln/>
        </p:spPr>
        <p:txBody>
          <a:bodyPr wrap="square" rtlCol="0" anchor="ctr"/>
          <a:lstStyle/>
          <a:p>
            <a:pPr indent="0" marL="0">
              <a:buNone/>
            </a:pPr>
            <a:r>
              <a:rPr lang="en-US" sz="900" dirty="0">
                <a:solidFill>
                  <a:srgbClr val="10B981"/>
                </a:solidFill>
              </a:rPr>
              <a:t>GEKKO MINLP → BoTorch BO</a:t>
            </a:r>
            <a:endParaRPr lang="en-US" sz="900" dirty="0"/>
          </a:p>
        </p:txBody>
      </p:sp>
      <p:sp>
        <p:nvSpPr>
          <p:cNvPr id="47" name="Text 45"/>
          <p:cNvSpPr/>
          <p:nvPr/>
        </p:nvSpPr>
        <p:spPr>
          <a:xfrm>
            <a:off x="5394960" y="3895344"/>
            <a:ext cx="2560320" cy="338328"/>
          </a:xfrm>
          <a:prstGeom prst="rect">
            <a:avLst/>
          </a:prstGeom>
          <a:noFill/>
          <a:ln/>
        </p:spPr>
        <p:txBody>
          <a:bodyPr wrap="square" rtlCol="0" anchor="ctr"/>
          <a:lstStyle/>
          <a:p>
            <a:pPr indent="0" marL="0">
              <a:buNone/>
            </a:pPr>
            <a:r>
              <a:rPr lang="en-US" sz="900" dirty="0">
                <a:solidFill>
                  <a:srgbClr val="00BCD4"/>
                </a:solidFill>
              </a:rPr>
              <a:t>GEKKO MINLP → BoTorch BO</a:t>
            </a:r>
            <a:endParaRPr lang="en-US" sz="900" dirty="0"/>
          </a:p>
        </p:txBody>
      </p:sp>
      <p:sp>
        <p:nvSpPr>
          <p:cNvPr id="48" name="Shape 46"/>
          <p:cNvSpPr/>
          <p:nvPr/>
        </p:nvSpPr>
        <p:spPr>
          <a:xfrm>
            <a:off x="274320" y="4233672"/>
            <a:ext cx="7863840" cy="338328"/>
          </a:xfrm>
          <a:prstGeom prst="rect">
            <a:avLst/>
          </a:prstGeom>
          <a:solidFill>
            <a:srgbClr val="162944"/>
          </a:solidFill>
          <a:ln/>
        </p:spPr>
      </p:sp>
      <p:sp>
        <p:nvSpPr>
          <p:cNvPr id="49" name="Text 47"/>
          <p:cNvSpPr/>
          <p:nvPr/>
        </p:nvSpPr>
        <p:spPr>
          <a:xfrm>
            <a:off x="365760" y="4233672"/>
            <a:ext cx="2194560" cy="338328"/>
          </a:xfrm>
          <a:prstGeom prst="rect">
            <a:avLst/>
          </a:prstGeom>
          <a:noFill/>
          <a:ln/>
        </p:spPr>
        <p:txBody>
          <a:bodyPr wrap="square" rtlCol="0" anchor="ctr"/>
          <a:lstStyle/>
          <a:p>
            <a:pPr indent="0" marL="0">
              <a:buNone/>
            </a:pPr>
            <a:r>
              <a:rPr lang="en-US" sz="900" b="1" dirty="0">
                <a:solidFill>
                  <a:srgbClr val="E2E8F0"/>
                </a:solidFill>
              </a:rPr>
              <a:t>Best For</a:t>
            </a:r>
            <a:endParaRPr lang="en-US" sz="900" dirty="0"/>
          </a:p>
        </p:txBody>
      </p:sp>
      <p:sp>
        <p:nvSpPr>
          <p:cNvPr id="50" name="Text 48"/>
          <p:cNvSpPr/>
          <p:nvPr/>
        </p:nvSpPr>
        <p:spPr>
          <a:xfrm>
            <a:off x="2606040" y="4233672"/>
            <a:ext cx="2743200" cy="338328"/>
          </a:xfrm>
          <a:prstGeom prst="rect">
            <a:avLst/>
          </a:prstGeom>
          <a:noFill/>
          <a:ln/>
        </p:spPr>
        <p:txBody>
          <a:bodyPr wrap="square" rtlCol="0" anchor="ctr"/>
          <a:lstStyle/>
          <a:p>
            <a:pPr indent="0" marL="0">
              <a:buNone/>
            </a:pPr>
            <a:r>
              <a:rPr lang="en-US" sz="900" dirty="0">
                <a:solidFill>
                  <a:srgbClr val="10B981"/>
                </a:solidFill>
              </a:rPr>
              <a:t>Stable plants, known tag structure</a:t>
            </a:r>
            <a:endParaRPr lang="en-US" sz="900" dirty="0"/>
          </a:p>
        </p:txBody>
      </p:sp>
      <p:sp>
        <p:nvSpPr>
          <p:cNvPr id="51" name="Text 49"/>
          <p:cNvSpPr/>
          <p:nvPr/>
        </p:nvSpPr>
        <p:spPr>
          <a:xfrm>
            <a:off x="5394960" y="4233672"/>
            <a:ext cx="2560320" cy="338328"/>
          </a:xfrm>
          <a:prstGeom prst="rect">
            <a:avLst/>
          </a:prstGeom>
          <a:noFill/>
          <a:ln/>
        </p:spPr>
        <p:txBody>
          <a:bodyPr wrap="square" rtlCol="0" anchor="ctr"/>
          <a:lstStyle/>
          <a:p>
            <a:pPr indent="0" marL="0">
              <a:buNone/>
            </a:pPr>
            <a:r>
              <a:rPr lang="en-US" sz="900" dirty="0">
                <a:solidFill>
                  <a:srgbClr val="00BCD4"/>
                </a:solidFill>
              </a:rPr>
              <a:t>Multi-site rollout, greenfield</a:t>
            </a:r>
            <a:endParaRPr lang="en-US" sz="900" dirty="0"/>
          </a:p>
        </p:txBody>
      </p:sp>
      <p:sp>
        <p:nvSpPr>
          <p:cNvPr id="52" name="Shape 50"/>
          <p:cNvSpPr/>
          <p:nvPr/>
        </p:nvSpPr>
        <p:spPr>
          <a:xfrm>
            <a:off x="8366760" y="777240"/>
            <a:ext cx="3749040" cy="4114800"/>
          </a:xfrm>
          <a:prstGeom prst="rect">
            <a:avLst/>
          </a:prstGeom>
          <a:solidFill>
            <a:srgbClr val="162944"/>
          </a:solidFill>
          <a:ln w="12700">
            <a:solidFill>
              <a:srgbClr val="1E3A5F"/>
            </a:solidFill>
            <a:prstDash val="solid"/>
          </a:ln>
        </p:spPr>
      </p:sp>
      <p:sp>
        <p:nvSpPr>
          <p:cNvPr id="53" name="Text 51"/>
          <p:cNvSpPr/>
          <p:nvPr/>
        </p:nvSpPr>
        <p:spPr>
          <a:xfrm>
            <a:off x="8458200" y="822960"/>
            <a:ext cx="3474720" cy="256032"/>
          </a:xfrm>
          <a:prstGeom prst="rect">
            <a:avLst/>
          </a:prstGeom>
          <a:noFill/>
          <a:ln/>
        </p:spPr>
        <p:txBody>
          <a:bodyPr wrap="square" rtlCol="0" anchor="ctr"/>
          <a:lstStyle/>
          <a:p>
            <a:pPr indent="0" marL="0">
              <a:buNone/>
            </a:pPr>
            <a:r>
              <a:rPr lang="en-US" sz="1200" b="1" dirty="0">
                <a:solidFill>
                  <a:srgbClr val="F59E0B"/>
                </a:solidFill>
              </a:rPr>
              <a:t>Tech Stack</a:t>
            </a:r>
            <a:endParaRPr lang="en-US" sz="1200" dirty="0"/>
          </a:p>
        </p:txBody>
      </p:sp>
      <p:sp>
        <p:nvSpPr>
          <p:cNvPr id="54" name="Text 52"/>
          <p:cNvSpPr/>
          <p:nvPr/>
        </p:nvSpPr>
        <p:spPr>
          <a:xfrm>
            <a:off x="8458200" y="1143000"/>
            <a:ext cx="1920240" cy="274320"/>
          </a:xfrm>
          <a:prstGeom prst="rect">
            <a:avLst/>
          </a:prstGeom>
          <a:noFill/>
          <a:ln/>
        </p:spPr>
        <p:txBody>
          <a:bodyPr wrap="square" rtlCol="0" anchor="ctr"/>
          <a:lstStyle/>
          <a:p>
            <a:pPr indent="0" marL="0">
              <a:buNone/>
            </a:pPr>
            <a:r>
              <a:rPr lang="en-US" sz="850" dirty="0">
                <a:solidFill>
                  <a:srgbClr val="94A3B8"/>
                </a:solidFill>
              </a:rPr>
              <a:t>Orchestration:</a:t>
            </a:r>
            <a:endParaRPr lang="en-US" sz="850" dirty="0"/>
          </a:p>
        </p:txBody>
      </p:sp>
      <p:sp>
        <p:nvSpPr>
          <p:cNvPr id="55" name="Text 53"/>
          <p:cNvSpPr/>
          <p:nvPr/>
        </p:nvSpPr>
        <p:spPr>
          <a:xfrm>
            <a:off x="10378440" y="1143000"/>
            <a:ext cx="1554480" cy="274320"/>
          </a:xfrm>
          <a:prstGeom prst="rect">
            <a:avLst/>
          </a:prstGeom>
          <a:noFill/>
          <a:ln/>
        </p:spPr>
        <p:txBody>
          <a:bodyPr wrap="square" rtlCol="0" anchor="ctr"/>
          <a:lstStyle/>
          <a:p>
            <a:pPr indent="0" marL="0">
              <a:buNone/>
            </a:pPr>
            <a:r>
              <a:rPr lang="en-US" sz="850" b="1" dirty="0">
                <a:solidFill>
                  <a:srgbClr val="00897B"/>
                </a:solidFill>
                <a:latin typeface="Consolas" pitchFamily="34" charset="0"/>
                <a:ea typeface="Consolas" pitchFamily="34" charset="-122"/>
                <a:cs typeface="Consolas" pitchFamily="34" charset="-120"/>
              </a:rPr>
              <a:t>Kedro 0.19+</a:t>
            </a:r>
            <a:endParaRPr lang="en-US" sz="850" dirty="0"/>
          </a:p>
        </p:txBody>
      </p:sp>
      <p:sp>
        <p:nvSpPr>
          <p:cNvPr id="56" name="Text 54"/>
          <p:cNvSpPr/>
          <p:nvPr/>
        </p:nvSpPr>
        <p:spPr>
          <a:xfrm>
            <a:off x="8458200" y="1444752"/>
            <a:ext cx="1920240" cy="274320"/>
          </a:xfrm>
          <a:prstGeom prst="rect">
            <a:avLst/>
          </a:prstGeom>
          <a:noFill/>
          <a:ln/>
        </p:spPr>
        <p:txBody>
          <a:bodyPr wrap="square" rtlCol="0" anchor="ctr"/>
          <a:lstStyle/>
          <a:p>
            <a:pPr indent="0" marL="0">
              <a:buNone/>
            </a:pPr>
            <a:r>
              <a:rPr lang="en-US" sz="850" dirty="0">
                <a:solidFill>
                  <a:srgbClr val="94A3B8"/>
                </a:solidFill>
              </a:rPr>
              <a:t>Optimizer (Primary):</a:t>
            </a:r>
            <a:endParaRPr lang="en-US" sz="850" dirty="0"/>
          </a:p>
        </p:txBody>
      </p:sp>
      <p:sp>
        <p:nvSpPr>
          <p:cNvPr id="57" name="Text 55"/>
          <p:cNvSpPr/>
          <p:nvPr/>
        </p:nvSpPr>
        <p:spPr>
          <a:xfrm>
            <a:off x="10378440" y="1444752"/>
            <a:ext cx="1554480" cy="274320"/>
          </a:xfrm>
          <a:prstGeom prst="rect">
            <a:avLst/>
          </a:prstGeom>
          <a:noFill/>
          <a:ln/>
        </p:spPr>
        <p:txBody>
          <a:bodyPr wrap="square" rtlCol="0" anchor="ctr"/>
          <a:lstStyle/>
          <a:p>
            <a:pPr indent="0" marL="0">
              <a:buNone/>
            </a:pPr>
            <a:r>
              <a:rPr lang="en-US" sz="850" b="1" dirty="0">
                <a:solidFill>
                  <a:srgbClr val="10B981"/>
                </a:solidFill>
                <a:latin typeface="Consolas" pitchFamily="34" charset="0"/>
                <a:ea typeface="Consolas" pitchFamily="34" charset="-122"/>
                <a:cs typeface="Consolas" pitchFamily="34" charset="-120"/>
              </a:rPr>
              <a:t>BoTorch / Optuna</a:t>
            </a:r>
            <a:endParaRPr lang="en-US" sz="850" dirty="0"/>
          </a:p>
        </p:txBody>
      </p:sp>
      <p:sp>
        <p:nvSpPr>
          <p:cNvPr id="58" name="Text 56"/>
          <p:cNvSpPr/>
          <p:nvPr/>
        </p:nvSpPr>
        <p:spPr>
          <a:xfrm>
            <a:off x="8458200" y="1746504"/>
            <a:ext cx="1920240" cy="274320"/>
          </a:xfrm>
          <a:prstGeom prst="rect">
            <a:avLst/>
          </a:prstGeom>
          <a:noFill/>
          <a:ln/>
        </p:spPr>
        <p:txBody>
          <a:bodyPr wrap="square" rtlCol="0" anchor="ctr"/>
          <a:lstStyle/>
          <a:p>
            <a:pPr indent="0" marL="0">
              <a:buNone/>
            </a:pPr>
            <a:r>
              <a:rPr lang="en-US" sz="850" dirty="0">
                <a:solidFill>
                  <a:srgbClr val="94A3B8"/>
                </a:solidFill>
              </a:rPr>
              <a:t>Optimizer (Fallback):</a:t>
            </a:r>
            <a:endParaRPr lang="en-US" sz="850" dirty="0"/>
          </a:p>
        </p:txBody>
      </p:sp>
      <p:sp>
        <p:nvSpPr>
          <p:cNvPr id="59" name="Text 57"/>
          <p:cNvSpPr/>
          <p:nvPr/>
        </p:nvSpPr>
        <p:spPr>
          <a:xfrm>
            <a:off x="10378440" y="1746504"/>
            <a:ext cx="1554480" cy="274320"/>
          </a:xfrm>
          <a:prstGeom prst="rect">
            <a:avLst/>
          </a:prstGeom>
          <a:noFill/>
          <a:ln/>
        </p:spPr>
        <p:txBody>
          <a:bodyPr wrap="square" rtlCol="0" anchor="ctr"/>
          <a:lstStyle/>
          <a:p>
            <a:pPr indent="0" marL="0">
              <a:buNone/>
            </a:pPr>
            <a:r>
              <a:rPr lang="en-US" sz="850" b="1" dirty="0">
                <a:solidFill>
                  <a:srgbClr val="F59E0B"/>
                </a:solidFill>
                <a:latin typeface="Consolas" pitchFamily="34" charset="0"/>
                <a:ea typeface="Consolas" pitchFamily="34" charset="-122"/>
                <a:cs typeface="Consolas" pitchFamily="34" charset="-120"/>
              </a:rPr>
              <a:t>GEKKO / Pyomo</a:t>
            </a:r>
            <a:endParaRPr lang="en-US" sz="850" dirty="0"/>
          </a:p>
        </p:txBody>
      </p:sp>
      <p:sp>
        <p:nvSpPr>
          <p:cNvPr id="60" name="Text 58"/>
          <p:cNvSpPr/>
          <p:nvPr/>
        </p:nvSpPr>
        <p:spPr>
          <a:xfrm>
            <a:off x="8458200" y="2048256"/>
            <a:ext cx="1920240" cy="274320"/>
          </a:xfrm>
          <a:prstGeom prst="rect">
            <a:avLst/>
          </a:prstGeom>
          <a:noFill/>
          <a:ln/>
        </p:spPr>
        <p:txBody>
          <a:bodyPr wrap="square" rtlCol="0" anchor="ctr"/>
          <a:lstStyle/>
          <a:p>
            <a:pPr indent="0" marL="0">
              <a:buNone/>
            </a:pPr>
            <a:r>
              <a:rPr lang="en-US" sz="850" dirty="0">
                <a:solidFill>
                  <a:srgbClr val="94A3B8"/>
                </a:solidFill>
              </a:rPr>
              <a:t>Dependency Graph:</a:t>
            </a:r>
            <a:endParaRPr lang="en-US" sz="850" dirty="0"/>
          </a:p>
        </p:txBody>
      </p:sp>
      <p:sp>
        <p:nvSpPr>
          <p:cNvPr id="61" name="Text 59"/>
          <p:cNvSpPr/>
          <p:nvPr/>
        </p:nvSpPr>
        <p:spPr>
          <a:xfrm>
            <a:off x="10378440" y="2048256"/>
            <a:ext cx="1554480" cy="274320"/>
          </a:xfrm>
          <a:prstGeom prst="rect">
            <a:avLst/>
          </a:prstGeom>
          <a:noFill/>
          <a:ln/>
        </p:spPr>
        <p:txBody>
          <a:bodyPr wrap="square" rtlCol="0" anchor="ctr"/>
          <a:lstStyle/>
          <a:p>
            <a:pPr indent="0" marL="0">
              <a:buNone/>
            </a:pPr>
            <a:r>
              <a:rPr lang="en-US" sz="850" b="1" dirty="0">
                <a:solidFill>
                  <a:srgbClr val="6B46C1"/>
                </a:solidFill>
                <a:latin typeface="Consolas" pitchFamily="34" charset="0"/>
                <a:ea typeface="Consolas" pitchFamily="34" charset="-122"/>
                <a:cs typeface="Consolas" pitchFamily="34" charset="-120"/>
              </a:rPr>
              <a:t>NetworkX</a:t>
            </a:r>
            <a:endParaRPr lang="en-US" sz="850" dirty="0"/>
          </a:p>
        </p:txBody>
      </p:sp>
      <p:sp>
        <p:nvSpPr>
          <p:cNvPr id="62" name="Text 60"/>
          <p:cNvSpPr/>
          <p:nvPr/>
        </p:nvSpPr>
        <p:spPr>
          <a:xfrm>
            <a:off x="8458200" y="2350008"/>
            <a:ext cx="1920240" cy="274320"/>
          </a:xfrm>
          <a:prstGeom prst="rect">
            <a:avLst/>
          </a:prstGeom>
          <a:noFill/>
          <a:ln/>
        </p:spPr>
        <p:txBody>
          <a:bodyPr wrap="square" rtlCol="0" anchor="ctr"/>
          <a:lstStyle/>
          <a:p>
            <a:pPr indent="0" marL="0">
              <a:buNone/>
            </a:pPr>
            <a:r>
              <a:rPr lang="en-US" sz="850" dirty="0">
                <a:solidFill>
                  <a:srgbClr val="94A3B8"/>
                </a:solidFill>
              </a:rPr>
              <a:t>Circular Refs:</a:t>
            </a:r>
            <a:endParaRPr lang="en-US" sz="850" dirty="0"/>
          </a:p>
        </p:txBody>
      </p:sp>
      <p:sp>
        <p:nvSpPr>
          <p:cNvPr id="63" name="Text 61"/>
          <p:cNvSpPr/>
          <p:nvPr/>
        </p:nvSpPr>
        <p:spPr>
          <a:xfrm>
            <a:off x="10378440" y="2350008"/>
            <a:ext cx="1554480" cy="274320"/>
          </a:xfrm>
          <a:prstGeom prst="rect">
            <a:avLst/>
          </a:prstGeom>
          <a:noFill/>
          <a:ln/>
        </p:spPr>
        <p:txBody>
          <a:bodyPr wrap="square" rtlCol="0" anchor="ctr"/>
          <a:lstStyle/>
          <a:p>
            <a:pPr indent="0" marL="0">
              <a:buNone/>
            </a:pPr>
            <a:r>
              <a:rPr lang="en-US" sz="850" b="1" dirty="0">
                <a:solidFill>
                  <a:srgbClr val="00BCD4"/>
                </a:solidFill>
                <a:latin typeface="Consolas" pitchFamily="34" charset="0"/>
                <a:ea typeface="Consolas" pitchFamily="34" charset="-122"/>
                <a:cs typeface="Consolas" pitchFamily="34" charset="-120"/>
              </a:rPr>
              <a:t>scipy.optimize.fsolve</a:t>
            </a:r>
            <a:endParaRPr lang="en-US" sz="850" dirty="0"/>
          </a:p>
        </p:txBody>
      </p:sp>
      <p:sp>
        <p:nvSpPr>
          <p:cNvPr id="64" name="Text 62"/>
          <p:cNvSpPr/>
          <p:nvPr/>
        </p:nvSpPr>
        <p:spPr>
          <a:xfrm>
            <a:off x="8458200" y="2651760"/>
            <a:ext cx="1920240" cy="274320"/>
          </a:xfrm>
          <a:prstGeom prst="rect">
            <a:avLst/>
          </a:prstGeom>
          <a:noFill/>
          <a:ln/>
        </p:spPr>
        <p:txBody>
          <a:bodyPr wrap="square" rtlCol="0" anchor="ctr"/>
          <a:lstStyle/>
          <a:p>
            <a:pPr indent="0" marL="0">
              <a:buNone/>
            </a:pPr>
            <a:r>
              <a:rPr lang="en-US" sz="850" dirty="0">
                <a:solidFill>
                  <a:srgbClr val="94A3B8"/>
                </a:solidFill>
              </a:rPr>
              <a:t>PI Historian:</a:t>
            </a:r>
            <a:endParaRPr lang="en-US" sz="850" dirty="0"/>
          </a:p>
        </p:txBody>
      </p:sp>
      <p:sp>
        <p:nvSpPr>
          <p:cNvPr id="65" name="Text 63"/>
          <p:cNvSpPr/>
          <p:nvPr/>
        </p:nvSpPr>
        <p:spPr>
          <a:xfrm>
            <a:off x="10378440" y="2651760"/>
            <a:ext cx="1554480" cy="274320"/>
          </a:xfrm>
          <a:prstGeom prst="rect">
            <a:avLst/>
          </a:prstGeom>
          <a:noFill/>
          <a:ln/>
        </p:spPr>
        <p:txBody>
          <a:bodyPr wrap="square" rtlCol="0" anchor="ctr"/>
          <a:lstStyle/>
          <a:p>
            <a:pPr indent="0" marL="0">
              <a:buNone/>
            </a:pPr>
            <a:r>
              <a:rPr lang="en-US" sz="850" b="1" dirty="0">
                <a:solidFill>
                  <a:srgbClr val="E05A4F"/>
                </a:solidFill>
                <a:latin typeface="Consolas" pitchFamily="34" charset="0"/>
                <a:ea typeface="Consolas" pitchFamily="34" charset="-122"/>
                <a:cs typeface="Consolas" pitchFamily="34" charset="-120"/>
              </a:rPr>
              <a:t>osisoft.pi / PI Web API</a:t>
            </a:r>
            <a:endParaRPr lang="en-US" sz="850" dirty="0"/>
          </a:p>
        </p:txBody>
      </p:sp>
      <p:sp>
        <p:nvSpPr>
          <p:cNvPr id="66" name="Text 64"/>
          <p:cNvSpPr/>
          <p:nvPr/>
        </p:nvSpPr>
        <p:spPr>
          <a:xfrm>
            <a:off x="8458200" y="2953512"/>
            <a:ext cx="1920240" cy="274320"/>
          </a:xfrm>
          <a:prstGeom prst="rect">
            <a:avLst/>
          </a:prstGeom>
          <a:noFill/>
          <a:ln/>
        </p:spPr>
        <p:txBody>
          <a:bodyPr wrap="square" rtlCol="0" anchor="ctr"/>
          <a:lstStyle/>
          <a:p>
            <a:pPr indent="0" marL="0">
              <a:buNone/>
            </a:pPr>
            <a:r>
              <a:rPr lang="en-US" sz="850" dirty="0">
                <a:solidFill>
                  <a:srgbClr val="94A3B8"/>
                </a:solidFill>
              </a:rPr>
              <a:t>Imputation ML:</a:t>
            </a:r>
            <a:endParaRPr lang="en-US" sz="850" dirty="0"/>
          </a:p>
        </p:txBody>
      </p:sp>
      <p:sp>
        <p:nvSpPr>
          <p:cNvPr id="67" name="Text 65"/>
          <p:cNvSpPr/>
          <p:nvPr/>
        </p:nvSpPr>
        <p:spPr>
          <a:xfrm>
            <a:off x="10378440" y="2953512"/>
            <a:ext cx="1554480" cy="274320"/>
          </a:xfrm>
          <a:prstGeom prst="rect">
            <a:avLst/>
          </a:prstGeom>
          <a:noFill/>
          <a:ln/>
        </p:spPr>
        <p:txBody>
          <a:bodyPr wrap="square" rtlCol="0" anchor="ctr"/>
          <a:lstStyle/>
          <a:p>
            <a:pPr indent="0" marL="0">
              <a:buNone/>
            </a:pPr>
            <a:r>
              <a:rPr lang="en-US" sz="850" b="1" dirty="0">
                <a:solidFill>
                  <a:srgbClr val="00897B"/>
                </a:solidFill>
                <a:latin typeface="Consolas" pitchFamily="34" charset="0"/>
                <a:ea typeface="Consolas" pitchFamily="34" charset="-122"/>
                <a:cs typeface="Consolas" pitchFamily="34" charset="-120"/>
              </a:rPr>
              <a:t>LightGBM / scikit-learn</a:t>
            </a:r>
            <a:endParaRPr lang="en-US" sz="850" dirty="0"/>
          </a:p>
        </p:txBody>
      </p:sp>
      <p:sp>
        <p:nvSpPr>
          <p:cNvPr id="68" name="Text 66"/>
          <p:cNvSpPr/>
          <p:nvPr/>
        </p:nvSpPr>
        <p:spPr>
          <a:xfrm>
            <a:off x="8458200" y="3255264"/>
            <a:ext cx="1920240" cy="274320"/>
          </a:xfrm>
          <a:prstGeom prst="rect">
            <a:avLst/>
          </a:prstGeom>
          <a:noFill/>
          <a:ln/>
        </p:spPr>
        <p:txBody>
          <a:bodyPr wrap="square" rtlCol="0" anchor="ctr"/>
          <a:lstStyle/>
          <a:p>
            <a:pPr indent="0" marL="0">
              <a:buNone/>
            </a:pPr>
            <a:r>
              <a:rPr lang="en-US" sz="850" dirty="0">
                <a:solidFill>
                  <a:srgbClr val="94A3B8"/>
                </a:solidFill>
              </a:rPr>
              <a:t>Config Store:</a:t>
            </a:r>
            <a:endParaRPr lang="en-US" sz="850" dirty="0"/>
          </a:p>
        </p:txBody>
      </p:sp>
      <p:sp>
        <p:nvSpPr>
          <p:cNvPr id="69" name="Text 67"/>
          <p:cNvSpPr/>
          <p:nvPr/>
        </p:nvSpPr>
        <p:spPr>
          <a:xfrm>
            <a:off x="10378440" y="3255264"/>
            <a:ext cx="1554480" cy="274320"/>
          </a:xfrm>
          <a:prstGeom prst="rect">
            <a:avLst/>
          </a:prstGeom>
          <a:noFill/>
          <a:ln/>
        </p:spPr>
        <p:txBody>
          <a:bodyPr wrap="square" rtlCol="0" anchor="ctr"/>
          <a:lstStyle/>
          <a:p>
            <a:pPr indent="0" marL="0">
              <a:buNone/>
            </a:pPr>
            <a:r>
              <a:rPr lang="en-US" sz="850" b="1" dirty="0">
                <a:solidFill>
                  <a:srgbClr val="F59E0B"/>
                </a:solidFill>
                <a:latin typeface="Consolas" pitchFamily="34" charset="0"/>
                <a:ea typeface="Consolas" pitchFamily="34" charset="-122"/>
                <a:cs typeface="Consolas" pitchFamily="34" charset="-120"/>
              </a:rPr>
              <a:t>PostgreSQL + YAML</a:t>
            </a:r>
            <a:endParaRPr lang="en-US" sz="850" dirty="0"/>
          </a:p>
        </p:txBody>
      </p:sp>
      <p:sp>
        <p:nvSpPr>
          <p:cNvPr id="70" name="Text 68"/>
          <p:cNvSpPr/>
          <p:nvPr/>
        </p:nvSpPr>
        <p:spPr>
          <a:xfrm>
            <a:off x="8458200" y="3557016"/>
            <a:ext cx="1920240" cy="274320"/>
          </a:xfrm>
          <a:prstGeom prst="rect">
            <a:avLst/>
          </a:prstGeom>
          <a:noFill/>
          <a:ln/>
        </p:spPr>
        <p:txBody>
          <a:bodyPr wrap="square" rtlCol="0" anchor="ctr"/>
          <a:lstStyle/>
          <a:p>
            <a:pPr indent="0" marL="0">
              <a:buNone/>
            </a:pPr>
            <a:r>
              <a:rPr lang="en-US" sz="850" dirty="0">
                <a:solidFill>
                  <a:srgbClr val="94A3B8"/>
                </a:solidFill>
              </a:rPr>
              <a:t>GenAI Layer:</a:t>
            </a:r>
            <a:endParaRPr lang="en-US" sz="850" dirty="0"/>
          </a:p>
        </p:txBody>
      </p:sp>
      <p:sp>
        <p:nvSpPr>
          <p:cNvPr id="71" name="Text 69"/>
          <p:cNvSpPr/>
          <p:nvPr/>
        </p:nvSpPr>
        <p:spPr>
          <a:xfrm>
            <a:off x="10378440" y="3557016"/>
            <a:ext cx="1554480" cy="274320"/>
          </a:xfrm>
          <a:prstGeom prst="rect">
            <a:avLst/>
          </a:prstGeom>
          <a:noFill/>
          <a:ln/>
        </p:spPr>
        <p:txBody>
          <a:bodyPr wrap="square" rtlCol="0" anchor="ctr"/>
          <a:lstStyle/>
          <a:p>
            <a:pPr indent="0" marL="0">
              <a:buNone/>
            </a:pPr>
            <a:r>
              <a:rPr lang="en-US" sz="850" b="1" dirty="0">
                <a:solidFill>
                  <a:srgbClr val="00BCD4"/>
                </a:solidFill>
                <a:latin typeface="Consolas" pitchFamily="34" charset="0"/>
                <a:ea typeface="Consolas" pitchFamily="34" charset="-122"/>
                <a:cs typeface="Consolas" pitchFamily="34" charset="-120"/>
              </a:rPr>
              <a:t>Claude API (claude-sonnet)</a:t>
            </a:r>
            <a:endParaRPr lang="en-US" sz="850" dirty="0"/>
          </a:p>
        </p:txBody>
      </p:sp>
      <p:sp>
        <p:nvSpPr>
          <p:cNvPr id="72" name="Text 70"/>
          <p:cNvSpPr/>
          <p:nvPr/>
        </p:nvSpPr>
        <p:spPr>
          <a:xfrm>
            <a:off x="8458200" y="3858768"/>
            <a:ext cx="1920240" cy="274320"/>
          </a:xfrm>
          <a:prstGeom prst="rect">
            <a:avLst/>
          </a:prstGeom>
          <a:noFill/>
          <a:ln/>
        </p:spPr>
        <p:txBody>
          <a:bodyPr wrap="square" rtlCol="0" anchor="ctr"/>
          <a:lstStyle/>
          <a:p>
            <a:pPr indent="0" marL="0">
              <a:buNone/>
            </a:pPr>
            <a:r>
              <a:rPr lang="en-US" sz="850" dirty="0">
                <a:solidFill>
                  <a:srgbClr val="94A3B8"/>
                </a:solidFill>
              </a:rPr>
              <a:t>Dashboard:</a:t>
            </a:r>
            <a:endParaRPr lang="en-US" sz="850" dirty="0"/>
          </a:p>
        </p:txBody>
      </p:sp>
      <p:sp>
        <p:nvSpPr>
          <p:cNvPr id="73" name="Text 71"/>
          <p:cNvSpPr/>
          <p:nvPr/>
        </p:nvSpPr>
        <p:spPr>
          <a:xfrm>
            <a:off x="10378440" y="3858768"/>
            <a:ext cx="1554480" cy="274320"/>
          </a:xfrm>
          <a:prstGeom prst="rect">
            <a:avLst/>
          </a:prstGeom>
          <a:noFill/>
          <a:ln/>
        </p:spPr>
        <p:txBody>
          <a:bodyPr wrap="square" rtlCol="0" anchor="ctr"/>
          <a:lstStyle/>
          <a:p>
            <a:pPr indent="0" marL="0">
              <a:buNone/>
            </a:pPr>
            <a:r>
              <a:rPr lang="en-US" sz="850" b="1" dirty="0">
                <a:solidFill>
                  <a:srgbClr val="10B981"/>
                </a:solidFill>
                <a:latin typeface="Consolas" pitchFamily="34" charset="0"/>
                <a:ea typeface="Consolas" pitchFamily="34" charset="-122"/>
                <a:cs typeface="Consolas" pitchFamily="34" charset="-120"/>
              </a:rPr>
              <a:t>Streamlit / FastAPI</a:t>
            </a:r>
            <a:endParaRPr lang="en-US" sz="850" dirty="0"/>
          </a:p>
        </p:txBody>
      </p:sp>
      <p:sp>
        <p:nvSpPr>
          <p:cNvPr id="74" name="Text 72"/>
          <p:cNvSpPr/>
          <p:nvPr/>
        </p:nvSpPr>
        <p:spPr>
          <a:xfrm>
            <a:off x="8458200" y="4160520"/>
            <a:ext cx="1920240" cy="274320"/>
          </a:xfrm>
          <a:prstGeom prst="rect">
            <a:avLst/>
          </a:prstGeom>
          <a:noFill/>
          <a:ln/>
        </p:spPr>
        <p:txBody>
          <a:bodyPr wrap="square" rtlCol="0" anchor="ctr"/>
          <a:lstStyle/>
          <a:p>
            <a:pPr indent="0" marL="0">
              <a:buNone/>
            </a:pPr>
            <a:r>
              <a:rPr lang="en-US" sz="850" dirty="0">
                <a:solidFill>
                  <a:srgbClr val="94A3B8"/>
                </a:solidFill>
              </a:rPr>
              <a:t>Formula Engine:</a:t>
            </a:r>
            <a:endParaRPr lang="en-US" sz="850" dirty="0"/>
          </a:p>
        </p:txBody>
      </p:sp>
      <p:sp>
        <p:nvSpPr>
          <p:cNvPr id="75" name="Text 73"/>
          <p:cNvSpPr/>
          <p:nvPr/>
        </p:nvSpPr>
        <p:spPr>
          <a:xfrm>
            <a:off x="10378440" y="4160520"/>
            <a:ext cx="1554480" cy="274320"/>
          </a:xfrm>
          <a:prstGeom prst="rect">
            <a:avLst/>
          </a:prstGeom>
          <a:noFill/>
          <a:ln/>
        </p:spPr>
        <p:txBody>
          <a:bodyPr wrap="square" rtlCol="0" anchor="ctr"/>
          <a:lstStyle/>
          <a:p>
            <a:pPr indent="0" marL="0">
              <a:buNone/>
            </a:pPr>
            <a:r>
              <a:rPr lang="en-US" sz="850" b="1" dirty="0">
                <a:solidFill>
                  <a:srgbClr val="6B46C1"/>
                </a:solidFill>
                <a:latin typeface="Consolas" pitchFamily="34" charset="0"/>
                <a:ea typeface="Consolas" pitchFamily="34" charset="-122"/>
                <a:cs typeface="Consolas" pitchFamily="34" charset="-120"/>
              </a:rPr>
              <a:t>pandas df.eval()</a:t>
            </a:r>
            <a:endParaRPr lang="en-US" sz="850" dirty="0"/>
          </a:p>
        </p:txBody>
      </p:sp>
      <p:sp>
        <p:nvSpPr>
          <p:cNvPr id="76" name="Text 74"/>
          <p:cNvSpPr/>
          <p:nvPr/>
        </p:nvSpPr>
        <p:spPr>
          <a:xfrm>
            <a:off x="8458200" y="4462272"/>
            <a:ext cx="1920240" cy="274320"/>
          </a:xfrm>
          <a:prstGeom prst="rect">
            <a:avLst/>
          </a:prstGeom>
          <a:noFill/>
          <a:ln/>
        </p:spPr>
        <p:txBody>
          <a:bodyPr wrap="square" rtlCol="0" anchor="ctr"/>
          <a:lstStyle/>
          <a:p>
            <a:pPr indent="0" marL="0">
              <a:buNone/>
            </a:pPr>
            <a:r>
              <a:rPr lang="en-US" sz="850" dirty="0">
                <a:solidFill>
                  <a:srgbClr val="94A3B8"/>
                </a:solidFill>
              </a:rPr>
              <a:t>Constraint Engine:</a:t>
            </a:r>
            <a:endParaRPr lang="en-US" sz="850" dirty="0"/>
          </a:p>
        </p:txBody>
      </p:sp>
      <p:sp>
        <p:nvSpPr>
          <p:cNvPr id="77" name="Text 75"/>
          <p:cNvSpPr/>
          <p:nvPr/>
        </p:nvSpPr>
        <p:spPr>
          <a:xfrm>
            <a:off x="10378440" y="4462272"/>
            <a:ext cx="1554480" cy="274320"/>
          </a:xfrm>
          <a:prstGeom prst="rect">
            <a:avLst/>
          </a:prstGeom>
          <a:noFill/>
          <a:ln/>
        </p:spPr>
        <p:txBody>
          <a:bodyPr wrap="square" rtlCol="0" anchor="ctr"/>
          <a:lstStyle/>
          <a:p>
            <a:pPr indent="0" marL="0">
              <a:buNone/>
            </a:pPr>
            <a:r>
              <a:rPr lang="en-US" sz="850" b="1" dirty="0">
                <a:solidFill>
                  <a:srgbClr val="E05A4F"/>
                </a:solidFill>
                <a:latin typeface="Consolas" pitchFamily="34" charset="0"/>
                <a:ea typeface="Consolas" pitchFamily="34" charset="-122"/>
                <a:cs typeface="Consolas" pitchFamily="34" charset="-120"/>
              </a:rPr>
              <a:t>pandas df.query()</a:t>
            </a:r>
            <a:endParaRPr lang="en-US" sz="850" dirty="0"/>
          </a:p>
        </p:txBody>
      </p:sp>
      <p:sp>
        <p:nvSpPr>
          <p:cNvPr id="78" name="Shape 76"/>
          <p:cNvSpPr/>
          <p:nvPr/>
        </p:nvSpPr>
        <p:spPr>
          <a:xfrm>
            <a:off x="274320" y="5029200"/>
            <a:ext cx="11612880" cy="1600200"/>
          </a:xfrm>
          <a:prstGeom prst="rect">
            <a:avLst/>
          </a:prstGeom>
          <a:solidFill>
            <a:srgbClr val="132238"/>
          </a:solidFill>
          <a:ln w="12700">
            <a:solidFill>
              <a:srgbClr val="1E3A5F"/>
            </a:solidFill>
            <a:prstDash val="solid"/>
          </a:ln>
        </p:spPr>
      </p:sp>
      <p:sp>
        <p:nvSpPr>
          <p:cNvPr id="79" name="Text 77"/>
          <p:cNvSpPr/>
          <p:nvPr/>
        </p:nvSpPr>
        <p:spPr>
          <a:xfrm>
            <a:off x="457200" y="5074920"/>
            <a:ext cx="9144000" cy="256032"/>
          </a:xfrm>
          <a:prstGeom prst="rect">
            <a:avLst/>
          </a:prstGeom>
          <a:noFill/>
          <a:ln/>
        </p:spPr>
        <p:txBody>
          <a:bodyPr wrap="square" rtlCol="0" anchor="ctr"/>
          <a:lstStyle/>
          <a:p>
            <a:pPr indent="0" marL="0">
              <a:buNone/>
            </a:pPr>
            <a:r>
              <a:rPr lang="en-US" sz="1200" b="1" dirty="0">
                <a:solidFill>
                  <a:srgbClr val="F59E0B"/>
                </a:solidFill>
              </a:rPr>
              <a:t>Non-Negotiable Engineering Standards (from Product Coding Standards Rev 1)</a:t>
            </a:r>
            <a:endParaRPr lang="en-US" sz="1200" dirty="0"/>
          </a:p>
        </p:txBody>
      </p:sp>
      <p:sp>
        <p:nvSpPr>
          <p:cNvPr id="80" name="Text 78"/>
          <p:cNvSpPr/>
          <p:nvPr/>
        </p:nvSpPr>
        <p:spPr>
          <a:xfrm>
            <a:off x="365760" y="5376672"/>
            <a:ext cx="2103120" cy="256032"/>
          </a:xfrm>
          <a:prstGeom prst="rect">
            <a:avLst/>
          </a:prstGeom>
          <a:noFill/>
          <a:ln/>
        </p:spPr>
        <p:txBody>
          <a:bodyPr wrap="square" rtlCol="0" anchor="ctr"/>
          <a:lstStyle/>
          <a:p>
            <a:pPr indent="0" marL="0">
              <a:buNone/>
            </a:pPr>
            <a:r>
              <a:rPr lang="en-US" sz="900" b="1" dirty="0">
                <a:solidFill>
                  <a:srgbClr val="FFFFFF"/>
                </a:solidFill>
              </a:rPr>
              <a:t>🔒 Everything configurable</a:t>
            </a:r>
            <a:endParaRPr lang="en-US" sz="900" dirty="0"/>
          </a:p>
        </p:txBody>
      </p:sp>
      <p:sp>
        <p:nvSpPr>
          <p:cNvPr id="81" name="Text 79"/>
          <p:cNvSpPr/>
          <p:nvPr/>
        </p:nvSpPr>
        <p:spPr>
          <a:xfrm>
            <a:off x="365760" y="5623560"/>
            <a:ext cx="2103120" cy="822960"/>
          </a:xfrm>
          <a:prstGeom prst="rect">
            <a:avLst/>
          </a:prstGeom>
          <a:noFill/>
          <a:ln/>
        </p:spPr>
        <p:txBody>
          <a:bodyPr wrap="square" rtlCol="0" anchor="ctr"/>
          <a:lstStyle/>
          <a:p>
            <a:pPr indent="0" marL="0">
              <a:lnSpc>
                <a:spcPct val="135000"/>
              </a:lnSpc>
              <a:buNone/>
            </a:pPr>
            <a:r>
              <a:rPr lang="en-US" sz="800" dirty="0">
                <a:solidFill>
                  <a:srgbClr val="94A3B8"/>
                </a:solidFill>
              </a:rPr>
              <a:t>Tag limits, formulas, imputation strategies, objective — in DB/YAML. Zero furnace-specific logic in Python.</a:t>
            </a:r>
            <a:endParaRPr lang="en-US" sz="800" dirty="0"/>
          </a:p>
        </p:txBody>
      </p:sp>
      <p:sp>
        <p:nvSpPr>
          <p:cNvPr id="82" name="Text 80"/>
          <p:cNvSpPr/>
          <p:nvPr/>
        </p:nvSpPr>
        <p:spPr>
          <a:xfrm>
            <a:off x="2670048" y="5376672"/>
            <a:ext cx="2103120" cy="256032"/>
          </a:xfrm>
          <a:prstGeom prst="rect">
            <a:avLst/>
          </a:prstGeom>
          <a:noFill/>
          <a:ln/>
        </p:spPr>
        <p:txBody>
          <a:bodyPr wrap="square" rtlCol="0" anchor="ctr"/>
          <a:lstStyle/>
          <a:p>
            <a:pPr indent="0" marL="0">
              <a:buNone/>
            </a:pPr>
            <a:r>
              <a:rPr lang="en-US" sz="900" b="1" dirty="0">
                <a:solidFill>
                  <a:srgbClr val="FFFFFF"/>
                </a:solidFill>
              </a:rPr>
              <a:t>⚛️ Atomic nodes (10-30 lines)</a:t>
            </a:r>
            <a:endParaRPr lang="en-US" sz="900" dirty="0"/>
          </a:p>
        </p:txBody>
      </p:sp>
      <p:sp>
        <p:nvSpPr>
          <p:cNvPr id="83" name="Text 81"/>
          <p:cNvSpPr/>
          <p:nvPr/>
        </p:nvSpPr>
        <p:spPr>
          <a:xfrm>
            <a:off x="2670048" y="5623560"/>
            <a:ext cx="2103120" cy="822960"/>
          </a:xfrm>
          <a:prstGeom prst="rect">
            <a:avLst/>
          </a:prstGeom>
          <a:noFill/>
          <a:ln/>
        </p:spPr>
        <p:txBody>
          <a:bodyPr wrap="square" rtlCol="0" anchor="ctr"/>
          <a:lstStyle/>
          <a:p>
            <a:pPr indent="0" marL="0">
              <a:lnSpc>
                <a:spcPct val="135000"/>
              </a:lnSpc>
              <a:buNone/>
            </a:pPr>
            <a:r>
              <a:rPr lang="en-US" sz="800" dirty="0">
                <a:solidFill>
                  <a:srgbClr val="94A3B8"/>
                </a:solidFill>
              </a:rPr>
              <a:t>create_pi_connection ≠ fetch_pi_data ≠ standardize_columns. Never merge responsibilities.</a:t>
            </a:r>
            <a:endParaRPr lang="en-US" sz="800" dirty="0"/>
          </a:p>
        </p:txBody>
      </p:sp>
      <p:sp>
        <p:nvSpPr>
          <p:cNvPr id="84" name="Text 82"/>
          <p:cNvSpPr/>
          <p:nvPr/>
        </p:nvSpPr>
        <p:spPr>
          <a:xfrm>
            <a:off x="4974336" y="5376672"/>
            <a:ext cx="2103120" cy="256032"/>
          </a:xfrm>
          <a:prstGeom prst="rect">
            <a:avLst/>
          </a:prstGeom>
          <a:noFill/>
          <a:ln/>
        </p:spPr>
        <p:txBody>
          <a:bodyPr wrap="square" rtlCol="0" anchor="ctr"/>
          <a:lstStyle/>
          <a:p>
            <a:pPr indent="0" marL="0">
              <a:buNone/>
            </a:pPr>
            <a:r>
              <a:rPr lang="en-US" sz="900" b="1" dirty="0">
                <a:solidFill>
                  <a:srgbClr val="FFFFFF"/>
                </a:solidFill>
              </a:rPr>
              <a:t>🧪 Pure functions only</a:t>
            </a:r>
            <a:endParaRPr lang="en-US" sz="900" dirty="0"/>
          </a:p>
        </p:txBody>
      </p:sp>
      <p:sp>
        <p:nvSpPr>
          <p:cNvPr id="85" name="Text 83"/>
          <p:cNvSpPr/>
          <p:nvPr/>
        </p:nvSpPr>
        <p:spPr>
          <a:xfrm>
            <a:off x="4974336" y="5623560"/>
            <a:ext cx="2103120" cy="822960"/>
          </a:xfrm>
          <a:prstGeom prst="rect">
            <a:avLst/>
          </a:prstGeom>
          <a:noFill/>
          <a:ln/>
        </p:spPr>
        <p:txBody>
          <a:bodyPr wrap="square" rtlCol="0" anchor="ctr"/>
          <a:lstStyle/>
          <a:p>
            <a:pPr indent="0" marL="0">
              <a:lnSpc>
                <a:spcPct val="135000"/>
              </a:lnSpc>
              <a:buNone/>
            </a:pPr>
            <a:r>
              <a:rPr lang="en-US" sz="800" dirty="0">
                <a:solidFill>
                  <a:srgbClr val="94A3B8"/>
                </a:solidFill>
              </a:rPr>
              <a:t>Always df.copy(). No side effects. No global state inside nodes. Inputs → outputs only.</a:t>
            </a:r>
            <a:endParaRPr lang="en-US" sz="800" dirty="0"/>
          </a:p>
        </p:txBody>
      </p:sp>
      <p:sp>
        <p:nvSpPr>
          <p:cNvPr id="86" name="Text 84"/>
          <p:cNvSpPr/>
          <p:nvPr/>
        </p:nvSpPr>
        <p:spPr>
          <a:xfrm>
            <a:off x="7278624" y="5376672"/>
            <a:ext cx="2103120" cy="256032"/>
          </a:xfrm>
          <a:prstGeom prst="rect">
            <a:avLst/>
          </a:prstGeom>
          <a:noFill/>
          <a:ln/>
        </p:spPr>
        <p:txBody>
          <a:bodyPr wrap="square" rtlCol="0" anchor="ctr"/>
          <a:lstStyle/>
          <a:p>
            <a:pPr indent="0" marL="0">
              <a:buNone/>
            </a:pPr>
            <a:r>
              <a:rPr lang="en-US" sz="900" b="1" dirty="0">
                <a:solidFill>
                  <a:srgbClr val="FFFFFF"/>
                </a:solidFill>
              </a:rPr>
              <a:t>🔁 DAG-enforced order</a:t>
            </a:r>
            <a:endParaRPr lang="en-US" sz="900" dirty="0"/>
          </a:p>
        </p:txBody>
      </p:sp>
      <p:sp>
        <p:nvSpPr>
          <p:cNvPr id="87" name="Text 85"/>
          <p:cNvSpPr/>
          <p:nvPr/>
        </p:nvSpPr>
        <p:spPr>
          <a:xfrm>
            <a:off x="7278624" y="5623560"/>
            <a:ext cx="2103120" cy="822960"/>
          </a:xfrm>
          <a:prstGeom prst="rect">
            <a:avLst/>
          </a:prstGeom>
          <a:noFill/>
          <a:ln/>
        </p:spPr>
        <p:txBody>
          <a:bodyPr wrap="square" rtlCol="0" anchor="ctr"/>
          <a:lstStyle/>
          <a:p>
            <a:pPr indent="0" marL="0">
              <a:lnSpc>
                <a:spcPct val="135000"/>
              </a:lnSpc>
              <a:buNone/>
            </a:pPr>
            <a:r>
              <a:rPr lang="en-US" sz="800" dirty="0">
                <a:solidFill>
                  <a:srgbClr val="94A3B8"/>
                </a:solidFill>
              </a:rPr>
              <a:t>Never manually order formulas. NetworkX topological_sort always. nx.is_directed_acyclic_graph() before execution.</a:t>
            </a:r>
            <a:endParaRPr lang="en-US" sz="800" dirty="0"/>
          </a:p>
        </p:txBody>
      </p:sp>
      <p:sp>
        <p:nvSpPr>
          <p:cNvPr id="88" name="Text 86"/>
          <p:cNvSpPr/>
          <p:nvPr/>
        </p:nvSpPr>
        <p:spPr>
          <a:xfrm>
            <a:off x="9582912" y="5376672"/>
            <a:ext cx="2103120" cy="256032"/>
          </a:xfrm>
          <a:prstGeom prst="rect">
            <a:avLst/>
          </a:prstGeom>
          <a:noFill/>
          <a:ln/>
        </p:spPr>
        <p:txBody>
          <a:bodyPr wrap="square" rtlCol="0" anchor="ctr"/>
          <a:lstStyle/>
          <a:p>
            <a:pPr indent="0" marL="0">
              <a:buNone/>
            </a:pPr>
            <a:r>
              <a:rPr lang="en-US" sz="900" b="1" dirty="0">
                <a:solidFill>
                  <a:srgbClr val="FFFFFF"/>
                </a:solidFill>
              </a:rPr>
              <a:t>♻️ Composable pipelines</a:t>
            </a:r>
            <a:endParaRPr lang="en-US" sz="900" dirty="0"/>
          </a:p>
        </p:txBody>
      </p:sp>
      <p:sp>
        <p:nvSpPr>
          <p:cNvPr id="89" name="Text 87"/>
          <p:cNvSpPr/>
          <p:nvPr/>
        </p:nvSpPr>
        <p:spPr>
          <a:xfrm>
            <a:off x="9582912" y="5623560"/>
            <a:ext cx="2103120" cy="822960"/>
          </a:xfrm>
          <a:prstGeom prst="rect">
            <a:avLst/>
          </a:prstGeom>
          <a:noFill/>
          <a:ln/>
        </p:spPr>
        <p:txBody>
          <a:bodyPr wrap="square" rtlCol="0" anchor="ctr"/>
          <a:lstStyle/>
          <a:p>
            <a:pPr indent="0" marL="0">
              <a:lnSpc>
                <a:spcPct val="135000"/>
              </a:lnSpc>
              <a:buNone/>
            </a:pPr>
            <a:r>
              <a:rPr lang="en-US" sz="800" dirty="0">
                <a:solidFill>
                  <a:srgbClr val="94A3B8"/>
                </a:solidFill>
              </a:rPr>
              <a:t>Same preprocessing_pipeline runs on every plant. Only config changes between case_ids.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F3A"/>
          </a:solidFill>
          <a:ln/>
        </p:spPr>
      </p:sp>
      <p:sp>
        <p:nvSpPr>
          <p:cNvPr id="3" name="Shape 1"/>
          <p:cNvSpPr/>
          <p:nvPr/>
        </p:nvSpPr>
        <p:spPr>
          <a:xfrm>
            <a:off x="0" y="0"/>
            <a:ext cx="12161520" cy="6858000"/>
          </a:xfrm>
          <a:prstGeom prst="rect">
            <a:avLst/>
          </a:prstGeom>
          <a:solidFill>
            <a:srgbClr val="132238"/>
          </a:solidFill>
          <a:ln/>
        </p:spPr>
      </p:sp>
      <p:sp>
        <p:nvSpPr>
          <p:cNvPr id="4" name="Shape 2"/>
          <p:cNvSpPr/>
          <p:nvPr/>
        </p:nvSpPr>
        <p:spPr>
          <a:xfrm>
            <a:off x="0" y="0"/>
            <a:ext cx="73152" cy="6858000"/>
          </a:xfrm>
          <a:prstGeom prst="rect">
            <a:avLst/>
          </a:prstGeom>
          <a:solidFill>
            <a:srgbClr val="00897B"/>
          </a:solidFill>
          <a:ln/>
        </p:spPr>
      </p:sp>
      <p:sp>
        <p:nvSpPr>
          <p:cNvPr id="5" name="Text 3"/>
          <p:cNvSpPr/>
          <p:nvPr/>
        </p:nvSpPr>
        <p:spPr>
          <a:xfrm>
            <a:off x="365760" y="274320"/>
            <a:ext cx="114300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Architecture Golden Rules</a:t>
            </a:r>
            <a:endParaRPr lang="en-US" sz="2800" dirty="0"/>
          </a:p>
        </p:txBody>
      </p:sp>
      <p:sp>
        <p:nvSpPr>
          <p:cNvPr id="6" name="Text 4"/>
          <p:cNvSpPr/>
          <p:nvPr/>
        </p:nvSpPr>
        <p:spPr>
          <a:xfrm>
            <a:off x="365760" y="804672"/>
            <a:ext cx="8229600" cy="274320"/>
          </a:xfrm>
          <a:prstGeom prst="rect">
            <a:avLst/>
          </a:prstGeom>
          <a:noFill/>
          <a:ln/>
        </p:spPr>
        <p:txBody>
          <a:bodyPr wrap="square"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Summary for Development Teams</a:t>
            </a:r>
            <a:endParaRPr lang="en-US" sz="1400" dirty="0"/>
          </a:p>
        </p:txBody>
      </p:sp>
      <p:sp>
        <p:nvSpPr>
          <p:cNvPr id="7" name="Shape 5"/>
          <p:cNvSpPr/>
          <p:nvPr/>
        </p:nvSpPr>
        <p:spPr>
          <a:xfrm>
            <a:off x="365760" y="1143000"/>
            <a:ext cx="11430000" cy="27432"/>
          </a:xfrm>
          <a:prstGeom prst="rect">
            <a:avLst/>
          </a:prstGeom>
          <a:solidFill>
            <a:srgbClr val="1E3A5F"/>
          </a:solidFill>
          <a:ln/>
        </p:spPr>
      </p:sp>
      <p:sp>
        <p:nvSpPr>
          <p:cNvPr id="8" name="Shape 6"/>
          <p:cNvSpPr/>
          <p:nvPr/>
        </p:nvSpPr>
        <p:spPr>
          <a:xfrm>
            <a:off x="365760" y="1280160"/>
            <a:ext cx="5623560" cy="1645920"/>
          </a:xfrm>
          <a:prstGeom prst="rect">
            <a:avLst/>
          </a:prstGeom>
          <a:solidFill>
            <a:srgbClr val="162944"/>
          </a:solidFill>
          <a:ln w="12700">
            <a:solidFill>
              <a:srgbClr val="1E3A5F"/>
            </a:solidFill>
            <a:prstDash val="solid"/>
          </a:ln>
        </p:spPr>
      </p:sp>
      <p:sp>
        <p:nvSpPr>
          <p:cNvPr id="9" name="Shape 7"/>
          <p:cNvSpPr/>
          <p:nvPr/>
        </p:nvSpPr>
        <p:spPr>
          <a:xfrm>
            <a:off x="365760" y="1280160"/>
            <a:ext cx="45720" cy="1645920"/>
          </a:xfrm>
          <a:prstGeom prst="rect">
            <a:avLst/>
          </a:prstGeom>
          <a:solidFill>
            <a:srgbClr val="00897B"/>
          </a:solidFill>
          <a:ln/>
        </p:spPr>
      </p:sp>
      <p:sp>
        <p:nvSpPr>
          <p:cNvPr id="10" name="Text 8"/>
          <p:cNvSpPr/>
          <p:nvPr/>
        </p:nvSpPr>
        <p:spPr>
          <a:xfrm>
            <a:off x="502920" y="146304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1143000" y="1417320"/>
            <a:ext cx="4663440" cy="347472"/>
          </a:xfrm>
          <a:prstGeom prst="rect">
            <a:avLst/>
          </a:prstGeom>
          <a:noFill/>
          <a:ln/>
        </p:spPr>
        <p:txBody>
          <a:bodyPr wrap="square" rtlCol="0" anchor="ctr"/>
          <a:lstStyle/>
          <a:p>
            <a:pPr indent="0" marL="0">
              <a:buNone/>
            </a:pPr>
            <a:r>
              <a:rPr lang="en-US" sz="1200" b="1" dirty="0">
                <a:solidFill>
                  <a:srgbClr val="FFFFFF"/>
                </a:solidFill>
              </a:rPr>
              <a:t>Configuration Is Law</a:t>
            </a:r>
            <a:endParaRPr lang="en-US" sz="1200" dirty="0"/>
          </a:p>
        </p:txBody>
      </p:sp>
      <p:sp>
        <p:nvSpPr>
          <p:cNvPr id="12" name="Text 10"/>
          <p:cNvSpPr/>
          <p:nvPr/>
        </p:nvSpPr>
        <p:spPr>
          <a:xfrm>
            <a:off x="502920" y="1828800"/>
            <a:ext cx="5303520" cy="1024128"/>
          </a:xfrm>
          <a:prstGeom prst="rect">
            <a:avLst/>
          </a:prstGeom>
          <a:noFill/>
          <a:ln/>
        </p:spPr>
        <p:txBody>
          <a:bodyPr wrap="square" rtlCol="0" anchor="ctr"/>
          <a:lstStyle/>
          <a:p>
            <a:pPr indent="0" marL="0">
              <a:lnSpc>
                <a:spcPct val="150000"/>
              </a:lnSpc>
              <a:buNone/>
            </a:pPr>
            <a:r>
              <a:rPr lang="en-US" sz="950" dirty="0">
                <a:solidFill>
                  <a:srgbClr val="94A3B8"/>
                </a:solidFill>
              </a:rPr>
              <a:t>Every tag limit, formula, imputation strategy, constraint expression, and objective function lives in the EO feature file / DB tables. If it's not in config, it doesn't exist. Redeploy for any of these = architecture failure.</a:t>
            </a:r>
            <a:endParaRPr lang="en-US" sz="950" dirty="0"/>
          </a:p>
        </p:txBody>
      </p:sp>
      <p:sp>
        <p:nvSpPr>
          <p:cNvPr id="13" name="Shape 11"/>
          <p:cNvSpPr/>
          <p:nvPr/>
        </p:nvSpPr>
        <p:spPr>
          <a:xfrm>
            <a:off x="6263640" y="1280160"/>
            <a:ext cx="5623560" cy="1645920"/>
          </a:xfrm>
          <a:prstGeom prst="rect">
            <a:avLst/>
          </a:prstGeom>
          <a:solidFill>
            <a:srgbClr val="162944"/>
          </a:solidFill>
          <a:ln w="12700">
            <a:solidFill>
              <a:srgbClr val="1E3A5F"/>
            </a:solidFill>
            <a:prstDash val="solid"/>
          </a:ln>
        </p:spPr>
      </p:sp>
      <p:sp>
        <p:nvSpPr>
          <p:cNvPr id="14" name="Shape 12"/>
          <p:cNvSpPr/>
          <p:nvPr/>
        </p:nvSpPr>
        <p:spPr>
          <a:xfrm>
            <a:off x="6263640" y="1280160"/>
            <a:ext cx="45720" cy="1645920"/>
          </a:xfrm>
          <a:prstGeom prst="rect">
            <a:avLst/>
          </a:prstGeom>
          <a:solidFill>
            <a:srgbClr val="00BCD4"/>
          </a:solidFill>
          <a:ln/>
        </p:spPr>
      </p:sp>
      <p:sp>
        <p:nvSpPr>
          <p:cNvPr id="15" name="Text 13"/>
          <p:cNvSpPr/>
          <p:nvPr/>
        </p:nvSpPr>
        <p:spPr>
          <a:xfrm>
            <a:off x="6400800" y="146304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6" name="Text 14"/>
          <p:cNvSpPr/>
          <p:nvPr/>
        </p:nvSpPr>
        <p:spPr>
          <a:xfrm>
            <a:off x="7040880" y="1417320"/>
            <a:ext cx="4663440" cy="347472"/>
          </a:xfrm>
          <a:prstGeom prst="rect">
            <a:avLst/>
          </a:prstGeom>
          <a:noFill/>
          <a:ln/>
        </p:spPr>
        <p:txBody>
          <a:bodyPr wrap="square" rtlCol="0" anchor="ctr"/>
          <a:lstStyle/>
          <a:p>
            <a:pPr indent="0" marL="0">
              <a:buNone/>
            </a:pPr>
            <a:r>
              <a:rPr lang="en-US" sz="1200" b="1" dirty="0">
                <a:solidFill>
                  <a:srgbClr val="FFFFFF"/>
                </a:solidFill>
              </a:rPr>
              <a:t>Nodes Are Atoms</a:t>
            </a:r>
            <a:endParaRPr lang="en-US" sz="1200" dirty="0"/>
          </a:p>
        </p:txBody>
      </p:sp>
      <p:sp>
        <p:nvSpPr>
          <p:cNvPr id="17" name="Text 15"/>
          <p:cNvSpPr/>
          <p:nvPr/>
        </p:nvSpPr>
        <p:spPr>
          <a:xfrm>
            <a:off x="6400800" y="1828800"/>
            <a:ext cx="5303520" cy="1024128"/>
          </a:xfrm>
          <a:prstGeom prst="rect">
            <a:avLst/>
          </a:prstGeom>
          <a:noFill/>
          <a:ln/>
        </p:spPr>
        <p:txBody>
          <a:bodyPr wrap="square" rtlCol="0" anchor="ctr"/>
          <a:lstStyle/>
          <a:p>
            <a:pPr indent="0" marL="0">
              <a:lnSpc>
                <a:spcPct val="150000"/>
              </a:lnSpc>
              <a:buNone/>
            </a:pPr>
            <a:r>
              <a:rPr lang="en-US" sz="950" dirty="0">
                <a:solidFill>
                  <a:srgbClr val="94A3B8"/>
                </a:solidFill>
              </a:rPr>
              <a:t>Each Kedro node does exactly one thing. 10-30 lines maximum. create_pi_connection connects. fetch_pi_data fetches. standardize_columns maps. Never combine. If you need to combine, you haven't split enough.</a:t>
            </a:r>
            <a:endParaRPr lang="en-US" sz="950" dirty="0"/>
          </a:p>
        </p:txBody>
      </p:sp>
      <p:sp>
        <p:nvSpPr>
          <p:cNvPr id="18" name="Shape 16"/>
          <p:cNvSpPr/>
          <p:nvPr/>
        </p:nvSpPr>
        <p:spPr>
          <a:xfrm>
            <a:off x="365760" y="3017520"/>
            <a:ext cx="5623560" cy="1645920"/>
          </a:xfrm>
          <a:prstGeom prst="rect">
            <a:avLst/>
          </a:prstGeom>
          <a:solidFill>
            <a:srgbClr val="162944"/>
          </a:solidFill>
          <a:ln w="12700">
            <a:solidFill>
              <a:srgbClr val="1E3A5F"/>
            </a:solidFill>
            <a:prstDash val="solid"/>
          </a:ln>
        </p:spPr>
      </p:sp>
      <p:sp>
        <p:nvSpPr>
          <p:cNvPr id="19" name="Shape 17"/>
          <p:cNvSpPr/>
          <p:nvPr/>
        </p:nvSpPr>
        <p:spPr>
          <a:xfrm>
            <a:off x="365760" y="3017520"/>
            <a:ext cx="45720" cy="1645920"/>
          </a:xfrm>
          <a:prstGeom prst="rect">
            <a:avLst/>
          </a:prstGeom>
          <a:solidFill>
            <a:srgbClr val="F59E0B"/>
          </a:solidFill>
          <a:ln/>
        </p:spPr>
      </p:sp>
      <p:sp>
        <p:nvSpPr>
          <p:cNvPr id="20" name="Text 18"/>
          <p:cNvSpPr/>
          <p:nvPr/>
        </p:nvSpPr>
        <p:spPr>
          <a:xfrm>
            <a:off x="502920" y="320040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1" name="Text 19"/>
          <p:cNvSpPr/>
          <p:nvPr/>
        </p:nvSpPr>
        <p:spPr>
          <a:xfrm>
            <a:off x="1143000" y="3154680"/>
            <a:ext cx="4663440" cy="347472"/>
          </a:xfrm>
          <a:prstGeom prst="rect">
            <a:avLst/>
          </a:prstGeom>
          <a:noFill/>
          <a:ln/>
        </p:spPr>
        <p:txBody>
          <a:bodyPr wrap="square" rtlCol="0" anchor="ctr"/>
          <a:lstStyle/>
          <a:p>
            <a:pPr indent="0" marL="0">
              <a:buNone/>
            </a:pPr>
            <a:r>
              <a:rPr lang="en-US" sz="1200" b="1" dirty="0">
                <a:solidFill>
                  <a:srgbClr val="FFFFFF"/>
                </a:solidFill>
              </a:rPr>
              <a:t>Pure Functions Only</a:t>
            </a:r>
            <a:endParaRPr lang="en-US" sz="1200" dirty="0"/>
          </a:p>
        </p:txBody>
      </p:sp>
      <p:sp>
        <p:nvSpPr>
          <p:cNvPr id="22" name="Text 20"/>
          <p:cNvSpPr/>
          <p:nvPr/>
        </p:nvSpPr>
        <p:spPr>
          <a:xfrm>
            <a:off x="502920" y="3566160"/>
            <a:ext cx="5303520" cy="1024128"/>
          </a:xfrm>
          <a:prstGeom prst="rect">
            <a:avLst/>
          </a:prstGeom>
          <a:noFill/>
          <a:ln/>
        </p:spPr>
        <p:txBody>
          <a:bodyPr wrap="square" rtlCol="0" anchor="ctr"/>
          <a:lstStyle/>
          <a:p>
            <a:pPr indent="0" marL="0">
              <a:lnSpc>
                <a:spcPct val="150000"/>
              </a:lnSpc>
              <a:buNone/>
            </a:pPr>
            <a:r>
              <a:rPr lang="en-US" sz="950" dirty="0">
                <a:solidFill>
                  <a:srgbClr val="94A3B8"/>
                </a:solidFill>
              </a:rPr>
              <a:t>Every node takes inputs, operates on df.copy(), and returns outputs. No writes to external state. No global mutations. No hidden dependencies. This enables unit testing of every node in complete isolation.</a:t>
            </a:r>
            <a:endParaRPr lang="en-US" sz="950" dirty="0"/>
          </a:p>
        </p:txBody>
      </p:sp>
      <p:sp>
        <p:nvSpPr>
          <p:cNvPr id="23" name="Shape 21"/>
          <p:cNvSpPr/>
          <p:nvPr/>
        </p:nvSpPr>
        <p:spPr>
          <a:xfrm>
            <a:off x="6263640" y="3017520"/>
            <a:ext cx="5623560" cy="1645920"/>
          </a:xfrm>
          <a:prstGeom prst="rect">
            <a:avLst/>
          </a:prstGeom>
          <a:solidFill>
            <a:srgbClr val="162944"/>
          </a:solidFill>
          <a:ln w="12700">
            <a:solidFill>
              <a:srgbClr val="1E3A5F"/>
            </a:solidFill>
            <a:prstDash val="solid"/>
          </a:ln>
        </p:spPr>
      </p:sp>
      <p:sp>
        <p:nvSpPr>
          <p:cNvPr id="24" name="Shape 22"/>
          <p:cNvSpPr/>
          <p:nvPr/>
        </p:nvSpPr>
        <p:spPr>
          <a:xfrm>
            <a:off x="6263640" y="3017520"/>
            <a:ext cx="45720" cy="1645920"/>
          </a:xfrm>
          <a:prstGeom prst="rect">
            <a:avLst/>
          </a:prstGeom>
          <a:solidFill>
            <a:srgbClr val="6B46C1"/>
          </a:solidFill>
          <a:ln/>
        </p:spPr>
      </p:sp>
      <p:sp>
        <p:nvSpPr>
          <p:cNvPr id="25" name="Text 23"/>
          <p:cNvSpPr/>
          <p:nvPr/>
        </p:nvSpPr>
        <p:spPr>
          <a:xfrm>
            <a:off x="6400800" y="320040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7040880" y="3154680"/>
            <a:ext cx="4663440" cy="347472"/>
          </a:xfrm>
          <a:prstGeom prst="rect">
            <a:avLst/>
          </a:prstGeom>
          <a:noFill/>
          <a:ln/>
        </p:spPr>
        <p:txBody>
          <a:bodyPr wrap="square" rtlCol="0" anchor="ctr"/>
          <a:lstStyle/>
          <a:p>
            <a:pPr indent="0" marL="0">
              <a:buNone/>
            </a:pPr>
            <a:r>
              <a:rPr lang="en-US" sz="1200" b="1" dirty="0">
                <a:solidFill>
                  <a:srgbClr val="FFFFFF"/>
                </a:solidFill>
              </a:rPr>
              <a:t>Let the DAG Decide</a:t>
            </a:r>
            <a:endParaRPr lang="en-US" sz="1200" dirty="0"/>
          </a:p>
        </p:txBody>
      </p:sp>
      <p:sp>
        <p:nvSpPr>
          <p:cNvPr id="27" name="Text 25"/>
          <p:cNvSpPr/>
          <p:nvPr/>
        </p:nvSpPr>
        <p:spPr>
          <a:xfrm>
            <a:off x="6400800" y="3566160"/>
            <a:ext cx="5303520" cy="1024128"/>
          </a:xfrm>
          <a:prstGeom prst="rect">
            <a:avLst/>
          </a:prstGeom>
          <a:noFill/>
          <a:ln/>
        </p:spPr>
        <p:txBody>
          <a:bodyPr wrap="square" rtlCol="0" anchor="ctr"/>
          <a:lstStyle/>
          <a:p>
            <a:pPr indent="0" marL="0">
              <a:lnSpc>
                <a:spcPct val="150000"/>
              </a:lnSpc>
              <a:buNone/>
            </a:pPr>
            <a:r>
              <a:rPr lang="en-US" sz="950" dirty="0">
                <a:solidFill>
                  <a:srgbClr val="94A3B8"/>
                </a:solidFill>
              </a:rPr>
              <a:t>Never manually order inferred tag calculations. Build the dependency graph from formula expressions. Let NetworkX topological_sort determine the sequence. Always validate with nx.is_directed_acyclic_graph(). For circular refs, use scipy.fsolve — never loop naively.</a:t>
            </a:r>
            <a:endParaRPr lang="en-US" sz="950" dirty="0"/>
          </a:p>
        </p:txBody>
      </p:sp>
      <p:sp>
        <p:nvSpPr>
          <p:cNvPr id="28" name="Shape 26"/>
          <p:cNvSpPr/>
          <p:nvPr/>
        </p:nvSpPr>
        <p:spPr>
          <a:xfrm>
            <a:off x="365760" y="4754880"/>
            <a:ext cx="5623560" cy="1645920"/>
          </a:xfrm>
          <a:prstGeom prst="rect">
            <a:avLst/>
          </a:prstGeom>
          <a:solidFill>
            <a:srgbClr val="162944"/>
          </a:solidFill>
          <a:ln w="12700">
            <a:solidFill>
              <a:srgbClr val="1E3A5F"/>
            </a:solidFill>
            <a:prstDash val="solid"/>
          </a:ln>
        </p:spPr>
      </p:sp>
      <p:sp>
        <p:nvSpPr>
          <p:cNvPr id="29" name="Shape 27"/>
          <p:cNvSpPr/>
          <p:nvPr/>
        </p:nvSpPr>
        <p:spPr>
          <a:xfrm>
            <a:off x="365760" y="4754880"/>
            <a:ext cx="45720" cy="1645920"/>
          </a:xfrm>
          <a:prstGeom prst="rect">
            <a:avLst/>
          </a:prstGeom>
          <a:solidFill>
            <a:srgbClr val="10B981"/>
          </a:solidFill>
          <a:ln/>
        </p:spPr>
      </p:sp>
      <p:sp>
        <p:nvSpPr>
          <p:cNvPr id="30" name="Text 28"/>
          <p:cNvSpPr/>
          <p:nvPr/>
        </p:nvSpPr>
        <p:spPr>
          <a:xfrm>
            <a:off x="502920" y="493776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1" name="Text 29"/>
          <p:cNvSpPr/>
          <p:nvPr/>
        </p:nvSpPr>
        <p:spPr>
          <a:xfrm>
            <a:off x="1143000" y="4892040"/>
            <a:ext cx="4663440" cy="347472"/>
          </a:xfrm>
          <a:prstGeom prst="rect">
            <a:avLst/>
          </a:prstGeom>
          <a:noFill/>
          <a:ln/>
        </p:spPr>
        <p:txBody>
          <a:bodyPr wrap="square" rtlCol="0" anchor="ctr"/>
          <a:lstStyle/>
          <a:p>
            <a:pPr indent="0" marL="0">
              <a:buNone/>
            </a:pPr>
            <a:r>
              <a:rPr lang="en-US" sz="1200" b="1" dirty="0">
                <a:solidFill>
                  <a:srgbClr val="FFFFFF"/>
                </a:solidFill>
              </a:rPr>
              <a:t>Pipelines Are Reusable Across Plants</a:t>
            </a:r>
            <a:endParaRPr lang="en-US" sz="1200" dirty="0"/>
          </a:p>
        </p:txBody>
      </p:sp>
      <p:sp>
        <p:nvSpPr>
          <p:cNvPr id="32" name="Text 30"/>
          <p:cNvSpPr/>
          <p:nvPr/>
        </p:nvSpPr>
        <p:spPr>
          <a:xfrm>
            <a:off x="502920" y="5303520"/>
            <a:ext cx="5303520" cy="1024128"/>
          </a:xfrm>
          <a:prstGeom prst="rect">
            <a:avLst/>
          </a:prstGeom>
          <a:noFill/>
          <a:ln/>
        </p:spPr>
        <p:txBody>
          <a:bodyPr wrap="square" rtlCol="0" anchor="ctr"/>
          <a:lstStyle/>
          <a:p>
            <a:pPr indent="0" marL="0">
              <a:lnSpc>
                <a:spcPct val="150000"/>
              </a:lnSpc>
              <a:buNone/>
            </a:pPr>
            <a:r>
              <a:rPr lang="en-US" sz="950" dirty="0">
                <a:solidFill>
                  <a:srgbClr val="94A3B8"/>
                </a:solidFill>
              </a:rPr>
              <a:t>The same ingestion_pipeline, preprocessing_pipeline, and optimizer_pipeline run for every case_id. Only load_config_from_db(case_id) changes between sites. Adding a new plant = adding rows to DB tables, not writing Python.</a:t>
            </a:r>
            <a:endParaRPr lang="en-US" sz="950" dirty="0"/>
          </a:p>
        </p:txBody>
      </p:sp>
      <p:sp>
        <p:nvSpPr>
          <p:cNvPr id="33" name="Shape 31"/>
          <p:cNvSpPr/>
          <p:nvPr/>
        </p:nvSpPr>
        <p:spPr>
          <a:xfrm>
            <a:off x="6263640" y="4754880"/>
            <a:ext cx="5623560" cy="1645920"/>
          </a:xfrm>
          <a:prstGeom prst="rect">
            <a:avLst/>
          </a:prstGeom>
          <a:solidFill>
            <a:srgbClr val="162944"/>
          </a:solidFill>
          <a:ln w="12700">
            <a:solidFill>
              <a:srgbClr val="1E3A5F"/>
            </a:solidFill>
            <a:prstDash val="solid"/>
          </a:ln>
        </p:spPr>
      </p:sp>
      <p:sp>
        <p:nvSpPr>
          <p:cNvPr id="34" name="Shape 32"/>
          <p:cNvSpPr/>
          <p:nvPr/>
        </p:nvSpPr>
        <p:spPr>
          <a:xfrm>
            <a:off x="6263640" y="4754880"/>
            <a:ext cx="45720" cy="1645920"/>
          </a:xfrm>
          <a:prstGeom prst="rect">
            <a:avLst/>
          </a:prstGeom>
          <a:solidFill>
            <a:srgbClr val="E05A4F"/>
          </a:solidFill>
          <a:ln/>
        </p:spPr>
      </p:sp>
      <p:sp>
        <p:nvSpPr>
          <p:cNvPr id="35" name="Text 33"/>
          <p:cNvSpPr/>
          <p:nvPr/>
        </p:nvSpPr>
        <p:spPr>
          <a:xfrm>
            <a:off x="6400800" y="4937760"/>
            <a:ext cx="548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6" name="Text 34"/>
          <p:cNvSpPr/>
          <p:nvPr/>
        </p:nvSpPr>
        <p:spPr>
          <a:xfrm>
            <a:off x="7040880" y="4892040"/>
            <a:ext cx="4663440" cy="347472"/>
          </a:xfrm>
          <a:prstGeom prst="rect">
            <a:avLst/>
          </a:prstGeom>
          <a:noFill/>
          <a:ln/>
        </p:spPr>
        <p:txBody>
          <a:bodyPr wrap="square" rtlCol="0" anchor="ctr"/>
          <a:lstStyle/>
          <a:p>
            <a:pPr indent="0" marL="0">
              <a:buNone/>
            </a:pPr>
            <a:r>
              <a:rPr lang="en-US" sz="1200" b="1" dirty="0">
                <a:solidFill>
                  <a:srgbClr val="FFFFFF"/>
                </a:solidFill>
              </a:rPr>
              <a:t>GenAI Needs Human Gates</a:t>
            </a:r>
            <a:endParaRPr lang="en-US" sz="1200" dirty="0"/>
          </a:p>
        </p:txBody>
      </p:sp>
      <p:sp>
        <p:nvSpPr>
          <p:cNvPr id="37" name="Text 35"/>
          <p:cNvSpPr/>
          <p:nvPr/>
        </p:nvSpPr>
        <p:spPr>
          <a:xfrm>
            <a:off x="6400800" y="5303520"/>
            <a:ext cx="5303520" cy="1024128"/>
          </a:xfrm>
          <a:prstGeom prst="rect">
            <a:avLst/>
          </a:prstGeom>
          <a:noFill/>
          <a:ln/>
        </p:spPr>
        <p:txBody>
          <a:bodyPr wrap="square" rtlCol="0" anchor="ctr"/>
          <a:lstStyle/>
          <a:p>
            <a:pPr indent="0" marL="0">
              <a:lnSpc>
                <a:spcPct val="150000"/>
              </a:lnSpc>
              <a:buNone/>
            </a:pPr>
            <a:r>
              <a:rPr lang="en-US" sz="950" dirty="0">
                <a:solidFill>
                  <a:srgbClr val="94A3B8"/>
                </a:solidFill>
              </a:rPr>
              <a:t>LLM-extracted tags and formulas from P&amp;IDs are suggestions, not production config. Every item must pass engineer review before being written to the EO config tables. No direct LLM → optimizer pathway without human validation.</a:t>
            </a:r>
            <a:endParaRPr lang="en-US" sz="950" dirty="0"/>
          </a:p>
        </p:txBody>
      </p:sp>
      <p:sp>
        <p:nvSpPr>
          <p:cNvPr id="38" name="Text 36"/>
          <p:cNvSpPr/>
          <p:nvPr/>
        </p:nvSpPr>
        <p:spPr>
          <a:xfrm>
            <a:off x="365760" y="6565392"/>
            <a:ext cx="11430000" cy="201168"/>
          </a:xfrm>
          <a:prstGeom prst="rect">
            <a:avLst/>
          </a:prstGeom>
          <a:noFill/>
          <a:ln/>
        </p:spPr>
        <p:txBody>
          <a:bodyPr wrap="square" rtlCol="0" anchor="ctr"/>
          <a:lstStyle/>
          <a:p>
            <a:pPr algn="ctr" indent="0" marL="0">
              <a:buNone/>
            </a:pPr>
            <a:r>
              <a:rPr lang="en-US" sz="900" dirty="0">
                <a:solidFill>
                  <a:srgbClr val="64748B"/>
                </a:solidFill>
              </a:rPr>
              <a:t>Energy Optimization Pipeline  ·  Kedro + Bayesian Optimization + Configuration-First  ·  Architecture Blueprint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Optimization Pipeline — Architecture Blueprint</dc:title>
  <dc:subject>PptxGenJS Presentation</dc:subject>
  <dc:creator>PptxGenJS</dc:creator>
  <cp:lastModifiedBy>PptxGenJS</cp:lastModifiedBy>
  <cp:revision>1</cp:revision>
  <dcterms:created xsi:type="dcterms:W3CDTF">2026-03-04T12:35:16Z</dcterms:created>
  <dcterms:modified xsi:type="dcterms:W3CDTF">2026-03-04T12:35:16Z</dcterms:modified>
</cp:coreProperties>
</file>